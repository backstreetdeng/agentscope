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5.svg" ContentType="image/svg+xml"/>
  <Override PartName="/ppt/media/image18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5"/>
  </p:notesMasterIdLst>
  <p:sldIdLst>
    <p:sldId id="257" r:id="rId4"/>
    <p:sldId id="21797" r:id="rId6"/>
    <p:sldId id="22019" r:id="rId7"/>
    <p:sldId id="21981" r:id="rId8"/>
    <p:sldId id="22001" r:id="rId9"/>
    <p:sldId id="22020" r:id="rId10"/>
    <p:sldId id="21799" r:id="rId11"/>
    <p:sldId id="21948" r:id="rId12"/>
    <p:sldId id="21823" r:id="rId13"/>
    <p:sldId id="21904" r:id="rId14"/>
    <p:sldId id="21984" r:id="rId15"/>
    <p:sldId id="21982" r:id="rId16"/>
    <p:sldId id="22049" r:id="rId17"/>
    <p:sldId id="21985" r:id="rId18"/>
    <p:sldId id="21800" r:id="rId19"/>
    <p:sldId id="21790" r:id="rId20"/>
    <p:sldId id="21840" r:id="rId21"/>
    <p:sldId id="21841" r:id="rId22"/>
    <p:sldId id="21843" r:id="rId23"/>
    <p:sldId id="21945" r:id="rId24"/>
    <p:sldId id="22021" r:id="rId25"/>
    <p:sldId id="27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0" userDrawn="1">
          <p15:clr>
            <a:srgbClr val="A4A3A4"/>
          </p15:clr>
        </p15:guide>
        <p15:guide id="2" pos="3896" userDrawn="1">
          <p15:clr>
            <a:srgbClr val="A4A3A4"/>
          </p15:clr>
        </p15:guide>
        <p15:guide id="3" pos="318" userDrawn="1">
          <p15:clr>
            <a:srgbClr val="A4A3A4"/>
          </p15:clr>
        </p15:guide>
        <p15:guide id="4" pos="7389" userDrawn="1">
          <p15:clr>
            <a:srgbClr val="A4A3A4"/>
          </p15:clr>
        </p15:guide>
        <p15:guide id="5" orient="horz" pos="38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JIE" initials="LJ" lastIdx="2" clrIdx="0"/>
  <p:cmAuthor id="409" name="未知用户213" initials="未" lastIdx="0" clrIdx="408"/>
  <p:cmAuthor id="1" name="yehuimei" initials="y" lastIdx="2" clrIdx="0"/>
  <p:cmAuthor id="410" name="未知用户214" initials="未" lastIdx="0" clrIdx="409"/>
  <p:cmAuthor id="2" name="haojingjing" initials="h" lastIdx="1" clrIdx="1"/>
  <p:cmAuthor id="411" name="未知用户215" initials="未" lastIdx="0" clrIdx="410"/>
  <p:cmAuthor id="3" name="PC" initials="P" lastIdx="1" clrIdx="2"/>
  <p:cmAuthor id="412" name="未知用户231" initials="未" lastIdx="0" clrIdx="411"/>
  <p:cmAuthor id="4" name="作者" initials="A" lastIdx="0" clrIdx="3"/>
  <p:cmAuthor id="413" name="未知用户233" initials="未" lastIdx="0" clrIdx="412"/>
  <p:cmAuthor id="5" name="XDY" initials="X" lastIdx="3" clrIdx="4"/>
  <p:cmAuthor id="414" name="Unknown User117" initials="U" lastIdx="0" clrIdx="413"/>
  <p:cmAuthor id="6" name="lindawang2017@163.com" initials="l" lastIdx="2" clrIdx="5"/>
  <p:cmAuthor id="415" name="未知用户234" initials="未" lastIdx="0" clrIdx="414"/>
  <p:cmAuthor id="416" name="未知用户235" initials="未" lastIdx="0" clrIdx="415"/>
  <p:cmAuthor id="7" name="董苗苗" initials="董" lastIdx="0" clrIdx="1"/>
  <p:cmAuthor id="8" name="Administrator" initials="A" lastIdx="0" clrIdx="7"/>
  <p:cmAuthor id="417" name="未知用户236" initials="未" lastIdx="0" clrIdx="416"/>
  <p:cmAuthor id="9" name="China" initials="C" lastIdx="0" clrIdx="8"/>
  <p:cmAuthor id="418" name="未知用户237" initials="未" lastIdx="0" clrIdx="417"/>
  <p:cmAuthor id="10" name="lenovo" initials="l" lastIdx="0" clrIdx="9"/>
  <p:cmAuthor id="419" name="Unknown User65" initials="U" lastIdx="0" clrIdx="418"/>
  <p:cmAuthor id="11" name="张宪国" initials="张" lastIdx="0" clrIdx="10"/>
  <p:cmAuthor id="420" name="未知用户240" initials="未" lastIdx="0" clrIdx="419"/>
  <p:cmAuthor id="12" name="catarc" initials="c" lastIdx="0" clrIdx="11"/>
  <p:cmAuthor id="421" name="未知用户221" initials="未" lastIdx="0" clrIdx="420"/>
  <p:cmAuthor id="13" name="王 越优" initials="王" lastIdx="0" clrIdx="12"/>
  <p:cmAuthor id="422" name="lillian" initials="l" lastIdx="0" clrIdx="421"/>
  <p:cmAuthor id="14" name="wangj" initials="w" lastIdx="0" clrIdx="13"/>
  <p:cmAuthor id="423" name="曾蓓/贝贝" initials="曾" lastIdx="0" clrIdx="422"/>
  <p:cmAuthor id="15" name="yangkaixin" initials="y" lastIdx="0" clrIdx="14"/>
  <p:cmAuthor id="424" name="未知用户197" initials="未" lastIdx="0" clrIdx="423"/>
  <p:cmAuthor id="16" name="LENOVO" initials="L" lastIdx="0" clrIdx="15"/>
  <p:cmAuthor id="425" name="未知用户157" initials="未" lastIdx="0" clrIdx="424"/>
  <p:cmAuthor id="17" name="Sylvia W" initials="SW" lastIdx="0" clrIdx="16"/>
  <p:cmAuthor id="426" name="未知用户158" initials="未" lastIdx="0" clrIdx="425"/>
  <p:cmAuthor id="18" name="ADC" initials="1" lastIdx="0" clrIdx="17"/>
  <p:cmAuthor id="427" name="未知用户159" initials="未" lastIdx="0" clrIdx="426"/>
  <p:cmAuthor id="19" name="pc" initials="p" lastIdx="0" clrIdx="18"/>
  <p:cmAuthor id="428" name="未知用户160" initials="未" lastIdx="0" clrIdx="427"/>
  <p:cmAuthor id="20" name="黄哲" initials="MeMeX" lastIdx="0" clrIdx="19"/>
  <p:cmAuthor id="429" name="未知用户168" initials="未" lastIdx="0" clrIdx="428"/>
  <p:cmAuthor id="21" name="杜志彬" initials="杜" lastIdx="0" clrIdx="20"/>
  <p:cmAuthor id="430" name="順天" initials="順" lastIdx="0" clrIdx="429"/>
  <p:cmAuthor id="22" name="c" initials="c" lastIdx="0" clrIdx="21"/>
  <p:cmAuthor id="431" name="未知用户143" initials="未" lastIdx="0" clrIdx="430"/>
  <p:cmAuthor id="23" name="边" initials="边" lastIdx="0" clrIdx="22"/>
  <p:cmAuthor id="432" name="未知用户144" initials="未" lastIdx="0" clrIdx="431"/>
  <p:cmAuthor id="24" name="王帅" initials="王" lastIdx="0" clrIdx="23"/>
  <p:cmAuthor id="433" name="林 宇" initials="林" lastIdx="0" clrIdx="432"/>
  <p:cmAuthor id="25" name="未知用户78" initials="未" lastIdx="0" clrIdx="24"/>
  <p:cmAuthor id="434" name="国建胜" initials="l" lastIdx="0" clrIdx="433"/>
  <p:cmAuthor id="26" name="Unknown User1" initials="U" lastIdx="0" clrIdx="25"/>
  <p:cmAuthor id="435" name="吴 金龙" initials="吴" lastIdx="0" clrIdx="434"/>
  <p:cmAuthor id="27" name="尚洁" initials="尚" lastIdx="0" clrIdx="26"/>
  <p:cmAuthor id="436" name="王 晓涵" initials="王" lastIdx="0" clrIdx="435"/>
  <p:cmAuthor id="28" name="Admin" initials="A" lastIdx="0" clrIdx="27"/>
  <p:cmAuthor id="437" name="yuangong" initials="y" lastIdx="0" clrIdx="436"/>
  <p:cmAuthor id="29" name="未知用户80" initials="未" lastIdx="0" clrIdx="28"/>
  <p:cmAuthor id="438" name="Lenovo" initials="L" lastIdx="0" clrIdx="437"/>
  <p:cmAuthor id="30" name="Charley" initials="C" lastIdx="0" clrIdx="29"/>
  <p:cmAuthor id="439" name="未知" initials="未" lastIdx="0" clrIdx="438"/>
  <p:cmAuthor id="31" name="Harry xu" initials="H" lastIdx="0" clrIdx="30"/>
  <p:cmAuthor id="440" name="市场01" initials="市" lastIdx="0" clrIdx="439"/>
  <p:cmAuthor id="32" name="Cindy-NB" initials="C" lastIdx="0" clrIdx="31"/>
  <p:cmAuthor id="441" name="86150" initials="8" lastIdx="0" clrIdx="440"/>
  <p:cmAuthor id="33" name="未知用户4" initials="未" lastIdx="0" clrIdx="32"/>
  <p:cmAuthor id="442" name="于露" initials="于" lastIdx="0" clrIdx="441"/>
  <p:cmAuthor id="34" name="未知的使用者4" initials="未" lastIdx="0" clrIdx="33"/>
  <p:cmAuthor id="443" name="赵剑锋" initials="赵" lastIdx="0" clrIdx="442"/>
  <p:cmAuthor id="35" name="未知的使用者5" initials="未" lastIdx="0" clrIdx="34"/>
  <p:cmAuthor id="444" name="赵津" initials="L" lastIdx="0" clrIdx="443"/>
  <p:cmAuthor id="36" name="未知的使用者6" initials="未" lastIdx="0" clrIdx="35"/>
  <p:cmAuthor id="445" name="蔯 陈" initials="蔯" lastIdx="0" clrIdx="444"/>
  <p:cmAuthor id="37" name="guocc" initials="g" lastIdx="0" clrIdx="36"/>
  <p:cmAuthor id="446" name="鲍越" initials="鲍" lastIdx="0" clrIdx="445"/>
  <p:cmAuthor id="38" name="x230" initials="x" lastIdx="0" clrIdx="37"/>
  <p:cmAuthor id="447" name="田晓笛" initials="田" lastIdx="0" clrIdx="446"/>
  <p:cmAuthor id="39" name="sharon" initials="s" lastIdx="0" clrIdx="38"/>
  <p:cmAuthor id="448" name="秦志嫒" initials="秦" lastIdx="0" clrIdx="447"/>
  <p:cmAuthor id="40" name="未知的使用者51" initials="未" lastIdx="0" clrIdx="39"/>
  <p:cmAuthor id="449" name="未知的使用者163" initials="未" lastIdx="0" clrIdx="448"/>
  <p:cmAuthor id="41" name="未知的使用者2" initials="未" lastIdx="0" clrIdx="40"/>
  <p:cmAuthor id="450" name="骆倩怡_Znauj26B" initials="authorId_382814100" lastIdx="0" clrIdx="449"/>
  <p:cmAuthor id="42" name="August" initials="A" lastIdx="0" clrIdx="41"/>
  <p:cmAuthor id="451" name="费 李" initials="费" lastIdx="0" clrIdx="450"/>
  <p:cmAuthor id="43" name="仝德志" initials="仝" lastIdx="0" clrIdx="42"/>
  <p:cmAuthor id="452" name="pengfei" initials="p" lastIdx="0" clrIdx="451"/>
  <p:cmAuthor id="44" name="未知的使用者19" initials="未" lastIdx="0" clrIdx="43"/>
  <p:cmAuthor id="453" name="James Fox" initials="JF" lastIdx="0" clrIdx="452"/>
  <p:cmAuthor id="45" name="未知的使用者20" initials="未" lastIdx="0" clrIdx="44"/>
  <p:cmAuthor id="454" name="elsamomo" initials="e" lastIdx="0" clrIdx="453"/>
  <p:cmAuthor id="46" name="未知的使用者21" initials="未" lastIdx="0" clrIdx="45"/>
  <p:cmAuthor id="455" name="魏 岩" initials="魏" lastIdx="0" clrIdx="454"/>
  <p:cmAuthor id="47" name="未知的使用者17" initials="未" lastIdx="0" clrIdx="46"/>
  <p:cmAuthor id="456" name="Author" initials="A" lastIdx="0" clrIdx="455"/>
  <p:cmAuthor id="48" name="未知的使用者18" initials="未" lastIdx="0" clrIdx="47"/>
  <p:cmAuthor id="457" name="王 亚芳" initials="王" lastIdx="0" clrIdx="456"/>
  <p:cmAuthor id="49" name="未知的使用者15" initials="未" lastIdx="0" clrIdx="48"/>
  <p:cmAuthor id="458" name="Qidong Zhao" initials="QZ" lastIdx="0" clrIdx="457"/>
  <p:cmAuthor id="50" name="raymond luan" initials="r" lastIdx="0" clrIdx="49"/>
  <p:cmAuthor id="459" name="未知用户77" initials="未" lastIdx="0" clrIdx="458"/>
  <p:cmAuthor id="51" name="alpha" initials="a" lastIdx="0" clrIdx="50"/>
  <p:cmAuthor id="460" name="未知用户79" initials="未" lastIdx="0" clrIdx="459"/>
  <p:cmAuthor id="52" name="luxu" initials="l" lastIdx="0" clrIdx="51"/>
  <p:cmAuthor id="461" name="林 鸿钰" initials="林" lastIdx="0" clrIdx="460"/>
  <p:cmAuthor id="53" name="未知用户37" initials="未" lastIdx="0" clrIdx="52"/>
  <p:cmAuthor id="462" name="zqzl06343" initials="z" lastIdx="0" clrIdx="461"/>
  <p:cmAuthor id="54" name="RS001" initials="R" lastIdx="0" clrIdx="53"/>
  <p:cmAuthor id="463" name="一鑫" initials="一鑫" lastIdx="0" clrIdx="462"/>
  <p:cmAuthor id="55" name="Unknown User22" initials="U" lastIdx="0" clrIdx="54"/>
  <p:cmAuthor id="464" name="XXAQ-RSX" initials="X" lastIdx="0" clrIdx="463"/>
  <p:cmAuthor id="56" name="jet" initials="j" lastIdx="0" clrIdx="55"/>
  <p:cmAuthor id="57" name="殷格非" initials="殷" lastIdx="0" clrIdx="56"/>
  <p:cmAuthor id="58" name="Unknown User23" initials="U" lastIdx="0" clrIdx="57"/>
  <p:cmAuthor id="59" name="z r" initials="zr" lastIdx="0" clrIdx="58"/>
  <p:cmAuthor id="60" name="lc xue" initials="lx" lastIdx="0" clrIdx="59"/>
  <p:cmAuthor id="61" name="未知的使用者75" initials="未" lastIdx="0" clrIdx="60"/>
  <p:cmAuthor id="62" name="未知的使用者169" initials="未" lastIdx="0" clrIdx="61"/>
  <p:cmAuthor id="63" name="未知的使用者77" initials="未" lastIdx="0" clrIdx="62"/>
  <p:cmAuthor id="64" name="未知的使用者183" initials="未" lastIdx="0" clrIdx="63"/>
  <p:cmAuthor id="65" name="未知的使用者92" initials="未" lastIdx="0" clrIdx="64"/>
  <p:cmAuthor id="66" name="未知的使用者182" initials="未" lastIdx="0" clrIdx="65"/>
  <p:cmAuthor id="67" name="哲宇 赵" initials="哲赵" lastIdx="0" clrIdx="66"/>
  <p:cmAuthor id="68" name="未知的使用者78" initials="未" lastIdx="0" clrIdx="67"/>
  <p:cmAuthor id="69" name="未知的使用者173" initials="未" lastIdx="0" clrIdx="68"/>
  <p:cmAuthor id="70" name="未知用户3" initials="未" lastIdx="0" clrIdx="69"/>
  <p:cmAuthor id="71" name="未知的使用者161" initials="未" lastIdx="0" clrIdx="70"/>
  <p:cmAuthor id="72" name="未知的使用者79" initials="未" lastIdx="0" clrIdx="71"/>
  <p:cmAuthor id="73" name="未知用户107" initials="未" lastIdx="0" clrIdx="72"/>
  <p:cmAuthor id="74" name="未知的使用者162" initials="未" lastIdx="0" clrIdx="73"/>
  <p:cmAuthor id="75" name="未知的使用者80" initials="未" lastIdx="0" clrIdx="74"/>
  <p:cmAuthor id="76" name="未知的使用者152" initials="未" lastIdx="0" clrIdx="75"/>
  <p:cmAuthor id="77" name="刘浩" initials="刘" lastIdx="0" clrIdx="76"/>
  <p:cmAuthor id="78" name="未知用户51" initials="未" lastIdx="0" clrIdx="77"/>
  <p:cmAuthor id="79" name="Vivian Liu" initials="VL" lastIdx="0" clrIdx="78"/>
  <p:cmAuthor id="80" name="未知的使用者184" initials="未" lastIdx="0" clrIdx="79"/>
  <p:cmAuthor id="81" name="he zhirui" initials="hz" lastIdx="0" clrIdx="80"/>
  <p:cmAuthor id="82" name="未知的使用者82" initials="未" lastIdx="0" clrIdx="81"/>
  <p:cmAuthor id="83" name="伟哥" initials="伟哥" lastIdx="0" clrIdx="82"/>
  <p:cmAuthor id="84" name="未知的使用者185" initials="未" lastIdx="0" clrIdx="83"/>
  <p:cmAuthor id="85" name="Windows User" initials="WU" lastIdx="0" clrIdx="84"/>
  <p:cmAuthor id="86" name="未知的使用者186" initials="未" lastIdx="0" clrIdx="85"/>
  <p:cmAuthor id="87" name="未知的使用者83" initials="未" lastIdx="0" clrIdx="86"/>
  <p:cmAuthor id="88" name="未知的使用者175" initials="未" lastIdx="0" clrIdx="87"/>
  <p:cmAuthor id="89" name="未知的使用者118" initials="未" lastIdx="0" clrIdx="88"/>
  <p:cmAuthor id="90" name="赵志成" initials="赵志成" lastIdx="0" clrIdx="89"/>
  <p:cmAuthor id="91" name="未知的使用者187" initials="未" lastIdx="0" clrIdx="90"/>
  <p:cmAuthor id="92" name="未知的使用者70" initials="未" lastIdx="0" clrIdx="91"/>
  <p:cmAuthor id="93" name="未知的使用者178" initials="未" lastIdx="0" clrIdx="92"/>
  <p:cmAuthor id="94" name="王伊默" initials="王" lastIdx="0" clrIdx="93"/>
  <p:cmAuthor id="95" name="mjs" initials="m" lastIdx="0" clrIdx="94"/>
  <p:cmAuthor id="96" name="未知的使用者85" initials="未" lastIdx="0" clrIdx="95"/>
  <p:cmAuthor id="97" name="未知的使用者179" initials="未" lastIdx="0" clrIdx="96"/>
  <p:cmAuthor id="98" name="未知的使用者40" initials="未" lastIdx="0" clrIdx="97"/>
  <p:cmAuthor id="99" name="未知的使用者180" initials="未" lastIdx="0" clrIdx="98"/>
  <p:cmAuthor id="100" name="未知的使用者87" initials="未" lastIdx="0" clrIdx="99"/>
  <p:cmAuthor id="101" name="未知的使用者181" initials="未" lastIdx="0" clrIdx="100"/>
  <p:cmAuthor id="102" name="曾红" initials="曾" lastIdx="0" clrIdx="101"/>
  <p:cmAuthor id="103" name="未知的使用者170" initials="未" lastIdx="0" clrIdx="102"/>
  <p:cmAuthor id="104" name="未知的使用者90" initials="未" lastIdx="0" clrIdx="103"/>
  <p:cmAuthor id="105" name="未知的使用者29" initials="未" lastIdx="0" clrIdx="104"/>
  <p:cmAuthor id="106" name="未知的使用者91" initials="未" lastIdx="0" clrIdx="105"/>
  <p:cmAuthor id="107" name="未知的使用者98" initials="未" lastIdx="0" clrIdx="106"/>
  <p:cmAuthor id="108" name="CHRISYU" initials="C" lastIdx="0" clrIdx="107"/>
  <p:cmAuthor id="109" name="未知的使用者113" initials="未" lastIdx="0" clrIdx="108"/>
  <p:cmAuthor id="110" name="liucunri" initials="l" lastIdx="0" clrIdx="109"/>
  <p:cmAuthor id="111" name="未知用户9" initials="未" lastIdx="0" clrIdx="110"/>
  <p:cmAuthor id="112" name="Unknown User48" initials="U" lastIdx="0" clrIdx="111"/>
  <p:cmAuthor id="113" name="未知用户103" initials="未" lastIdx="0" clrIdx="112"/>
  <p:cmAuthor id="114" name="Unknown User52" initials="U" lastIdx="0" clrIdx="113"/>
  <p:cmAuthor id="115" name="未知的使用者42" initials="未" lastIdx="0" clrIdx="114"/>
  <p:cmAuthor id="116" name="Unknown User50" initials="U" lastIdx="0" clrIdx="115"/>
  <p:cmAuthor id="117" name="未知的使用者120" initials="未" lastIdx="0" clrIdx="116"/>
  <p:cmAuthor id="118" name="px" initials="p" lastIdx="0" clrIdx="117"/>
  <p:cmAuthor id="119" name="Sky123.Org" initials="S" lastIdx="0" clrIdx="118"/>
  <p:cmAuthor id="120" name="elfinhsu" initials="e" lastIdx="0" clrIdx="119"/>
  <p:cmAuthor id="121" name="微软用户" initials="微" lastIdx="0" clrIdx="120"/>
  <p:cmAuthor id="122" name="未知的使用者73" initials="未" lastIdx="0" clrIdx="121"/>
  <p:cmAuthor id="123" name="未知的使用者24" initials="未" lastIdx="0" clrIdx="122"/>
  <p:cmAuthor id="124" name="未知用户16" initials="未" lastIdx="0" clrIdx="123"/>
  <p:cmAuthor id="125" name="Mary Feil-Jacobs" initials="M" lastIdx="0" clrIdx="124"/>
  <p:cmAuthor id="126" name="LiuHui" initials="L" lastIdx="0" clrIdx="125"/>
  <p:cmAuthor id="127" name="未知的使用者45" initials="未" lastIdx="0" clrIdx="126"/>
  <p:cmAuthor id="128" name="王鹏凯" initials="王" lastIdx="0" clrIdx="127"/>
  <p:cmAuthor id="129" name="未知用户104" initials="未" lastIdx="0" clrIdx="128"/>
  <p:cmAuthor id="130" name="未知用户5" initials="未" lastIdx="0" clrIdx="129"/>
  <p:cmAuthor id="131" name="未知的使用者10" initials="未" lastIdx="0" clrIdx="130"/>
  <p:cmAuthor id="132" name="未知的使用者93" initials="未" lastIdx="0" clrIdx="131"/>
  <p:cmAuthor id="133" name="LeeElva" initials="L" lastIdx="0" clrIdx="132"/>
  <p:cmAuthor id="134" name="未知用户99" initials="未" lastIdx="0" clrIdx="133"/>
  <p:cmAuthor id="135" name="未知的使用者34" initials="未" lastIdx="0" clrIdx="134"/>
  <p:cmAuthor id="136" name="未知的使用者115" initials="未" lastIdx="0" clrIdx="135"/>
  <p:cmAuthor id="137" name="未知用户57" initials="未" lastIdx="0" clrIdx="136"/>
  <p:cmAuthor id="138" name="lianghb" initials="l" lastIdx="0" clrIdx="137"/>
  <p:cmAuthor id="139" name="未知用户17" initials="未" lastIdx="0" clrIdx="138"/>
  <p:cmAuthor id="140" name="Deanna Schuler (Bookey Consulting)" initials="D" lastIdx="0" clrIdx="139"/>
  <p:cmAuthor id="141" name="未知的使用者57" initials="未" lastIdx="0" clrIdx="140"/>
  <p:cmAuthor id="142" name="未知的使用者16" initials="未" lastIdx="0" clrIdx="141"/>
  <p:cmAuthor id="143" name="未知的使用者35" initials="未" lastIdx="0" clrIdx="142"/>
  <p:cmAuthor id="144" name="未知用户102" initials="未" lastIdx="0" clrIdx="143"/>
  <p:cmAuthor id="145" name="maxine" initials="m" lastIdx="0" clrIdx="144"/>
  <p:cmAuthor id="146" name="未知的使用者121" initials="未" lastIdx="0" clrIdx="145"/>
  <p:cmAuthor id="147" name="未知的使用者12" initials="未" lastIdx="0" clrIdx="146"/>
  <p:cmAuthor id="148" name="周元元" initials="周" lastIdx="0" clrIdx="147"/>
  <p:cmAuthor id="149" name="未知的使用者27" initials="未" lastIdx="0" clrIdx="148"/>
  <p:cmAuthor id="150" name="未知的使用者30" initials="未" lastIdx="0" clrIdx="149"/>
  <p:cmAuthor id="151" name="未知的使用者53" initials="未" lastIdx="0" clrIdx="150"/>
  <p:cmAuthor id="152" name="未知用户58" initials="未" lastIdx="0" clrIdx="151"/>
  <p:cmAuthor id="153" name="未知的使用者25" initials="未" lastIdx="0" clrIdx="152"/>
  <p:cmAuthor id="154" name="liupeng" initials="l" lastIdx="0" clrIdx="153"/>
  <p:cmAuthor id="155" name="未知用户24" initials="未" lastIdx="0" clrIdx="154"/>
  <p:cmAuthor id="156" name="AbuSina" initials="A" lastIdx="0" clrIdx="155"/>
  <p:cmAuthor id="157" name="hl sun" initials="h" lastIdx="0" clrIdx="156"/>
  <p:cmAuthor id="158" name="未知的使用者94" initials="未" lastIdx="0" clrIdx="157"/>
  <p:cmAuthor id="159" name="未知用户66" initials="未" lastIdx="0" clrIdx="158"/>
  <p:cmAuthor id="160" name="未知的使用者132" initials="未" lastIdx="0" clrIdx="159"/>
  <p:cmAuthor id="161" name="未知用户19" initials="未" lastIdx="0" clrIdx="160"/>
  <p:cmAuthor id="162" name="周宏達JerryChou" initials="周" lastIdx="0" clrIdx="161"/>
  <p:cmAuthor id="163" name="未知用户7" initials="未" lastIdx="0" clrIdx="162"/>
  <p:cmAuthor id="164" name="未知的使用者56" initials="未" lastIdx="0" clrIdx="163"/>
  <p:cmAuthor id="165" name="未知的使用者119" initials="未" lastIdx="0" clrIdx="164"/>
  <p:cmAuthor id="166" name="未知用户59" initials="未" lastIdx="0" clrIdx="165"/>
  <p:cmAuthor id="167" name="CATARC" initials="C" lastIdx="0" clrIdx="166"/>
  <p:cmAuthor id="168" name="未知的使用者22" initials="未" lastIdx="0" clrIdx="167"/>
  <p:cmAuthor id="169" name="未知的使用者103" initials="未" lastIdx="0" clrIdx="168"/>
  <p:cmAuthor id="170" name="Wenwen" initials="W" lastIdx="0" clrIdx="169"/>
  <p:cmAuthor id="171" name="未知的使用者117" initials="未" lastIdx="0" clrIdx="170"/>
  <p:cmAuthor id="172" name="未知的使用者33" initials="未" lastIdx="0" clrIdx="171"/>
  <p:cmAuthor id="173" name="张一森" initials="张" lastIdx="0" clrIdx="172"/>
  <p:cmAuthor id="174" name="未知的使用者28" initials="未" lastIdx="0" clrIdx="173"/>
  <p:cmAuthor id="175" name="zhouzaihuan" initials="z" lastIdx="0" clrIdx="174"/>
  <p:cmAuthor id="176" name="未知用户67" initials="未" lastIdx="0" clrIdx="175"/>
  <p:cmAuthor id="177" name="未知用户114" initials="未" lastIdx="0" clrIdx="176"/>
  <p:cmAuthor id="178" name="未知用户18" initials="未" lastIdx="0" clrIdx="177"/>
  <p:cmAuthor id="179" name="安逸" initials="安" lastIdx="0" clrIdx="178"/>
  <p:cmAuthor id="180" name="未知的使用者67" initials="未" lastIdx="0" clrIdx="179"/>
  <p:cmAuthor id="181" name="未知的使用者46" initials="未" lastIdx="0" clrIdx="180"/>
  <p:cmAuthor id="182" name="未知的使用者26" initials="未" lastIdx="0" clrIdx="181"/>
  <p:cmAuthor id="183" name="未知的使用者43" initials="未" lastIdx="0" clrIdx="182"/>
  <p:cmAuthor id="184" name="未知的使用者9" initials="未" lastIdx="0" clrIdx="183"/>
  <p:cmAuthor id="185" name="未知用户62" initials="未" lastIdx="0" clrIdx="184"/>
  <p:cmAuthor id="186" name="yuanzh" initials="y" lastIdx="0" clrIdx="185"/>
  <p:cmAuthor id="187" name="不明使用者57" initials="不" lastIdx="0" clrIdx="186"/>
  <p:cmAuthor id="188" name="未知用户108" initials="未" lastIdx="0" clrIdx="187"/>
  <p:cmAuthor id="189" name="未知的使用者110" initials="未" lastIdx="0" clrIdx="188"/>
  <p:cmAuthor id="190" name="linyd" initials="l" lastIdx="0" clrIdx="189"/>
  <p:cmAuthor id="191" name="未知用户8" initials="未" lastIdx="0" clrIdx="190"/>
  <p:cmAuthor id="192" name="未知的使用者31" initials="未" lastIdx="0" clrIdx="191"/>
  <p:cmAuthor id="193" name="未知用户81" initials="未" lastIdx="0" clrIdx="192"/>
  <p:cmAuthor id="194" name="未知用户115" initials="未" lastIdx="0" clrIdx="193"/>
  <p:cmAuthor id="195" name="未知用户21" initials="未" lastIdx="0" clrIdx="194"/>
  <p:cmAuthor id="196" name="未知的使用者68" initials="未" lastIdx="0" clrIdx="195"/>
  <p:cmAuthor id="197" name="mm" initials="m" lastIdx="0" clrIdx="196"/>
  <p:cmAuthor id="198" name="未知用户15" initials="未" lastIdx="0" clrIdx="197"/>
  <p:cmAuthor id="199" name="朱晓瑜" initials="朱" lastIdx="0" clrIdx="198"/>
  <p:cmAuthor id="200" name="不明使用者20" initials="不" lastIdx="0" clrIdx="199"/>
  <p:cmAuthor id="201" name="王竞逸" initials="王" lastIdx="0" clrIdx="200"/>
  <p:cmAuthor id="202" name="未知用户82" initials="未" lastIdx="0" clrIdx="201"/>
  <p:cmAuthor id="203" name="未知的使用者7" initials="未" lastIdx="0" clrIdx="202"/>
  <p:cmAuthor id="204" name="未知用户6" initials="未" lastIdx="0" clrIdx="203"/>
  <p:cmAuthor id="205" name="未知的使用者55" initials="未" lastIdx="0" clrIdx="204"/>
  <p:cmAuthor id="206" name="未知的使用者111" initials="未" lastIdx="0" clrIdx="205"/>
  <p:cmAuthor id="207" name="未知的使用者50" initials="未" lastIdx="0" clrIdx="206"/>
  <p:cmAuthor id="208" name="未知的使用者11" initials="未" lastIdx="0" clrIdx="207"/>
  <p:cmAuthor id="209" name="未知用户47" initials="未" lastIdx="0" clrIdx="208"/>
  <p:cmAuthor id="210" name="未知用户116" initials="未" lastIdx="0" clrIdx="209"/>
  <p:cmAuthor id="211" name="未知的使用者69" initials="未" lastIdx="0" clrIdx="210"/>
  <p:cmAuthor id="212" name="未知的使用者112" initials="未" lastIdx="0" clrIdx="211"/>
  <p:cmAuthor id="213" name="Kevin Hu" initials="K" lastIdx="0" clrIdx="212"/>
  <p:cmAuthor id="214" name="未知的使用者38" initials="未" lastIdx="0" clrIdx="213"/>
  <p:cmAuthor id="215" name="谢学斌" initials="谢" lastIdx="0" clrIdx="214"/>
  <p:cmAuthor id="216" name="唐可欣" initials="唐" lastIdx="0" clrIdx="215"/>
  <p:cmAuthor id="217" name="未知的使用者8" initials="未" lastIdx="0" clrIdx="216"/>
  <p:cmAuthor id="218" name="不明使用者56" initials="不" lastIdx="0" clrIdx="217"/>
  <p:cmAuthor id="219" name="P00035_jeremy" initials="P" lastIdx="0" clrIdx="218"/>
  <p:cmAuthor id="220" name="沈霄雷" initials="沈" lastIdx="0" clrIdx="219"/>
  <p:cmAuthor id="221" name="Unknown User7" initials="U" lastIdx="0" clrIdx="220"/>
  <p:cmAuthor id="222" name="阿斯顿 刘" initials="阿斯顿" lastIdx="0" clrIdx="221"/>
  <p:cmAuthor id="223" name="muzi wei" initials="m" lastIdx="0" clrIdx="222"/>
  <p:cmAuthor id="224" name="HUAWEI" initials="H" lastIdx="0" clrIdx="223"/>
  <p:cmAuthor id="225" name="未知的使用者41" initials="未" lastIdx="0" clrIdx="224"/>
  <p:cmAuthor id="226" name="未知的使用者13" initials="未" lastIdx="0" clrIdx="225"/>
  <p:cmAuthor id="227" name="戴 清泺" initials="戴" lastIdx="0" clrIdx="226"/>
  <p:cmAuthor id="228" name="djj" initials="d" lastIdx="0" clrIdx="227"/>
  <p:cmAuthor id="229" name="NN" initials="NN" lastIdx="0" clrIdx="228"/>
  <p:cmAuthor id="230" name="未知用户117" initials="未" lastIdx="0" clrIdx="229"/>
  <p:cmAuthor id="231" name="Saku Uchikawa" initials="S" lastIdx="0" clrIdx="230"/>
  <p:cmAuthor id="232" name="未知用户13" initials="未" lastIdx="0" clrIdx="231"/>
  <p:cmAuthor id="233" name="Ditto" initials="D" lastIdx="0" clrIdx="232"/>
  <p:cmAuthor id="234" name="不明使用者21" initials="不" lastIdx="0" clrIdx="233"/>
  <p:cmAuthor id="235" name="施普希（菜菜）" initials="施" lastIdx="0" clrIdx="234"/>
  <p:cmAuthor id="236" name="YUMINGNJ" initials="Y" lastIdx="0" clrIdx="235"/>
  <p:cmAuthor id="237" name="yu 1" initials="y1" lastIdx="0" clrIdx="236"/>
  <p:cmAuthor id="238" name="未知的使用者52" initials="未" lastIdx="0" clrIdx="237"/>
  <p:cmAuthor id="239" name="李 嘉" initials="李" lastIdx="0" clrIdx="238"/>
  <p:cmAuthor id="240" name="未知用户109" initials="未" lastIdx="0" clrIdx="239"/>
  <p:cmAuthor id="241" name="thomas" initials="t" lastIdx="0" clrIdx="240"/>
  <p:cmAuthor id="242" name="未知的使用者3" initials="未" lastIdx="0" clrIdx="241"/>
  <p:cmAuthor id="243" name="未知用户14" initials="未" lastIdx="0" clrIdx="242"/>
  <p:cmAuthor id="244" name="未知用户98" initials="未" lastIdx="0" clrIdx="243"/>
  <p:cmAuthor id="245" name="Windows 用户" initials="W" lastIdx="0" clrIdx="244"/>
  <p:cmAuthor id="246" name="未知用户83" initials="未" lastIdx="0" clrIdx="245"/>
  <p:cmAuthor id="247" name="未知用户61" initials="未" lastIdx="0" clrIdx="246"/>
  <p:cmAuthor id="248" name="張秀娟" initials="張" lastIdx="0" clrIdx="247"/>
  <p:cmAuthor id="249" name="Jason Wang" initials="J" lastIdx="0" clrIdx="248"/>
  <p:cmAuthor id="250" name="不明使用者18" initials="不" lastIdx="0" clrIdx="249"/>
  <p:cmAuthor id="251" name="未知的使用者72" initials="未" lastIdx="0" clrIdx="250"/>
  <p:cmAuthor id="252" name="未知的使用者48" initials="未" lastIdx="0" clrIdx="251"/>
  <p:cmAuthor id="253" name="未知的使用者104" initials="未" lastIdx="0" clrIdx="252"/>
  <p:cmAuthor id="254" name="未知用户60" initials="未" lastIdx="0" clrIdx="253"/>
  <p:cmAuthor id="255" name="韩雨" initials="韩" lastIdx="0" clrIdx="254"/>
  <p:cmAuthor id="256" name="Shawna Strickland" initials="S" lastIdx="0" clrIdx="255"/>
  <p:cmAuthor id="257" name="未知的使用者36" initials="未" lastIdx="0" clrIdx="256"/>
  <p:cmAuthor id="258" name="Daniel Wuu" initials="D" lastIdx="0" clrIdx="257"/>
  <p:cmAuthor id="259" name="未知用户56" initials="未" lastIdx="0" clrIdx="258"/>
  <p:cmAuthor id="260" name="未知的使用者14" initials="未" lastIdx="0" clrIdx="259"/>
  <p:cmAuthor id="261" name="Ashley Eberenz" initials="A" lastIdx="0" clrIdx="260"/>
  <p:cmAuthor id="262" name="不明使用者19" initials="不" lastIdx="0" clrIdx="261"/>
  <p:cmAuthor id="263" name="qiantong" initials="q" lastIdx="0" clrIdx="262"/>
  <p:cmAuthor id="264" name="未知的使用者74" initials="未" lastIdx="0" clrIdx="263"/>
  <p:cmAuthor id="265" name="未知的使用者23" initials="未" lastIdx="0" clrIdx="264"/>
  <p:cmAuthor id="266" name="未知的使用者1" initials="未" lastIdx="0" clrIdx="265"/>
  <p:cmAuthor id="267" name="116304" initials="1" lastIdx="0" clrIdx="266"/>
  <p:cmAuthor id="268" name="R affer" initials="R" lastIdx="0" clrIdx="267"/>
  <p:cmAuthor id="269" name="qihua-DCMS" initials="q" lastIdx="0" clrIdx="268"/>
  <p:cmAuthor id="270" name="未知用户55" initials="未" lastIdx="0" clrIdx="269"/>
  <p:cmAuthor id="271" name="未知的使用者95" initials="未" lastIdx="0" clrIdx="270"/>
  <p:cmAuthor id="272" name="未知的使用者32" initials="未" lastIdx="0" clrIdx="271"/>
  <p:cmAuthor id="273" name="未知的使用者49" initials="未" lastIdx="0" clrIdx="272"/>
  <p:cmAuthor id="274" name="yuexuejun" initials="y" lastIdx="0" clrIdx="273"/>
  <p:cmAuthor id="275" name="未知的使用者71" initials="未" lastIdx="0" clrIdx="274"/>
  <p:cmAuthor id="276" name="未知的使用者105" initials="未" lastIdx="0" clrIdx="275"/>
  <p:cmAuthor id="277" name="Unknown User70" initials="U" lastIdx="0" clrIdx="276"/>
  <p:cmAuthor id="278" name="clinchen" initials="c" lastIdx="0" clrIdx="277"/>
  <p:cmAuthor id="279" name="黄晓平" initials="黄" lastIdx="0" clrIdx="278"/>
  <p:cmAuthor id="280" name="未知用户23" initials="未" lastIdx="0" clrIdx="279"/>
  <p:cmAuthor id="281" name="徐琳00159163" initials="徐琳00159163" lastIdx="0" clrIdx="280"/>
  <p:cmAuthor id="282" name="hanjuncompany" initials="h" lastIdx="0" clrIdx="281"/>
  <p:cmAuthor id="283" name="张静_Anua7Nne" initials="authorId_935319063" lastIdx="0" clrIdx="282"/>
  <p:cmAuthor id="284" name="kathy chen" initials="k" lastIdx="0" clrIdx="283"/>
  <p:cmAuthor id="285" name="未知的使用者63" initials="未" lastIdx="0" clrIdx="284"/>
  <p:cmAuthor id="286" name="未知的使用者64" initials="未" lastIdx="0" clrIdx="285"/>
  <p:cmAuthor id="287" name="未知的使用者47" initials="未" lastIdx="0" clrIdx="286"/>
  <p:cmAuthor id="288" name="未知的使用者60" initials="未" lastIdx="0" clrIdx="287"/>
  <p:cmAuthor id="289" name="未知的使用者59" initials="未" lastIdx="0" clrIdx="288"/>
  <p:cmAuthor id="290" name="未知的使用者54" initials="未" lastIdx="0" clrIdx="289"/>
  <p:cmAuthor id="291" name="仇怿俊" initials="仇" lastIdx="0" clrIdx="290"/>
  <p:cmAuthor id="292" name="未知的使用者66" initials="未" lastIdx="0" clrIdx="291"/>
  <p:cmAuthor id="293" name="mei shuo" initials="mei shuo" lastIdx="0" clrIdx="292"/>
  <p:cmAuthor id="294" name="未知的使用者65" initials="未" lastIdx="0" clrIdx="293"/>
  <p:cmAuthor id="295" name="dengwanting" initials="d" lastIdx="0" clrIdx="294"/>
  <p:cmAuthor id="296" name="未知的使用者106" initials="未" lastIdx="0" clrIdx="295"/>
  <p:cmAuthor id="297" name="liwei" initials="z" lastIdx="0" clrIdx="296"/>
  <p:cmAuthor id="298" name="未知的使用者107" initials="未" lastIdx="0" clrIdx="297"/>
  <p:cmAuthor id="299" name="未知的使用者108" initials="未" lastIdx="0" clrIdx="298"/>
  <p:cmAuthor id="300" name="未知的使用者86" initials="未" lastIdx="0" clrIdx="299"/>
  <p:cmAuthor id="301" name="未知的使用者116" initials="未" lastIdx="0" clrIdx="300"/>
  <p:cmAuthor id="302" name="未知的使用者44" initials="未" lastIdx="0" clrIdx="301"/>
  <p:cmAuthor id="303" name="未知的使用者37" initials="未" lastIdx="0" clrIdx="302"/>
  <p:cmAuthor id="304" name="未知的使用者126" initials="未" lastIdx="0" clrIdx="303"/>
  <p:cmAuthor id="305" name="未知的使用者127" initials="未" lastIdx="0" clrIdx="304"/>
  <p:cmAuthor id="306" name="未知的使用者128" initials="未" lastIdx="0" clrIdx="305"/>
  <p:cmAuthor id="307" name="李婧宜_YBferYVR" initials="authorId_1217247658" lastIdx="0" clrIdx="306"/>
  <p:cmAuthor id="308" name="未知的使用者124" initials="未" lastIdx="0" clrIdx="307"/>
  <p:cmAuthor id="309" name="zhang shaohui" initials="zs" lastIdx="0" clrIdx="308"/>
  <p:cmAuthor id="310" name="未知的使用者125" initials="未" lastIdx="0" clrIdx="309"/>
  <p:cmAuthor id="311" name="王竑达" initials="王竑达" lastIdx="0" clrIdx="310"/>
  <p:cmAuthor id="312" name="Sara Chen" initials="S" lastIdx="0" clrIdx="311"/>
  <p:cmAuthor id="313" name="梁鹏" initials="u" lastIdx="0" clrIdx="312"/>
  <p:cmAuthor id="314" name="huang gerrard" initials="h" lastIdx="0" clrIdx="313"/>
  <p:cmAuthor id="315" name="范 斌" initials="范" lastIdx="0" clrIdx="314"/>
  <p:cmAuthor id="316" name="未知用户170" initials="未" lastIdx="0" clrIdx="315"/>
  <p:cmAuthor id="317" name="毕邺" initials="党委办公室" lastIdx="0" clrIdx="316"/>
  <p:cmAuthor id="318" name="未知用户171" initials="未" lastIdx="0" clrIdx="317"/>
  <p:cmAuthor id="319" name="qsl" initials="q" lastIdx="0" clrIdx="318"/>
  <p:cmAuthor id="320" name="未知用户172" initials="未" lastIdx="0" clrIdx="319"/>
  <p:cmAuthor id="321" name="未知用户173" initials="未" lastIdx="0" clrIdx="320"/>
  <p:cmAuthor id="322" name="未知用户149" initials="未" lastIdx="0" clrIdx="321"/>
  <p:cmAuthor id="323" name="未知用户150" initials="未" lastIdx="0" clrIdx="322"/>
  <p:cmAuthor id="324" name="未知用户151" initials="未" lastIdx="0" clrIdx="323"/>
  <p:cmAuthor id="325" name="未知用户152" initials="未" lastIdx="0" clrIdx="324"/>
  <p:cmAuthor id="326" name="未知用户153" initials="未" lastIdx="0" clrIdx="325"/>
  <p:cmAuthor id="327" name="未知用户154" initials="未" lastIdx="0" clrIdx="326"/>
  <p:cmAuthor id="328" name="未知用户155" initials="未" lastIdx="0" clrIdx="327"/>
  <p:cmAuthor id="329" name="未知用户41" initials="未" lastIdx="0" clrIdx="328"/>
  <p:cmAuthor id="330" name="未知用户44" initials="未" lastIdx="0" clrIdx="329"/>
  <p:cmAuthor id="331" name="未知用户45" initials="未" lastIdx="0" clrIdx="330"/>
  <p:cmAuthor id="332" name="未知用户156" initials="未" lastIdx="0" clrIdx="331"/>
  <p:cmAuthor id="333" name="未知用户64" initials="未" lastIdx="0" clrIdx="332"/>
  <p:cmAuthor id="334" name="未知用户65" initials="未" lastIdx="0" clrIdx="333"/>
  <p:cmAuthor id="335" name="未知用户68" initials="未" lastIdx="0" clrIdx="334"/>
  <p:cmAuthor id="336" name="未知用户69" initials="未" lastIdx="0" clrIdx="335"/>
  <p:cmAuthor id="337" name="未知用户70" initials="未" lastIdx="0" clrIdx="336"/>
  <p:cmAuthor id="338" name="未知用户71" initials="未" lastIdx="0" clrIdx="337"/>
  <p:cmAuthor id="339" name="未知用户72" initials="未" lastIdx="0" clrIdx="338"/>
  <p:cmAuthor id="340" name="未知用户73" initials="未" lastIdx="0" clrIdx="339"/>
  <p:cmAuthor id="341" name="未知用户49" initials="未" lastIdx="0" clrIdx="340"/>
  <p:cmAuthor id="342" name="未知用户50" initials="未" lastIdx="0" clrIdx="341"/>
  <p:cmAuthor id="343" name="未知用户52" initials="未" lastIdx="0" clrIdx="342"/>
  <p:cmAuthor id="344" name="MA15" initials="M" lastIdx="0" clrIdx="343"/>
  <p:cmAuthor id="345" name="未知用户53" initials="未" lastIdx="0" clrIdx="344"/>
  <p:cmAuthor id="346" name="未知用户96" initials="未" lastIdx="0" clrIdx="345"/>
  <p:cmAuthor id="347" name="未知用户48" initials="未" lastIdx="0" clrIdx="346"/>
  <p:cmAuthor id="348" name="未知用户97" initials="未" lastIdx="0" clrIdx="347"/>
  <p:cmAuthor id="349" name="未知用户40" initials="未" lastIdx="0" clrIdx="348"/>
  <p:cmAuthor id="350" name="未知用户43" initials="未" lastIdx="0" clrIdx="349"/>
  <p:cmAuthor id="351" name="未知用户100" initials="未" lastIdx="0" clrIdx="350"/>
  <p:cmAuthor id="352" name="未知用户101" initials="未" lastIdx="0" clrIdx="351"/>
  <p:cmAuthor id="353" name="李丽" initials="李" lastIdx="0" clrIdx="352"/>
  <p:cmAuthor id="354" name="未知用户26" initials="未" lastIdx="0" clrIdx="353"/>
  <p:cmAuthor id="355" name="未知用户29" initials="未" lastIdx="0" clrIdx="354"/>
  <p:cmAuthor id="356" name="未知用户32" initials="未" lastIdx="0" clrIdx="355"/>
  <p:cmAuthor id="357" name="未知用户33" initials="未" lastIdx="0" clrIdx="356"/>
  <p:cmAuthor id="358" name="未知用户34" initials="未" lastIdx="0" clrIdx="357"/>
  <p:cmAuthor id="359" name="未知用户42" initials="未" lastIdx="0" clrIdx="358"/>
  <p:cmAuthor id="360" name="未知的使用者109" initials="未" lastIdx="0" clrIdx="359"/>
  <p:cmAuthor id="361" name="未知的使用者122" initials="未" lastIdx="0" clrIdx="360"/>
  <p:cmAuthor id="362" name="未知的使用者123" initials="未" lastIdx="0" clrIdx="361"/>
  <p:cmAuthor id="363" name="张诗敏" initials="张" lastIdx="0" clrIdx="362"/>
  <p:cmAuthor id="364" name="WY" initials="W" lastIdx="0" clrIdx="363"/>
  <p:cmAuthor id="365" name="liutianyu" initials="l" lastIdx="0" clrIdx="364"/>
  <p:cmAuthor id="366" name="shaoxuebin" initials="8" lastIdx="0" clrIdx="365"/>
  <p:cmAuthor id="367" name="吴征" initials="admin" lastIdx="0" clrIdx="366"/>
  <p:cmAuthor id="368" name="Dell" initials="D" lastIdx="0" clrIdx="367"/>
  <p:cmAuthor id="369" name="未知的使用者257" initials="未" lastIdx="0" clrIdx="368"/>
  <p:cmAuthor id="370" name="liu wei" initials="l" lastIdx="0" clrIdx="369"/>
  <p:cmAuthor id="371" name="GD-wangguanghao" initials="G" lastIdx="0" clrIdx="370"/>
  <p:cmAuthor id="372" name="邓彤倩" initials="邓" lastIdx="0" clrIdx="371"/>
  <p:cmAuthor id="373" name="Yurou Zhang" initials="Y" lastIdx="0" clrIdx="372"/>
  <p:cmAuthor id="374" name="未知的使用者240" initials="未" lastIdx="0" clrIdx="373"/>
  <p:cmAuthor id="375" name="黎静媚" initials="黎" lastIdx="0" clrIdx="374"/>
  <p:cmAuthor id="376" name="jialuo" initials="j" lastIdx="0" clrIdx="375"/>
  <p:cmAuthor id="377" name="未知的使用者241" initials="未" lastIdx="0" clrIdx="376"/>
  <p:cmAuthor id="378" name="未知的使用者242" initials="未" lastIdx="0" clrIdx="377"/>
  <p:cmAuthor id="379" name="UnicomGD" initials="U" lastIdx="0" clrIdx="378"/>
  <p:cmAuthor id="380" name="未知的使用者243" initials="未" lastIdx="0" clrIdx="379"/>
  <p:cmAuthor id="381" name="曾素灵" initials="曾" lastIdx="0" clrIdx="380"/>
  <p:cmAuthor id="382" name="未知的使用者258" initials="未" lastIdx="0" clrIdx="381"/>
  <p:cmAuthor id="383" name=".." initials="." lastIdx="0" clrIdx="382"/>
  <p:cmAuthor id="384" name="未知的使用者259" initials="未" lastIdx="0" clrIdx="383"/>
  <p:cmAuthor id="385" name="未知的使用者260" initials="未" lastIdx="0" clrIdx="384"/>
  <p:cmAuthor id="386" name="未知的使用者261" initials="未" lastIdx="0" clrIdx="385"/>
  <p:cmAuthor id="387" name="未知的使用者262" initials="未" lastIdx="0" clrIdx="386"/>
  <p:cmAuthor id="388" name="未知的使用者263" initials="未" lastIdx="0" clrIdx="387"/>
  <p:cmAuthor id="389" name="未知的使用者264" initials="未" lastIdx="0" clrIdx="388"/>
  <p:cmAuthor id="390" name="未知的使用者265" initials="未" lastIdx="0" clrIdx="389"/>
  <p:cmAuthor id="391" name="未知的使用者266" initials="未" lastIdx="0" clrIdx="390"/>
  <p:cmAuthor id="392" name="未知的使用者267" initials="未" lastIdx="0" clrIdx="391"/>
  <p:cmAuthor id="393" name="未知的使用者268" initials="未" lastIdx="0" clrIdx="392"/>
  <p:cmAuthor id="394" name="未知用户106" initials="未" lastIdx="0" clrIdx="393"/>
  <p:cmAuthor id="395" name="未知的使用者269" initials="未" lastIdx="0" clrIdx="394"/>
  <p:cmAuthor id="396" name="22681" initials="2" lastIdx="0" clrIdx="395"/>
  <p:cmAuthor id="397" name="popka" initials="p" lastIdx="0" clrIdx="396"/>
  <p:cmAuthor id="398" name="admin" initials="a" lastIdx="0" clrIdx="397"/>
  <p:cmAuthor id="399" name="小延魔法师" initials="小" lastIdx="0" clrIdx="398"/>
  <p:cmAuthor id="400" name="lili01" initials="l" lastIdx="0" clrIdx="399"/>
  <p:cmAuthor id="401" name="徐 正国" initials="徐" lastIdx="0" clrIdx="400"/>
  <p:cmAuthor id="402" name="li hui" initials="lh" lastIdx="0" clrIdx="401"/>
  <p:cmAuthor id="403" name="1" initials="H" lastIdx="0" clrIdx="402"/>
  <p:cmAuthor id="404" name="陈文华" initials="u" lastIdx="0" clrIdx="403"/>
  <p:cmAuthor id="405" name="ZhengShilei" initials="Z" lastIdx="0" clrIdx="404"/>
  <p:cmAuthor id="406" name="未知用户219" initials="未" lastIdx="0" clrIdx="405"/>
  <p:cmAuthor id="407" name="未知用户222" initials="未" lastIdx="0" clrIdx="406"/>
  <p:cmAuthor id="408" name="未知用户200" initials="未" lastIdx="0" clrIdx="40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9CE7"/>
    <a:srgbClr val="EDF7FD"/>
    <a:srgbClr val="E7F4FD"/>
    <a:srgbClr val="E7F2FE"/>
    <a:srgbClr val="4A41F5"/>
    <a:srgbClr val="6899F2"/>
    <a:srgbClr val="079EBE"/>
    <a:srgbClr val="113770"/>
    <a:srgbClr val="5070A8"/>
    <a:srgbClr val="A134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607" autoAdjust="0"/>
  </p:normalViewPr>
  <p:slideViewPr>
    <p:cSldViewPr snapToGrid="0" showGuides="1">
      <p:cViewPr varScale="1">
        <p:scale>
          <a:sx n="78" d="100"/>
          <a:sy n="78" d="100"/>
        </p:scale>
        <p:origin x="91" y="115"/>
      </p:cViewPr>
      <p:guideLst>
        <p:guide orient="horz" pos="4120"/>
        <p:guide pos="3896"/>
        <p:guide pos="318"/>
        <p:guide pos="7389"/>
        <p:guide orient="horz" pos="3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8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9F75E-84A3-46BF-BDEF-1F5D8F2B88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8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98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98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8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4470D-17F8-4690-A109-5D7B01E3A8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{}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4470D-17F8-4690-A109-5D7B01E3A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2400"/>
              <a:t>立项模板</a:t>
            </a:r>
            <a:r>
              <a:rPr lang="zh-CN" altLang="en-US" sz="2400">
                <a:sym typeface="+mn-ea"/>
              </a:rPr>
              <a:t>，可根据自身情况酌情增加内容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4470D-17F8-4690-A109-5D7B01E3A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4AF17E-EBC5-4382-9F5A-B9754289BC4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4470D-17F8-4690-A109-5D7B01E3A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4470D-17F8-4690-A109-5D7B01E3A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2400"/>
              <a:t>立项模板</a:t>
            </a:r>
            <a:r>
              <a:rPr lang="zh-CN" altLang="en-US" sz="2400">
                <a:sym typeface="+mn-ea"/>
              </a:rPr>
              <a:t>，可根据自身情况酌情增加内容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4470D-17F8-4690-A109-5D7B01E3A8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2400"/>
              <a:t>立项模板</a:t>
            </a:r>
            <a:r>
              <a:rPr lang="zh-CN" altLang="en-US" sz="2400">
                <a:sym typeface="+mn-ea"/>
              </a:rPr>
              <a:t>，可根据自身情况酌情增加内容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2400"/>
              <a:t>立项模板</a:t>
            </a:r>
            <a:r>
              <a:rPr lang="zh-CN" altLang="en-US" sz="2400">
                <a:sym typeface="+mn-ea"/>
              </a:rPr>
              <a:t>，可根据自身情况酌情增加内容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2400"/>
              <a:t>立项模板</a:t>
            </a:r>
            <a:r>
              <a:rPr lang="zh-CN" altLang="en-US" sz="2400">
                <a:sym typeface="+mn-ea"/>
              </a:rPr>
              <a:t>，可根据自身情况酌情增加内容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sp>
        <p:nvSpPr>
          <p:cNvPr id="1048578" name="矩形 3"/>
          <p:cNvSpPr/>
          <p:nvPr userDrawn="1"/>
        </p:nvSpPr>
        <p:spPr>
          <a:xfrm>
            <a:off x="635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579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2925901" y="3107893"/>
            <a:ext cx="63401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>
              <a:buNone/>
              <a:defRPr kumimoji="0" lang="zh-CN" altLang="en-US" sz="4000" b="1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0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4464784" y="5790889"/>
            <a:ext cx="3262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algn="ctr">
              <a:buNone/>
              <a:def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8" name="直接连接符 11"/>
          <p:cNvCxnSpPr/>
          <p:nvPr userDrawn="1"/>
        </p:nvCxnSpPr>
        <p:spPr>
          <a:xfrm>
            <a:off x="2491105" y="2560356"/>
            <a:ext cx="7396480" cy="0"/>
          </a:xfrm>
          <a:prstGeom prst="line">
            <a:avLst/>
          </a:prstGeom>
          <a:ln w="28575">
            <a:solidFill>
              <a:srgbClr val="1137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66" y="932156"/>
            <a:ext cx="4274868" cy="9638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cxnSp>
        <p:nvCxnSpPr>
          <p:cNvPr id="3145729" name="直接连接符 4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图片 6" descr="b44c0ef76cbe0a8e48137c40549c3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0"/>
            <a:ext cx="2329180" cy="774065"/>
          </a:xfrm>
          <a:prstGeom prst="rect">
            <a:avLst/>
          </a:prstGeom>
        </p:spPr>
      </p:pic>
      <p:cxnSp>
        <p:nvCxnSpPr>
          <p:cNvPr id="3145730" name="直接连接符 7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5" name="图片 8" descr="b44c0ef76cbe0a8e48137c40549c3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0"/>
            <a:ext cx="2329180" cy="774065"/>
          </a:xfrm>
          <a:prstGeom prst="rect">
            <a:avLst/>
          </a:prstGeom>
        </p:spPr>
      </p:pic>
      <p:pic>
        <p:nvPicPr>
          <p:cNvPr id="209715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"/>
            <a:ext cx="12192000" cy="6854574"/>
          </a:xfrm>
          <a:prstGeom prst="rect">
            <a:avLst/>
          </a:prstGeom>
        </p:spPr>
      </p:pic>
      <p:sp>
        <p:nvSpPr>
          <p:cNvPr id="1048584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3468688" y="2168802"/>
            <a:ext cx="7851775" cy="92865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200000"/>
              </a:lnSpc>
              <a:spcBef>
                <a:spcPts val="0"/>
              </a:spcBef>
              <a:buFontTx/>
              <a:buNone/>
              <a:defRPr sz="3200" b="1">
                <a:solidFill>
                  <a:srgbClr val="11377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灯片编号占位符 5"/>
          <p:cNvSpPr txBox="1"/>
          <p:nvPr userDrawn="1"/>
        </p:nvSpPr>
        <p:spPr>
          <a:xfrm>
            <a:off x="11472073" y="6617908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48BF81-5E7B-4C8A-9FD2-46F29AAB51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标题占位符 1"/>
          <p:cNvSpPr>
            <a:spLocks noGrp="1"/>
          </p:cNvSpPr>
          <p:nvPr>
            <p:ph type="title"/>
          </p:nvPr>
        </p:nvSpPr>
        <p:spPr>
          <a:xfrm>
            <a:off x="504446" y="401869"/>
            <a:ext cx="8571821" cy="400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200" b="1" i="0" u="none" strike="noStrike" cap="none" spc="0" normalizeH="0" baseline="0" dirty="0">
                <a:ln>
                  <a:noFill/>
                </a:ln>
                <a:solidFill>
                  <a:srgbClr val="1137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-228600" fontAlgn="base">
              <a:spcBef>
                <a:spcPts val="1000"/>
              </a:spcBef>
              <a:buFont typeface="Wingdings" panose="05000000000000000000" charset="0"/>
            </a:pPr>
            <a:endParaRPr lang="zh-CN" altLang="en-US" dirty="0"/>
          </a:p>
        </p:txBody>
      </p:sp>
      <p:cxnSp>
        <p:nvCxnSpPr>
          <p:cNvPr id="2" name="直接连接符 7"/>
          <p:cNvCxnSpPr/>
          <p:nvPr userDrawn="1"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507" y="176530"/>
            <a:ext cx="2246254" cy="487413"/>
          </a:xfrm>
          <a:prstGeom prst="rect">
            <a:avLst/>
          </a:prstGeom>
        </p:spPr>
      </p:pic>
      <p:sp>
        <p:nvSpPr>
          <p:cNvPr id="8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>
              <a:buNone/>
              <a:def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灯片编号占位符 5"/>
          <p:cNvSpPr txBox="1"/>
          <p:nvPr userDrawn="1"/>
        </p:nvSpPr>
        <p:spPr>
          <a:xfrm>
            <a:off x="11472073" y="6617908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48BF81-5E7B-4C8A-9FD2-46F29AAB51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sp>
        <p:nvSpPr>
          <p:cNvPr id="1049499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4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45" y="2751156"/>
            <a:ext cx="6245911" cy="1355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 userDrawn="1"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507" y="176530"/>
            <a:ext cx="2246254" cy="487413"/>
          </a:xfrm>
          <a:prstGeom prst="rect">
            <a:avLst/>
          </a:prstGeom>
        </p:spPr>
      </p:pic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04446" y="401869"/>
            <a:ext cx="8571821" cy="400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200" b="1" i="0" u="none" strike="noStrike" cap="none" spc="0" normalizeH="0" baseline="0" dirty="0">
                <a:ln>
                  <a:noFill/>
                </a:ln>
                <a:solidFill>
                  <a:srgbClr val="1137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-228600" fontAlgn="base">
              <a:spcBef>
                <a:spcPts val="1000"/>
              </a:spcBef>
              <a:buFont typeface="Wingdings" panose="05000000000000000000" charset="0"/>
            </a:pPr>
            <a:endParaRPr lang="zh-CN" altLang="en-US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>
              <a:buNone/>
              <a:def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灯片编号占位符 5"/>
          <p:cNvSpPr txBox="1"/>
          <p:nvPr userDrawn="1"/>
        </p:nvSpPr>
        <p:spPr>
          <a:xfrm>
            <a:off x="11472073" y="6617908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48BF81-5E7B-4C8A-9FD2-46F29AAB51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4446" y="401869"/>
            <a:ext cx="8571821" cy="400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200" b="1" i="0" u="none" strike="noStrike" cap="none" spc="0" normalizeH="0" baseline="0" dirty="0">
                <a:ln>
                  <a:noFill/>
                </a:ln>
                <a:solidFill>
                  <a:srgbClr val="1137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-228600" fontAlgn="base">
              <a:spcBef>
                <a:spcPts val="1000"/>
              </a:spcBef>
              <a:buFont typeface="Wingdings" panose="05000000000000000000" charset="0"/>
            </a:pPr>
            <a:endParaRPr lang="zh-CN" altLang="en-US" dirty="0"/>
          </a:p>
        </p:txBody>
      </p:sp>
      <p:sp>
        <p:nvSpPr>
          <p:cNvPr id="3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lvl1pPr marL="0" algn="l">
              <a:buNone/>
              <a:def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灯片编号占位符 5"/>
          <p:cNvSpPr txBox="1"/>
          <p:nvPr userDrawn="1"/>
        </p:nvSpPr>
        <p:spPr>
          <a:xfrm>
            <a:off x="11472073" y="6617908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48BF81-5E7B-4C8A-9FD2-46F29AAB51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2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54841-DDB9-4D98-80F0-B7611239509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62110" y="832093"/>
            <a:ext cx="11267777" cy="400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 userDrawn="1"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507" y="176530"/>
            <a:ext cx="2246254" cy="487413"/>
          </a:xfrm>
          <a:prstGeom prst="rect">
            <a:avLst/>
          </a:prstGeom>
        </p:spPr>
      </p:pic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04446" y="401869"/>
            <a:ext cx="8571821" cy="400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200" b="1" i="0" u="none" strike="noStrike" cap="none" spc="0" normalizeH="0" baseline="0" dirty="0">
                <a:ln>
                  <a:noFill/>
                </a:ln>
                <a:solidFill>
                  <a:srgbClr val="1137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-228600" fontAlgn="base">
              <a:spcBef>
                <a:spcPts val="1000"/>
              </a:spcBef>
              <a:buFont typeface="Wingdings" panose="05000000000000000000" charset="0"/>
            </a:pPr>
            <a:endParaRPr lang="zh-CN" altLang="en-US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>
              <a:buNone/>
              <a:def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灯片编号占位符 5"/>
          <p:cNvSpPr txBox="1"/>
          <p:nvPr userDrawn="1"/>
        </p:nvSpPr>
        <p:spPr>
          <a:xfrm>
            <a:off x="11472073" y="6617908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48BF81-5E7B-4C8A-9FD2-46F29AAB51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.bin"/><Relationship Id="rId8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vmlDrawing" Target="../drawings/vmlDrawing1.vml"/><Relationship Id="rId11" Type="http://schemas.openxmlformats.org/officeDocument/2006/relationships/image" Target="../media/image4.png"/><Relationship Id="rId10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对象 1" hidden="1"/>
          <p:cNvGraphicFramePr/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showAsIcon="1" r:id="rId9" imgW="5715" imgH="5715" progId="TCLayout.ActiveDocument.1">
                  <p:embed/>
                </p:oleObj>
              </mc:Choice>
              <mc:Fallback>
                <p:oleObj name="think-cell 幻灯片" showAsIcon="1" r:id="rId9" imgW="5715" imgH="5715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7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7"/>
          <p:cNvCxnSpPr/>
          <p:nvPr userDrawn="1"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507" y="176530"/>
            <a:ext cx="2246254" cy="4874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CB07B-CB6C-9B4D-A644-93097D7BF77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14A31-9B27-0E43-9905-283B14362A6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microsoft.com/office/2007/relationships/hdphoto" Target="../media/image11.wdp"/><Relationship Id="rId6" Type="http://schemas.openxmlformats.org/officeDocument/2006/relationships/image" Target="../media/image10.png"/><Relationship Id="rId5" Type="http://schemas.microsoft.com/office/2007/relationships/hdphoto" Target="../media/image9.wdp"/><Relationship Id="rId4" Type="http://schemas.openxmlformats.org/officeDocument/2006/relationships/image" Target="../media/image8.png"/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2" Type="http://schemas.openxmlformats.org/officeDocument/2006/relationships/notesSlide" Target="../notesSlides/notesSlide4.xml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5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29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tags" Target="../tags/tag28.xml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20.svg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581" name="文本框 7"/>
          <p:cNvSpPr txBox="1"/>
          <p:nvPr/>
        </p:nvSpPr>
        <p:spPr>
          <a:xfrm>
            <a:off x="642624" y="2390979"/>
            <a:ext cx="1090676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228600" marR="0" lvl="0" indent="-22860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en-US" altLang="zh-CN" dirty="0" err="1">
                <a:latin typeface="+mn-ea"/>
                <a:ea typeface="+mn-ea"/>
                <a:cs typeface="+mn-ea"/>
              </a:rPr>
              <a:t>基于“市场-产品-用户”多维大数据的汽车</a:t>
            </a:r>
            <a:r>
              <a:rPr lang="en-US" altLang="zh-CN" dirty="0" err="1">
                <a:latin typeface="+mn-ea"/>
                <a:ea typeface="+mn-ea"/>
                <a:cs typeface="+mn-ea"/>
                <a:sym typeface="+mn-ea"/>
              </a:rPr>
              <a:t>决策</a:t>
            </a:r>
            <a:endParaRPr lang="en-US" altLang="zh-CN" dirty="0" err="1">
              <a:latin typeface="+mn-ea"/>
              <a:ea typeface="+mn-ea"/>
              <a:cs typeface="+mn-ea"/>
            </a:endParaRPr>
          </a:p>
          <a:p>
            <a:pPr algn="ctr"/>
            <a:r>
              <a:rPr lang="en-US" altLang="zh-CN" dirty="0" err="1">
                <a:latin typeface="+mn-ea"/>
                <a:ea typeface="+mn-ea"/>
                <a:cs typeface="+mn-ea"/>
              </a:rPr>
              <a:t>智能体及专用模型工具链开发</a:t>
            </a:r>
            <a:endParaRPr lang="en-US" altLang="zh-CN" dirty="0" err="1">
              <a:latin typeface="+mn-ea"/>
              <a:ea typeface="+mn-ea"/>
              <a:cs typeface="+mn-ea"/>
            </a:endParaRPr>
          </a:p>
        </p:txBody>
      </p:sp>
      <p:sp>
        <p:nvSpPr>
          <p:cNvPr id="1048582" name="文本框 9"/>
          <p:cNvSpPr txBox="1"/>
          <p:nvPr/>
        </p:nvSpPr>
        <p:spPr>
          <a:xfrm>
            <a:off x="4395896" y="5116713"/>
            <a:ext cx="34848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1pPr>
          </a:lstStyle>
          <a:p>
            <a:pPr algn="ctr"/>
            <a:r>
              <a:rPr lang="en-US" altLang="zh-CN" dirty="0"/>
              <a:t>项目负责人：</a:t>
            </a:r>
            <a:r>
              <a:rPr lang="zh-CN" altLang="en-US" dirty="0"/>
              <a:t>任焕焕</a:t>
            </a:r>
            <a:endParaRPr lang="en-US" altLang="zh-CN" dirty="0"/>
          </a:p>
          <a:p>
            <a:pPr algn="ctr"/>
            <a:r>
              <a:rPr lang="en-US" altLang="zh-CN" dirty="0"/>
              <a:t>申报单位：中汽数据有限公司</a:t>
            </a:r>
            <a:endParaRPr lang="en-US" altLang="zh-CN" dirty="0"/>
          </a:p>
          <a:p>
            <a:pPr algn="ctr"/>
            <a:r>
              <a:rPr lang="en-US" altLang="zh-CN" dirty="0"/>
              <a:t>2026年5月8日 </a:t>
            </a:r>
            <a:endParaRPr lang="en-US" altLang="zh-CN" dirty="0"/>
          </a:p>
        </p:txBody>
      </p:sp>
      <p:cxnSp>
        <p:nvCxnSpPr>
          <p:cNvPr id="3145729" name="直接连接符 11"/>
          <p:cNvCxnSpPr/>
          <p:nvPr/>
        </p:nvCxnSpPr>
        <p:spPr>
          <a:xfrm>
            <a:off x="2491105" y="2322231"/>
            <a:ext cx="7396480" cy="0"/>
          </a:xfrm>
          <a:prstGeom prst="line">
            <a:avLst/>
          </a:prstGeom>
          <a:ln w="28575">
            <a:solidFill>
              <a:srgbClr val="1137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66" y="932156"/>
            <a:ext cx="4274868" cy="9638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5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63966" y="719521"/>
            <a:ext cx="4450080" cy="501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</a:t>
            </a:r>
            <a:r>
              <a:rPr lang="zh-CN" altLang="en-US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项目背景及必要性</a:t>
            </a:r>
            <a:endParaRPr lang="en-US" altLang="zh-CN" sz="3200" dirty="0">
              <a:solidFill>
                <a:srgbClr val="2A41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研究内容与创新点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项目考核指标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经费及实施周期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预期成果和转化预期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190" y="401955"/>
            <a:ext cx="11401425" cy="400685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dirty="0"/>
              <a:t>产业变革下车企的决策需求正在发生质变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401169" cy="645160"/>
          </a:xfrm>
        </p:spPr>
        <p:txBody>
          <a:bodyPr/>
          <a:lstStyle/>
          <a:p>
            <a:r>
              <a:rPr>
                <a:sym typeface="+mn-ea"/>
              </a:rPr>
              <a:t>AI浪潮正在重构汽车产业决策范式，从“要数据/报告”到“要可执行的决策答案”。典型决策场景存在明显痛点。</a:t>
            </a:r>
            <a:endParaRPr>
              <a:sym typeface="+mn-ea"/>
            </a:endParaRPr>
          </a:p>
        </p:txBody>
      </p:sp>
      <p:sp>
        <p:nvSpPr>
          <p:cNvPr id="22" name="箭头: V 形 139"/>
          <p:cNvSpPr/>
          <p:nvPr/>
        </p:nvSpPr>
        <p:spPr>
          <a:xfrm flipH="1">
            <a:off x="504190" y="1904697"/>
            <a:ext cx="5527581" cy="4284362"/>
          </a:xfrm>
          <a:prstGeom prst="roundRect">
            <a:avLst>
              <a:gd name="adj" fmla="val 5966"/>
            </a:avLst>
          </a:prstGeom>
          <a:solidFill>
            <a:srgbClr val="EDF5FD"/>
          </a:solidFill>
          <a:ln w="19050">
            <a:solidFill>
              <a:srgbClr val="ED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箭头: V 形 139"/>
          <p:cNvSpPr/>
          <p:nvPr/>
        </p:nvSpPr>
        <p:spPr>
          <a:xfrm flipH="1">
            <a:off x="513568" y="1503618"/>
            <a:ext cx="5527581" cy="369781"/>
          </a:xfrm>
          <a:prstGeom prst="roundRect">
            <a:avLst>
              <a:gd name="adj" fmla="val 20656"/>
            </a:avLst>
          </a:prstGeom>
          <a:solidFill>
            <a:srgbClr val="004F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行业需求在变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箭头: V 形 139"/>
          <p:cNvSpPr/>
          <p:nvPr/>
        </p:nvSpPr>
        <p:spPr>
          <a:xfrm flipH="1">
            <a:off x="6198705" y="1503618"/>
            <a:ext cx="5527581" cy="369781"/>
          </a:xfrm>
          <a:prstGeom prst="roundRect">
            <a:avLst>
              <a:gd name="adj" fmla="val 20656"/>
            </a:avLst>
          </a:prstGeom>
          <a:solidFill>
            <a:srgbClr val="004F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五个典型场景的痛点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箭头: V 形 139"/>
          <p:cNvSpPr/>
          <p:nvPr/>
        </p:nvSpPr>
        <p:spPr>
          <a:xfrm flipH="1">
            <a:off x="6202457" y="1937155"/>
            <a:ext cx="5527581" cy="4251904"/>
          </a:xfrm>
          <a:prstGeom prst="roundRect">
            <a:avLst>
              <a:gd name="adj" fmla="val 5966"/>
            </a:avLst>
          </a:prstGeom>
          <a:solidFill>
            <a:srgbClr val="EDF5FD"/>
          </a:solidFill>
          <a:ln w="19050">
            <a:solidFill>
              <a:srgbClr val="EDF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箭头: V 形 139"/>
          <p:cNvSpPr/>
          <p:nvPr/>
        </p:nvSpPr>
        <p:spPr>
          <a:xfrm flipH="1">
            <a:off x="6304993" y="2038004"/>
            <a:ext cx="724630" cy="395529"/>
          </a:xfrm>
          <a:prstGeom prst="roundRect">
            <a:avLst>
              <a:gd name="adj" fmla="val 20656"/>
            </a:avLst>
          </a:prstGeom>
          <a:solidFill>
            <a:srgbClr val="3C79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箭头: V 形 139"/>
          <p:cNvSpPr/>
          <p:nvPr/>
        </p:nvSpPr>
        <p:spPr>
          <a:xfrm flipH="1">
            <a:off x="487620" y="6263286"/>
            <a:ext cx="11242417" cy="369781"/>
          </a:xfrm>
          <a:prstGeom prst="roundRect">
            <a:avLst>
              <a:gd name="adj" fmla="val 20656"/>
            </a:avLst>
          </a:prstGeom>
          <a:solidFill>
            <a:srgbClr val="004F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行业需求已经变化，现有服务模式无法满足。五个场景的痛点相互叠加，导致车企系统性决策需求尚未被满足。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箭头: V 形 139"/>
          <p:cNvSpPr/>
          <p:nvPr/>
        </p:nvSpPr>
        <p:spPr>
          <a:xfrm flipH="1">
            <a:off x="6304993" y="2549206"/>
            <a:ext cx="724631" cy="634025"/>
          </a:xfrm>
          <a:prstGeom prst="roundRect">
            <a:avLst>
              <a:gd name="adj" fmla="val 20656"/>
            </a:avLst>
          </a:prstGeom>
          <a:solidFill>
            <a:srgbClr val="B1C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周度响应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箭头: V 形 139"/>
          <p:cNvSpPr/>
          <p:nvPr/>
        </p:nvSpPr>
        <p:spPr>
          <a:xfrm flipH="1">
            <a:off x="6304993" y="3280029"/>
            <a:ext cx="724631" cy="634025"/>
          </a:xfrm>
          <a:prstGeom prst="roundRect">
            <a:avLst>
              <a:gd name="adj" fmla="val 20656"/>
            </a:avLst>
          </a:prstGeom>
          <a:solidFill>
            <a:srgbClr val="B1C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市场投放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箭头: V 形 139"/>
          <p:cNvSpPr/>
          <p:nvPr/>
        </p:nvSpPr>
        <p:spPr>
          <a:xfrm flipH="1">
            <a:off x="6304993" y="4000203"/>
            <a:ext cx="724631" cy="634025"/>
          </a:xfrm>
          <a:prstGeom prst="roundRect">
            <a:avLst>
              <a:gd name="adj" fmla="val 20656"/>
            </a:avLst>
          </a:prstGeom>
          <a:solidFill>
            <a:srgbClr val="B1C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产品定义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箭头: V 形 139"/>
          <p:cNvSpPr/>
          <p:nvPr/>
        </p:nvSpPr>
        <p:spPr>
          <a:xfrm flipH="1">
            <a:off x="6304993" y="4749901"/>
            <a:ext cx="724631" cy="634025"/>
          </a:xfrm>
          <a:prstGeom prst="roundRect">
            <a:avLst>
              <a:gd name="adj" fmla="val 20656"/>
            </a:avLst>
          </a:prstGeom>
          <a:solidFill>
            <a:srgbClr val="B1C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成本控制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圆角矩形 90"/>
          <p:cNvSpPr/>
          <p:nvPr/>
        </p:nvSpPr>
        <p:spPr>
          <a:xfrm>
            <a:off x="9482993" y="2231049"/>
            <a:ext cx="2111372" cy="3859016"/>
          </a:xfrm>
          <a:prstGeom prst="roundRect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buClrTx/>
              <a:buSzTx/>
              <a:buFont typeface="Wingdings" panose="05000000000000000000" charset="0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决策所需的多维信息相互割裂，无法形成从“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问题识别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”到“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答案交付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”的闭环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7" name="箭头: V 形 139"/>
          <p:cNvSpPr/>
          <p:nvPr/>
        </p:nvSpPr>
        <p:spPr>
          <a:xfrm flipH="1">
            <a:off x="6304993" y="5474431"/>
            <a:ext cx="724631" cy="634025"/>
          </a:xfrm>
          <a:prstGeom prst="roundRect">
            <a:avLst>
              <a:gd name="adj" fmla="val 20656"/>
            </a:avLst>
          </a:prstGeom>
          <a:solidFill>
            <a:srgbClr val="B1CD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用户运营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7082765" y="2035687"/>
            <a:ext cx="1793764" cy="4054377"/>
            <a:chOff x="7082764" y="1835662"/>
            <a:chExt cx="2275184" cy="4054377"/>
          </a:xfrm>
        </p:grpSpPr>
        <p:sp>
          <p:nvSpPr>
            <p:cNvPr id="37" name="圆角矩形 83"/>
            <p:cNvSpPr/>
            <p:nvPr/>
          </p:nvSpPr>
          <p:spPr>
            <a:xfrm>
              <a:off x="7082768" y="2381124"/>
              <a:ext cx="2275180" cy="590465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indent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周度销量数据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安全流通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要求导致车企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无法获取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9" name="圆角矩形 85"/>
            <p:cNvSpPr/>
            <p:nvPr/>
          </p:nvSpPr>
          <p:spPr>
            <a:xfrm>
              <a:off x="7082768" y="3098395"/>
              <a:ext cx="2275180" cy="590465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策略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靠对标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定价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缺数据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1" name="圆角矩形 87"/>
            <p:cNvSpPr/>
            <p:nvPr/>
          </p:nvSpPr>
          <p:spPr>
            <a:xfrm>
              <a:off x="7082768" y="3820505"/>
              <a:ext cx="2275180" cy="590465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需求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模糊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分析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低效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3" name="圆角矩形 89"/>
            <p:cNvSpPr/>
            <p:nvPr/>
          </p:nvSpPr>
          <p:spPr>
            <a:xfrm>
              <a:off x="7082768" y="4575043"/>
              <a:ext cx="2275180" cy="590465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不透明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缺乏行业基准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8" name="圆角矩形 89"/>
            <p:cNvSpPr/>
            <p:nvPr/>
          </p:nvSpPr>
          <p:spPr>
            <a:xfrm>
              <a:off x="7082768" y="5299574"/>
              <a:ext cx="2275180" cy="590465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画像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粗糙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流失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无预警</a:t>
              </a:r>
              <a:endPara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1" name="箭头: V 形 139"/>
            <p:cNvSpPr/>
            <p:nvPr/>
          </p:nvSpPr>
          <p:spPr>
            <a:xfrm flipH="1">
              <a:off x="7082764" y="1835662"/>
              <a:ext cx="2275180" cy="395529"/>
            </a:xfrm>
            <a:prstGeom prst="roundRect">
              <a:avLst>
                <a:gd name="adj" fmla="val 20656"/>
              </a:avLst>
            </a:prstGeom>
            <a:solidFill>
              <a:srgbClr val="3C79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现实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痛点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9" name="等腰三角形 68"/>
          <p:cNvSpPr/>
          <p:nvPr/>
        </p:nvSpPr>
        <p:spPr>
          <a:xfrm rot="5400000">
            <a:off x="7463127" y="4153981"/>
            <a:ext cx="3508917" cy="363253"/>
          </a:xfrm>
          <a:prstGeom prst="triangle">
            <a:avLst/>
          </a:prstGeom>
          <a:solidFill>
            <a:srgbClr val="B1CD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V 形 139"/>
          <p:cNvSpPr/>
          <p:nvPr/>
        </p:nvSpPr>
        <p:spPr>
          <a:xfrm flipH="1">
            <a:off x="9756832" y="2038585"/>
            <a:ext cx="1550075" cy="392632"/>
          </a:xfrm>
          <a:prstGeom prst="roundRect">
            <a:avLst>
              <a:gd name="adj" fmla="val 20656"/>
            </a:avLst>
          </a:prstGeom>
          <a:solidFill>
            <a:srgbClr val="3C79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本质问题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1604579" y="2035687"/>
            <a:ext cx="4253763" cy="4012028"/>
            <a:chOff x="1662923" y="1835662"/>
            <a:chExt cx="4195419" cy="4012028"/>
          </a:xfrm>
        </p:grpSpPr>
        <p:grpSp>
          <p:nvGrpSpPr>
            <p:cNvPr id="104" name="组合 103"/>
            <p:cNvGrpSpPr/>
            <p:nvPr/>
          </p:nvGrpSpPr>
          <p:grpSpPr>
            <a:xfrm>
              <a:off x="1662923" y="4985283"/>
              <a:ext cx="4195416" cy="862407"/>
              <a:chOff x="1662923" y="5236901"/>
              <a:chExt cx="4195416" cy="610793"/>
            </a:xfrm>
          </p:grpSpPr>
          <p:sp>
            <p:nvSpPr>
              <p:cNvPr id="83" name="圆角矩形 89"/>
              <p:cNvSpPr/>
              <p:nvPr/>
            </p:nvSpPr>
            <p:spPr>
              <a:xfrm>
                <a:off x="1662923" y="5236901"/>
                <a:ext cx="2033601" cy="590465"/>
              </a:xfrm>
              <a:prstGeom prst="roundRect">
                <a:avLst/>
              </a:prstGeom>
              <a:solidFill>
                <a:srgbClr val="B1CDE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车企满足于“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被提供数据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”或“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被提供报告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”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0" name="圆角矩形 89"/>
              <p:cNvSpPr/>
              <p:nvPr/>
            </p:nvSpPr>
            <p:spPr>
              <a:xfrm>
                <a:off x="3824738" y="5236902"/>
                <a:ext cx="2033601" cy="610792"/>
              </a:xfrm>
              <a:prstGeom prst="roundRect">
                <a:avLst/>
              </a:prstGeom>
              <a:solidFill>
                <a:srgbClr val="B1CDE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他们需要的是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“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被交付决策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“</a:t>
                </a:r>
                <a:endPara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84" name="箭头: V 形 139"/>
            <p:cNvSpPr/>
            <p:nvPr/>
          </p:nvSpPr>
          <p:spPr>
            <a:xfrm flipH="1">
              <a:off x="1665991" y="1835662"/>
              <a:ext cx="2030534" cy="399341"/>
            </a:xfrm>
            <a:prstGeom prst="roundRect">
              <a:avLst>
                <a:gd name="adj" fmla="val 20656"/>
              </a:avLst>
            </a:prstGeom>
            <a:solidFill>
              <a:srgbClr val="3C79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过去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箭头: V 形 139"/>
            <p:cNvSpPr/>
            <p:nvPr/>
          </p:nvSpPr>
          <p:spPr>
            <a:xfrm flipH="1">
              <a:off x="3827806" y="1837978"/>
              <a:ext cx="2030533" cy="399341"/>
            </a:xfrm>
            <a:prstGeom prst="roundRect">
              <a:avLst>
                <a:gd name="adj" fmla="val 20656"/>
              </a:avLst>
            </a:prstGeom>
            <a:solidFill>
              <a:srgbClr val="3C79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现在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圆角矩形 83"/>
            <p:cNvSpPr/>
            <p:nvPr/>
          </p:nvSpPr>
          <p:spPr>
            <a:xfrm>
              <a:off x="1665991" y="2397820"/>
              <a:ext cx="2030534" cy="707589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indent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低频、战略级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indent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（月度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季度）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圆角矩形 85"/>
            <p:cNvSpPr/>
            <p:nvPr/>
          </p:nvSpPr>
          <p:spPr>
            <a:xfrm>
              <a:off x="1665991" y="3257369"/>
              <a:ext cx="2030534" cy="707589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单变量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（销量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市占率）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圆角矩形 87"/>
            <p:cNvSpPr/>
            <p:nvPr/>
          </p:nvSpPr>
          <p:spPr>
            <a:xfrm>
              <a:off x="1665991" y="4122717"/>
              <a:ext cx="2030534" cy="707589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精英化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（少数高管）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6" name="圆角矩形 83"/>
            <p:cNvSpPr/>
            <p:nvPr/>
          </p:nvSpPr>
          <p:spPr>
            <a:xfrm>
              <a:off x="3824738" y="2400109"/>
              <a:ext cx="2033604" cy="707589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indent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高频、战术级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indent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（周度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天级）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7" name="圆角矩形 85"/>
            <p:cNvSpPr/>
            <p:nvPr/>
          </p:nvSpPr>
          <p:spPr>
            <a:xfrm>
              <a:off x="3827807" y="3252802"/>
              <a:ext cx="2030535" cy="707589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多维度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  <a:buNone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（市场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+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+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用户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+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成本）</a:t>
              </a:r>
              <a:endPara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3827808" y="4119939"/>
              <a:ext cx="2030534" cy="707589"/>
            </a:xfrm>
            <a:prstGeom prst="roundRect">
              <a:avLst/>
            </a:prstGeom>
            <a:ln w="19050">
              <a:solidFill>
                <a:srgbClr val="3C79B4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分布式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（多层级）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597635" y="2581148"/>
            <a:ext cx="926274" cy="2498607"/>
            <a:chOff x="597635" y="2381123"/>
            <a:chExt cx="820281" cy="2498607"/>
          </a:xfrm>
        </p:grpSpPr>
        <p:sp>
          <p:nvSpPr>
            <p:cNvPr id="93" name="箭头: V 形 139"/>
            <p:cNvSpPr/>
            <p:nvPr/>
          </p:nvSpPr>
          <p:spPr>
            <a:xfrm flipH="1">
              <a:off x="597635" y="2381123"/>
              <a:ext cx="820281" cy="759791"/>
            </a:xfrm>
            <a:prstGeom prst="roundRect">
              <a:avLst>
                <a:gd name="adj" fmla="val 20656"/>
              </a:avLst>
            </a:prstGeom>
            <a:solidFill>
              <a:srgbClr val="B1CD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决策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频率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箭头: V 形 139"/>
            <p:cNvSpPr/>
            <p:nvPr/>
          </p:nvSpPr>
          <p:spPr>
            <a:xfrm flipH="1">
              <a:off x="597635" y="3256912"/>
              <a:ext cx="820281" cy="759791"/>
            </a:xfrm>
            <a:prstGeom prst="roundRect">
              <a:avLst>
                <a:gd name="adj" fmla="val 20656"/>
              </a:avLst>
            </a:prstGeom>
            <a:solidFill>
              <a:srgbClr val="B1CD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决策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复杂度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箭头: V 形 139"/>
            <p:cNvSpPr/>
            <p:nvPr/>
          </p:nvSpPr>
          <p:spPr>
            <a:xfrm flipH="1">
              <a:off x="597635" y="4119939"/>
              <a:ext cx="820281" cy="759791"/>
            </a:xfrm>
            <a:prstGeom prst="roundRect">
              <a:avLst>
                <a:gd name="adj" fmla="val 20656"/>
              </a:avLst>
            </a:prstGeom>
            <a:solidFill>
              <a:srgbClr val="B1CD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决策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主体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think-cell data - do not delete" hidden="1"/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5080" imgH="5080" progId="TCLayout.ActiveDocument.1">
                  <p:embed/>
                </p:oleObj>
              </mc:Choice>
              <mc:Fallback>
                <p:oleObj name="think-cell 幻灯片" r:id="rId2" imgW="5080" imgH="508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04446" y="401869"/>
            <a:ext cx="8902901" cy="400610"/>
          </a:xfrm>
        </p:spPr>
        <p:txBody>
          <a:bodyPr vert="horz" rIns="91440"/>
          <a:lstStyle/>
          <a:p>
            <a:r>
              <a:rPr>
                <a:sym typeface="+mn-ea"/>
              </a:rPr>
              <a:t>供给端传统服务模式被夹击，必须抢抓站稳价值链的窗口期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522074" cy="645160"/>
          </a:xfrm>
        </p:spPr>
        <p:txBody>
          <a:bodyPr/>
          <a:lstStyle/>
          <a:p>
            <a:r>
              <a:rPr>
                <a:sym typeface="+mn-ea"/>
              </a:rPr>
              <a:t>车企客户向上内化AI能力，咨询巨头加速方法论智能化，传统服务模式面临双向替代，中汽数据需向“智能决策基础设施服务商”转型</a:t>
            </a:r>
            <a:endParaRPr dirty="0"/>
          </a:p>
        </p:txBody>
      </p:sp>
      <p:grpSp>
        <p:nvGrpSpPr>
          <p:cNvPr id="20" name="组合 19"/>
          <p:cNvGrpSpPr/>
          <p:nvPr/>
        </p:nvGrpSpPr>
        <p:grpSpPr>
          <a:xfrm>
            <a:off x="504447" y="1609216"/>
            <a:ext cx="11112091" cy="1501467"/>
            <a:chOff x="335369" y="2036515"/>
            <a:chExt cx="11112091" cy="1501467"/>
          </a:xfrm>
        </p:grpSpPr>
        <p:sp>
          <p:nvSpPr>
            <p:cNvPr id="25" name="圆角矩形 107"/>
            <p:cNvSpPr/>
            <p:nvPr/>
          </p:nvSpPr>
          <p:spPr>
            <a:xfrm>
              <a:off x="1220810" y="2049634"/>
              <a:ext cx="10226650" cy="1472026"/>
            </a:xfrm>
            <a:prstGeom prst="roundRect">
              <a:avLst>
                <a:gd name="adj" fmla="val 11220"/>
              </a:avLst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+mn-cs"/>
              </a:endParaRPr>
            </a:p>
          </p:txBody>
        </p:sp>
        <p:sp>
          <p:nvSpPr>
            <p:cNvPr id="83" name="圆角矩形 110"/>
            <p:cNvSpPr/>
            <p:nvPr/>
          </p:nvSpPr>
          <p:spPr>
            <a:xfrm>
              <a:off x="335369" y="2036515"/>
              <a:ext cx="765927" cy="1501467"/>
            </a:xfrm>
            <a:prstGeom prst="roundRect">
              <a:avLst/>
            </a:prstGeom>
            <a:gradFill flip="none" rotWithShape="1">
              <a:gsLst>
                <a:gs pos="100000">
                  <a:schemeClr val="accent1">
                    <a:lumMod val="85000"/>
                    <a:lumOff val="15000"/>
                  </a:schemeClr>
                </a:gs>
                <a:gs pos="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M" pitchFamily="18" charset="-122"/>
                </a:rPr>
                <a:t>车企客户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7146125" y="2500401"/>
              <a:ext cx="4229418" cy="905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25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年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11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月，智己以</a:t>
              </a: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多智能体协同方式，支持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AI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方案选型、需求打包分发和辅助咨询，</a:t>
              </a: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整合相关数据，挖掘场景需求，将专业领域知识参数化结构化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endParaRPr>
            </a:p>
          </p:txBody>
        </p:sp>
        <p:sp>
          <p:nvSpPr>
            <p:cNvPr id="104" name="圆角矩形 115"/>
            <p:cNvSpPr/>
            <p:nvPr/>
          </p:nvSpPr>
          <p:spPr>
            <a:xfrm>
              <a:off x="1493164" y="2125266"/>
              <a:ext cx="9633493" cy="31566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车企正在自建</a:t>
              </a: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AI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能力，我们的客户逐渐成为我们的竞争者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endParaRPr>
            </a:p>
          </p:txBody>
        </p:sp>
      </p:grpSp>
      <p:sp>
        <p:nvSpPr>
          <p:cNvPr id="119" name="文本框 118"/>
          <p:cNvSpPr txBox="1"/>
          <p:nvPr/>
        </p:nvSpPr>
        <p:spPr>
          <a:xfrm>
            <a:off x="2296974" y="2058472"/>
            <a:ext cx="4111142" cy="90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25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年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月，一汽发布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智能体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OpenMind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可解析全量数据，自动追溯指标和定位关键元数据，生成思维推理链，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识别市场波动根因并提供策略建议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 R" pitchFamily="18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504447" y="3235395"/>
            <a:ext cx="11112091" cy="1501467"/>
            <a:chOff x="335369" y="2036515"/>
            <a:chExt cx="11112091" cy="1501467"/>
          </a:xfrm>
        </p:grpSpPr>
        <p:sp>
          <p:nvSpPr>
            <p:cNvPr id="121" name="圆角矩形 107"/>
            <p:cNvSpPr/>
            <p:nvPr/>
          </p:nvSpPr>
          <p:spPr>
            <a:xfrm>
              <a:off x="1220810" y="2049634"/>
              <a:ext cx="10226650" cy="1472026"/>
            </a:xfrm>
            <a:prstGeom prst="roundRect">
              <a:avLst>
                <a:gd name="adj" fmla="val 11220"/>
              </a:avLst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+mn-cs"/>
              </a:endParaRPr>
            </a:p>
          </p:txBody>
        </p:sp>
        <p:sp>
          <p:nvSpPr>
            <p:cNvPr id="122" name="圆角矩形 110"/>
            <p:cNvSpPr/>
            <p:nvPr/>
          </p:nvSpPr>
          <p:spPr>
            <a:xfrm>
              <a:off x="335369" y="2036515"/>
              <a:ext cx="765927" cy="1501467"/>
            </a:xfrm>
            <a:prstGeom prst="roundRect">
              <a:avLst/>
            </a:prstGeom>
            <a:gradFill flip="none" rotWithShape="1">
              <a:gsLst>
                <a:gs pos="100000">
                  <a:schemeClr val="accent1">
                    <a:lumMod val="85000"/>
                    <a:lumOff val="15000"/>
                  </a:schemeClr>
                </a:gs>
                <a:gs pos="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M" pitchFamily="18" charset="-122"/>
                </a:rPr>
                <a:t>咨询巨头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endParaRPr>
            </a:p>
          </p:txBody>
        </p:sp>
        <p:sp>
          <p:nvSpPr>
            <p:cNvPr id="124" name="圆角矩形 115"/>
            <p:cNvSpPr/>
            <p:nvPr/>
          </p:nvSpPr>
          <p:spPr>
            <a:xfrm>
              <a:off x="1493165" y="2125266"/>
              <a:ext cx="9882378" cy="31566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咨询公司正在“向上切入”，构建</a:t>
              </a:r>
              <a:r>
                <a:rPr kumimoji="1" lang="zh-CN" altLang="en-US" sz="1600" b="1">
                  <a:solidFill>
                    <a:srgbClr val="4472C4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服务</a:t>
              </a:r>
              <a:r>
                <a:rPr kumimoji="1" lang="en-US" altLang="zh-CN" sz="1600" b="1">
                  <a:solidFill>
                    <a:srgbClr val="4472C4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+</a:t>
              </a:r>
              <a:r>
                <a:rPr kumimoji="1" lang="zh-CN" altLang="en-US" sz="1600" b="1">
                  <a:solidFill>
                    <a:srgbClr val="4472C4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技术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双重壁垒，挤压我们竞争空间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504446" y="4874125"/>
            <a:ext cx="11112091" cy="1501467"/>
            <a:chOff x="335369" y="2036515"/>
            <a:chExt cx="11112091" cy="1501467"/>
          </a:xfrm>
        </p:grpSpPr>
        <p:sp>
          <p:nvSpPr>
            <p:cNvPr id="126" name="圆角矩形 107"/>
            <p:cNvSpPr/>
            <p:nvPr/>
          </p:nvSpPr>
          <p:spPr>
            <a:xfrm>
              <a:off x="1220810" y="2049634"/>
              <a:ext cx="10226650" cy="1472026"/>
            </a:xfrm>
            <a:prstGeom prst="roundRect">
              <a:avLst>
                <a:gd name="adj" fmla="val 11220"/>
              </a:avLst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+mn-cs"/>
              </a:endParaRPr>
            </a:p>
          </p:txBody>
        </p:sp>
        <p:sp>
          <p:nvSpPr>
            <p:cNvPr id="127" name="圆角矩形 110"/>
            <p:cNvSpPr/>
            <p:nvPr/>
          </p:nvSpPr>
          <p:spPr>
            <a:xfrm>
              <a:off x="335369" y="2036515"/>
              <a:ext cx="765927" cy="1501467"/>
            </a:xfrm>
            <a:prstGeom prst="roundRect">
              <a:avLst/>
            </a:prstGeom>
            <a:gradFill flip="none" rotWithShape="1">
              <a:gsLst>
                <a:gs pos="100000">
                  <a:schemeClr val="accent1">
                    <a:lumMod val="85000"/>
                    <a:lumOff val="15000"/>
                  </a:schemeClr>
                </a:gs>
                <a:gs pos="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M" pitchFamily="18" charset="-122"/>
                </a:rPr>
                <a:t>数字时代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M" pitchFamily="18" charset="-122"/>
                </a:rPr>
                <a:t>规律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M" pitchFamily="18" charset="-122"/>
              </a:endParaRPr>
            </a:p>
          </p:txBody>
        </p:sp>
        <p:sp>
          <p:nvSpPr>
            <p:cNvPr id="1025" name="圆角矩形 115"/>
            <p:cNvSpPr/>
            <p:nvPr/>
          </p:nvSpPr>
          <p:spPr>
            <a:xfrm>
              <a:off x="1762136" y="2125266"/>
              <a:ext cx="9613407" cy="31566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 R" pitchFamily="18" charset="-122"/>
                </a:rPr>
                <a:t>数字化时代的经济规律重构行业竞争逻辑，不是“要不要做”而是“生存还是淘汰”</a:t>
              </a: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endParaRPr>
            </a:p>
          </p:txBody>
        </p:sp>
      </p:grpSp>
      <p:pic>
        <p:nvPicPr>
          <p:cNvPr id="1030" name="Picture 6" descr="罗兰贝格管理咨询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683" y="3926431"/>
            <a:ext cx="758932" cy="44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文本框 1031"/>
          <p:cNvSpPr txBox="1"/>
          <p:nvPr/>
        </p:nvSpPr>
        <p:spPr>
          <a:xfrm>
            <a:off x="2355496" y="3731619"/>
            <a:ext cx="3759779" cy="90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内部转型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——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提出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AI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转型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SCALE-up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方法论，已梳理出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83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个汽车研发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AI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应用场景，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提供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AI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产品概念验证服务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 R" pitchFamily="18" charset="-122"/>
            </a:endParaRPr>
          </a:p>
        </p:txBody>
      </p:sp>
      <p:sp>
        <p:nvSpPr>
          <p:cNvPr id="1035" name="矩形: 圆角 189"/>
          <p:cNvSpPr/>
          <p:nvPr/>
        </p:nvSpPr>
        <p:spPr>
          <a:xfrm>
            <a:off x="1931213" y="5389156"/>
            <a:ext cx="4321680" cy="830364"/>
          </a:xfrm>
          <a:prstGeom prst="roundRect">
            <a:avLst/>
          </a:prstGeom>
          <a:gradFill>
            <a:gsLst>
              <a:gs pos="0">
                <a:schemeClr val="bg1"/>
              </a:gs>
              <a:gs pos="6150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079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规模经济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——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规模经济边界后移，头部效应显著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1058" name="文本框 1057"/>
          <p:cNvSpPr txBox="1"/>
          <p:nvPr/>
        </p:nvSpPr>
        <p:spPr>
          <a:xfrm>
            <a:off x="451790" y="6496162"/>
            <a:ext cx="7138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来源：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IDC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中国，麦肯锡，公开信息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189"/>
          <p:cNvSpPr/>
          <p:nvPr/>
        </p:nvSpPr>
        <p:spPr>
          <a:xfrm>
            <a:off x="6603432" y="5389156"/>
            <a:ext cx="4442520" cy="830364"/>
          </a:xfrm>
          <a:prstGeom prst="roundRect">
            <a:avLst/>
          </a:prstGeom>
          <a:gradFill>
            <a:gsLst>
              <a:gs pos="0">
                <a:schemeClr val="bg1"/>
              </a:gs>
              <a:gs pos="6150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079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网络效应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——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加速迭代，壁垒越来越强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pic>
        <p:nvPicPr>
          <p:cNvPr id="2050" name="Picture 2" descr="McKinsey Greater China"/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08" y="3926431"/>
            <a:ext cx="1353312" cy="43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7511805" y="3731619"/>
            <a:ext cx="4147951" cy="90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外部合作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——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联手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AWS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，成立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AMG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，打造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AI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驱动的供应链操作系统，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使得车型规格层面的预测准确率达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85%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，库存减少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60%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，客户满意度提升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 R" pitchFamily="18" charset="-122"/>
              </a:rPr>
              <a:t>15%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 R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23516" r="56996" b="12089"/>
          <a:stretch>
            <a:fillRect/>
          </a:stretch>
        </p:blipFill>
        <p:spPr>
          <a:xfrm>
            <a:off x="1487222" y="2189729"/>
            <a:ext cx="795123" cy="587879"/>
          </a:xfrm>
          <a:prstGeom prst="rect">
            <a:avLst/>
          </a:prstGeom>
        </p:spPr>
      </p:pic>
      <p:pic>
        <p:nvPicPr>
          <p:cNvPr id="2054" name="Picture 6" descr="智己汽车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595" y="1991872"/>
            <a:ext cx="905249" cy="90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190" y="401955"/>
            <a:ext cx="11401425" cy="400685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>
                <a:cs typeface="微软雅黑" panose="020B0503020204020204" pitchFamily="34" charset="-122"/>
                <a:sym typeface="+mn-ea"/>
              </a:rPr>
              <a:t>研究需求：</a:t>
            </a:r>
            <a:r>
              <a:rPr>
                <a:cs typeface="微软雅黑" panose="020B0503020204020204" pitchFamily="34" charset="-122"/>
                <a:sym typeface="+mn-ea"/>
              </a:rPr>
              <a:t>从五个场景痛点中提炼三大核心技术难题</a:t>
            </a:r>
            <a:endParaRPr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401169" cy="645160"/>
          </a:xfrm>
        </p:spPr>
        <p:txBody>
          <a:bodyPr/>
          <a:lstStyle/>
          <a:p>
            <a:r>
              <a:rPr>
                <a:cs typeface="微软雅黑" panose="020B0503020204020204" pitchFamily="34" charset="-122"/>
                <a:sym typeface="+mn-ea"/>
              </a:rPr>
              <a:t>场景痛点共同指向一个本质：多维决策信息无法自动形成闭环，必须分层突破</a:t>
            </a:r>
            <a:r>
              <a:rPr>
                <a:cs typeface="微软雅黑" panose="020B0503020204020204" pitchFamily="34" charset="-122"/>
                <a:sym typeface="+mn-ea"/>
              </a:rPr>
              <a:t>数据、模型、系统三个层面的技术断点，</a:t>
            </a:r>
            <a:r>
              <a:rPr>
                <a:cs typeface="微软雅黑" panose="020B0503020204020204" pitchFamily="34" charset="-122"/>
                <a:sym typeface="+mn-ea"/>
              </a:rPr>
              <a:t>这正是本课题要研究解决的核心方向。</a:t>
            </a:r>
            <a:endParaRPr lang="zh-CN" altLang="en-US" dirty="0">
              <a:cs typeface="微软雅黑" panose="020B0503020204020204" pitchFamily="34" charset="-122"/>
            </a:endParaRPr>
          </a:p>
        </p:txBody>
      </p:sp>
      <p:sp>
        <p:nvSpPr>
          <p:cNvPr id="6" name="Shape 5"/>
          <p:cNvSpPr/>
          <p:nvPr>
            <p:custDataLst>
              <p:tags r:id="rId1"/>
            </p:custDataLst>
          </p:nvPr>
        </p:nvSpPr>
        <p:spPr>
          <a:xfrm>
            <a:off x="355600" y="1706245"/>
            <a:ext cx="7432040" cy="1066800"/>
          </a:xfrm>
          <a:custGeom>
            <a:avLst/>
            <a:gdLst/>
            <a:ahLst/>
            <a:cxnLst/>
            <a:rect l="l" t="t" r="r" b="b"/>
            <a:pathLst>
              <a:path w="11412777" h="1066800">
                <a:moveTo>
                  <a:pt x="41783" y="0"/>
                </a:moveTo>
                <a:lnTo>
                  <a:pt x="11298428" y="0"/>
                </a:lnTo>
                <a:cubicBezTo>
                  <a:pt x="11361512" y="0"/>
                  <a:pt x="11412728" y="51216"/>
                  <a:pt x="11412728" y="114300"/>
                </a:cubicBezTo>
                <a:lnTo>
                  <a:pt x="11412728" y="952500"/>
                </a:lnTo>
                <a:cubicBezTo>
                  <a:pt x="11412728" y="1015584"/>
                  <a:pt x="11361512" y="1066800"/>
                  <a:pt x="11298428" y="1066800"/>
                </a:cubicBezTo>
                <a:lnTo>
                  <a:pt x="41783" y="1066800"/>
                </a:lnTo>
                <a:cubicBezTo>
                  <a:pt x="18707" y="1066800"/>
                  <a:pt x="0" y="1048093"/>
                  <a:pt x="0" y="1025017"/>
                </a:cubicBezTo>
                <a:lnTo>
                  <a:pt x="0" y="41783"/>
                </a:lnTo>
                <a:cubicBezTo>
                  <a:pt x="0" y="18707"/>
                  <a:pt x="18707" y="0"/>
                  <a:pt x="417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6"/>
          <p:cNvSpPr/>
          <p:nvPr>
            <p:custDataLst>
              <p:tags r:id="rId2"/>
            </p:custDataLst>
          </p:nvPr>
        </p:nvSpPr>
        <p:spPr>
          <a:xfrm>
            <a:off x="355600" y="1706245"/>
            <a:ext cx="41910" cy="1066800"/>
          </a:xfrm>
          <a:custGeom>
            <a:avLst/>
            <a:gdLst/>
            <a:ahLst/>
            <a:cxnLst/>
            <a:rect l="l" t="t" r="r" b="b"/>
            <a:pathLst>
              <a:path w="41753" h="1066800">
                <a:moveTo>
                  <a:pt x="41783" y="0"/>
                </a:moveTo>
                <a:lnTo>
                  <a:pt x="41783" y="0"/>
                </a:lnTo>
                <a:lnTo>
                  <a:pt x="41783" y="1066800"/>
                </a:lnTo>
                <a:lnTo>
                  <a:pt x="41783" y="1066800"/>
                </a:lnTo>
                <a:cubicBezTo>
                  <a:pt x="18707" y="1066800"/>
                  <a:pt x="0" y="1048093"/>
                  <a:pt x="0" y="1025017"/>
                </a:cubicBezTo>
                <a:lnTo>
                  <a:pt x="0" y="41783"/>
                </a:lnTo>
                <a:cubicBezTo>
                  <a:pt x="0" y="18707"/>
                  <a:pt x="18707" y="0"/>
                  <a:pt x="41783" y="0"/>
                </a:cubicBezTo>
                <a:close/>
              </a:path>
            </a:pathLst>
          </a:custGeom>
          <a:solidFill>
            <a:srgbClr val="4299E1"/>
          </a:solidFill>
        </p:spPr>
      </p:sp>
      <p:sp>
        <p:nvSpPr>
          <p:cNvPr id="8" name="Text 7"/>
          <p:cNvSpPr/>
          <p:nvPr>
            <p:custDataLst>
              <p:tags r:id="rId3"/>
            </p:custDataLst>
          </p:nvPr>
        </p:nvSpPr>
        <p:spPr>
          <a:xfrm>
            <a:off x="635635" y="1877695"/>
            <a:ext cx="590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4299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anose="02000503030000020004" pitchFamily="34" charset="-120"/>
              </a:rPr>
              <a:t>01</a:t>
            </a:r>
            <a:endParaRPr lang="en-US" sz="3000" b="1" dirty="0">
              <a:solidFill>
                <a:srgbClr val="4299E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anose="02000503030000020004" pitchFamily="34" charset="-120"/>
            </a:endParaRPr>
          </a:p>
        </p:txBody>
      </p:sp>
      <p:sp>
        <p:nvSpPr>
          <p:cNvPr id="41" name="Text 8"/>
          <p:cNvSpPr/>
          <p:nvPr>
            <p:custDataLst>
              <p:tags r:id="rId4"/>
            </p:custDataLst>
          </p:nvPr>
        </p:nvSpPr>
        <p:spPr>
          <a:xfrm>
            <a:off x="653415" y="2296795"/>
            <a:ext cx="41910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45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数据层</a:t>
            </a:r>
            <a:endParaRPr lang="en-US" sz="1000" b="1" kern="0" spc="45" dirty="0">
              <a:solidFill>
                <a:srgbClr val="2B6CB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46" name="Shape 15"/>
          <p:cNvSpPr/>
          <p:nvPr>
            <p:custDataLst>
              <p:tags r:id="rId5"/>
            </p:custDataLst>
          </p:nvPr>
        </p:nvSpPr>
        <p:spPr>
          <a:xfrm>
            <a:off x="355600" y="3107690"/>
            <a:ext cx="7432675" cy="1066800"/>
          </a:xfrm>
          <a:custGeom>
            <a:avLst/>
            <a:gdLst/>
            <a:ahLst/>
            <a:cxnLst/>
            <a:rect l="l" t="t" r="r" b="b"/>
            <a:pathLst>
              <a:path w="11412777" h="1066800">
                <a:moveTo>
                  <a:pt x="41783" y="0"/>
                </a:moveTo>
                <a:lnTo>
                  <a:pt x="11298428" y="0"/>
                </a:lnTo>
                <a:cubicBezTo>
                  <a:pt x="11361512" y="0"/>
                  <a:pt x="11412728" y="51216"/>
                  <a:pt x="11412728" y="114300"/>
                </a:cubicBezTo>
                <a:lnTo>
                  <a:pt x="11412728" y="952500"/>
                </a:lnTo>
                <a:cubicBezTo>
                  <a:pt x="11412728" y="1015584"/>
                  <a:pt x="11361512" y="1066800"/>
                  <a:pt x="11298428" y="1066800"/>
                </a:cubicBezTo>
                <a:lnTo>
                  <a:pt x="41783" y="1066800"/>
                </a:lnTo>
                <a:cubicBezTo>
                  <a:pt x="18707" y="1066800"/>
                  <a:pt x="0" y="1048093"/>
                  <a:pt x="0" y="1025017"/>
                </a:cubicBezTo>
                <a:lnTo>
                  <a:pt x="0" y="41783"/>
                </a:lnTo>
                <a:cubicBezTo>
                  <a:pt x="0" y="18707"/>
                  <a:pt x="18707" y="0"/>
                  <a:pt x="417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Shape 16"/>
          <p:cNvSpPr/>
          <p:nvPr>
            <p:custDataLst>
              <p:tags r:id="rId6"/>
            </p:custDataLst>
          </p:nvPr>
        </p:nvSpPr>
        <p:spPr>
          <a:xfrm>
            <a:off x="355600" y="3107690"/>
            <a:ext cx="41910" cy="1066800"/>
          </a:xfrm>
          <a:custGeom>
            <a:avLst/>
            <a:gdLst/>
            <a:ahLst/>
            <a:cxnLst/>
            <a:rect l="l" t="t" r="r" b="b"/>
            <a:pathLst>
              <a:path w="41753" h="1066800">
                <a:moveTo>
                  <a:pt x="41783" y="0"/>
                </a:moveTo>
                <a:lnTo>
                  <a:pt x="41783" y="0"/>
                </a:lnTo>
                <a:lnTo>
                  <a:pt x="41783" y="1066800"/>
                </a:lnTo>
                <a:lnTo>
                  <a:pt x="41783" y="1066800"/>
                </a:lnTo>
                <a:cubicBezTo>
                  <a:pt x="18707" y="1066800"/>
                  <a:pt x="0" y="1048093"/>
                  <a:pt x="0" y="1025017"/>
                </a:cubicBezTo>
                <a:lnTo>
                  <a:pt x="0" y="41783"/>
                </a:lnTo>
                <a:cubicBezTo>
                  <a:pt x="0" y="18707"/>
                  <a:pt x="18707" y="0"/>
                  <a:pt x="41783" y="0"/>
                </a:cubicBezTo>
                <a:close/>
              </a:path>
            </a:pathLst>
          </a:custGeom>
          <a:solidFill>
            <a:srgbClr val="2B6CB0"/>
          </a:solidFill>
        </p:spPr>
      </p:sp>
      <p:sp>
        <p:nvSpPr>
          <p:cNvPr id="48" name="Text 17"/>
          <p:cNvSpPr/>
          <p:nvPr>
            <p:custDataLst>
              <p:tags r:id="rId7"/>
            </p:custDataLst>
          </p:nvPr>
        </p:nvSpPr>
        <p:spPr>
          <a:xfrm>
            <a:off x="601345" y="3278505"/>
            <a:ext cx="6572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anose="02000503030000020004" pitchFamily="34" charset="-120"/>
              </a:rPr>
              <a:t>02</a:t>
            </a:r>
            <a:endParaRPr lang="en-US" sz="3000" b="1" dirty="0">
              <a:solidFill>
                <a:srgbClr val="2B6CB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anose="02000503030000020004" pitchFamily="34" charset="-120"/>
            </a:endParaRPr>
          </a:p>
        </p:txBody>
      </p:sp>
      <p:sp>
        <p:nvSpPr>
          <p:cNvPr id="49" name="Text 18"/>
          <p:cNvSpPr/>
          <p:nvPr>
            <p:custDataLst>
              <p:tags r:id="rId8"/>
            </p:custDataLst>
          </p:nvPr>
        </p:nvSpPr>
        <p:spPr>
          <a:xfrm>
            <a:off x="653415" y="3697605"/>
            <a:ext cx="41910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45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模型层</a:t>
            </a:r>
            <a:endParaRPr lang="en-US" sz="1000" b="1" kern="0" spc="45" dirty="0">
              <a:solidFill>
                <a:srgbClr val="2B6CB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54" name="Shape 25"/>
          <p:cNvSpPr/>
          <p:nvPr>
            <p:custDataLst>
              <p:tags r:id="rId9"/>
            </p:custDataLst>
          </p:nvPr>
        </p:nvSpPr>
        <p:spPr>
          <a:xfrm>
            <a:off x="355600" y="4578350"/>
            <a:ext cx="7432040" cy="1066800"/>
          </a:xfrm>
          <a:custGeom>
            <a:avLst/>
            <a:gdLst/>
            <a:ahLst/>
            <a:cxnLst/>
            <a:rect l="l" t="t" r="r" b="b"/>
            <a:pathLst>
              <a:path w="11412777" h="1066800">
                <a:moveTo>
                  <a:pt x="41783" y="0"/>
                </a:moveTo>
                <a:lnTo>
                  <a:pt x="11298428" y="0"/>
                </a:lnTo>
                <a:cubicBezTo>
                  <a:pt x="11361512" y="0"/>
                  <a:pt x="11412728" y="51216"/>
                  <a:pt x="11412728" y="114300"/>
                </a:cubicBezTo>
                <a:lnTo>
                  <a:pt x="11412728" y="952500"/>
                </a:lnTo>
                <a:cubicBezTo>
                  <a:pt x="11412728" y="1015584"/>
                  <a:pt x="11361512" y="1066800"/>
                  <a:pt x="11298428" y="1066800"/>
                </a:cubicBezTo>
                <a:lnTo>
                  <a:pt x="41783" y="1066800"/>
                </a:lnTo>
                <a:cubicBezTo>
                  <a:pt x="18707" y="1066800"/>
                  <a:pt x="0" y="1048093"/>
                  <a:pt x="0" y="1025017"/>
                </a:cubicBezTo>
                <a:lnTo>
                  <a:pt x="0" y="41783"/>
                </a:lnTo>
                <a:cubicBezTo>
                  <a:pt x="0" y="18707"/>
                  <a:pt x="18707" y="0"/>
                  <a:pt x="417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26"/>
          <p:cNvSpPr/>
          <p:nvPr>
            <p:custDataLst>
              <p:tags r:id="rId10"/>
            </p:custDataLst>
          </p:nvPr>
        </p:nvSpPr>
        <p:spPr>
          <a:xfrm>
            <a:off x="355600" y="4578350"/>
            <a:ext cx="41910" cy="1066800"/>
          </a:xfrm>
          <a:custGeom>
            <a:avLst/>
            <a:gdLst/>
            <a:ahLst/>
            <a:cxnLst/>
            <a:rect l="l" t="t" r="r" b="b"/>
            <a:pathLst>
              <a:path w="41753" h="1066800">
                <a:moveTo>
                  <a:pt x="41783" y="0"/>
                </a:moveTo>
                <a:lnTo>
                  <a:pt x="41783" y="0"/>
                </a:lnTo>
                <a:lnTo>
                  <a:pt x="41783" y="1066800"/>
                </a:lnTo>
                <a:lnTo>
                  <a:pt x="41783" y="1066800"/>
                </a:lnTo>
                <a:cubicBezTo>
                  <a:pt x="18707" y="1066800"/>
                  <a:pt x="0" y="1048093"/>
                  <a:pt x="0" y="1025017"/>
                </a:cubicBezTo>
                <a:lnTo>
                  <a:pt x="0" y="41783"/>
                </a:lnTo>
                <a:cubicBezTo>
                  <a:pt x="0" y="18707"/>
                  <a:pt x="18707" y="0"/>
                  <a:pt x="41783" y="0"/>
                </a:cubicBezTo>
                <a:close/>
              </a:path>
            </a:pathLst>
          </a:custGeom>
          <a:solidFill>
            <a:srgbClr val="1A365D"/>
          </a:solidFill>
        </p:spPr>
      </p:sp>
      <p:sp>
        <p:nvSpPr>
          <p:cNvPr id="56" name="Text 27"/>
          <p:cNvSpPr/>
          <p:nvPr>
            <p:custDataLst>
              <p:tags r:id="rId11"/>
            </p:custDataLst>
          </p:nvPr>
        </p:nvSpPr>
        <p:spPr>
          <a:xfrm>
            <a:off x="599440" y="4749800"/>
            <a:ext cx="6572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anose="02000503030000020004" pitchFamily="34" charset="-120"/>
              </a:rPr>
              <a:t>03</a:t>
            </a:r>
            <a:endParaRPr lang="en-US" sz="3000" b="1" dirty="0">
              <a:solidFill>
                <a:srgbClr val="1A365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anose="02000503030000020004" pitchFamily="34" charset="-120"/>
            </a:endParaRPr>
          </a:p>
        </p:txBody>
      </p:sp>
      <p:sp>
        <p:nvSpPr>
          <p:cNvPr id="57" name="Text 28"/>
          <p:cNvSpPr/>
          <p:nvPr>
            <p:custDataLst>
              <p:tags r:id="rId12"/>
            </p:custDataLst>
          </p:nvPr>
        </p:nvSpPr>
        <p:spPr>
          <a:xfrm>
            <a:off x="653415" y="5168900"/>
            <a:ext cx="41910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45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系统层</a:t>
            </a:r>
            <a:endParaRPr lang="en-US" sz="1000" b="1" kern="0" spc="45" dirty="0">
              <a:solidFill>
                <a:srgbClr val="1A365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1" name="0"/>
          <p:cNvSpPr/>
          <p:nvPr/>
        </p:nvSpPr>
        <p:spPr>
          <a:xfrm rot="5400000">
            <a:off x="5760720" y="3484880"/>
            <a:ext cx="4917440" cy="86360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02633 w 416172"/>
              <a:gd name="connsiteY0-2" fmla="*/ 0 h 485927"/>
              <a:gd name="connsiteX1-3" fmla="*/ 374083 w 416172"/>
              <a:gd name="connsiteY1-4" fmla="*/ 157551 h 485927"/>
              <a:gd name="connsiteX2-5" fmla="*/ 294275 w 416172"/>
              <a:gd name="connsiteY2-6" fmla="*/ 157551 h 485927"/>
              <a:gd name="connsiteX3-7" fmla="*/ 306015 w 416172"/>
              <a:gd name="connsiteY3-8" fmla="*/ 222549 h 485927"/>
              <a:gd name="connsiteX4-9" fmla="*/ 416172 w 416172"/>
              <a:gd name="connsiteY4-10" fmla="*/ 485927 h 485927"/>
              <a:gd name="connsiteX5-11" fmla="*/ 0 w 416172"/>
              <a:gd name="connsiteY5-12" fmla="*/ 485927 h 485927"/>
              <a:gd name="connsiteX6-13" fmla="*/ 112166 w 416172"/>
              <a:gd name="connsiteY6-14" fmla="*/ 219870 h 485927"/>
              <a:gd name="connsiteX7-15" fmla="*/ 122329 w 416172"/>
              <a:gd name="connsiteY7-16" fmla="*/ 157551 h 485927"/>
              <a:gd name="connsiteX8-17" fmla="*/ 58023 w 416172"/>
              <a:gd name="connsiteY8-18" fmla="*/ 160421 h 485927"/>
              <a:gd name="connsiteX9-19" fmla="*/ 202633 w 416172"/>
              <a:gd name="connsiteY9-20" fmla="*/ 0 h 485927"/>
              <a:gd name="connsiteX0-21" fmla="*/ 202633 w 416172"/>
              <a:gd name="connsiteY0-22" fmla="*/ 0 h 485927"/>
              <a:gd name="connsiteX1-23" fmla="*/ 374083 w 416172"/>
              <a:gd name="connsiteY1-24" fmla="*/ 157551 h 485927"/>
              <a:gd name="connsiteX2-25" fmla="*/ 294275 w 416172"/>
              <a:gd name="connsiteY2-26" fmla="*/ 157551 h 485927"/>
              <a:gd name="connsiteX3-27" fmla="*/ 306015 w 416172"/>
              <a:gd name="connsiteY3-28" fmla="*/ 222549 h 485927"/>
              <a:gd name="connsiteX4-29" fmla="*/ 416172 w 416172"/>
              <a:gd name="connsiteY4-30" fmla="*/ 485927 h 485927"/>
              <a:gd name="connsiteX5-31" fmla="*/ 0 w 416172"/>
              <a:gd name="connsiteY5-32" fmla="*/ 485927 h 485927"/>
              <a:gd name="connsiteX6-33" fmla="*/ 112166 w 416172"/>
              <a:gd name="connsiteY6-34" fmla="*/ 219870 h 485927"/>
              <a:gd name="connsiteX7-35" fmla="*/ 122329 w 416172"/>
              <a:gd name="connsiteY7-36" fmla="*/ 157551 h 485927"/>
              <a:gd name="connsiteX8-37" fmla="*/ 58023 w 416172"/>
              <a:gd name="connsiteY8-38" fmla="*/ 160421 h 485927"/>
              <a:gd name="connsiteX9-39" fmla="*/ 202633 w 416172"/>
              <a:gd name="connsiteY9-40" fmla="*/ 0 h 485927"/>
              <a:gd name="connsiteX0-41" fmla="*/ 202633 w 416172"/>
              <a:gd name="connsiteY0-42" fmla="*/ 0 h 485927"/>
              <a:gd name="connsiteX1-43" fmla="*/ 348858 w 416172"/>
              <a:gd name="connsiteY1-44" fmla="*/ 157551 h 485927"/>
              <a:gd name="connsiteX2-45" fmla="*/ 294275 w 416172"/>
              <a:gd name="connsiteY2-46" fmla="*/ 157551 h 485927"/>
              <a:gd name="connsiteX3-47" fmla="*/ 306015 w 416172"/>
              <a:gd name="connsiteY3-48" fmla="*/ 222549 h 485927"/>
              <a:gd name="connsiteX4-49" fmla="*/ 416172 w 416172"/>
              <a:gd name="connsiteY4-50" fmla="*/ 485927 h 485927"/>
              <a:gd name="connsiteX5-51" fmla="*/ 0 w 416172"/>
              <a:gd name="connsiteY5-52" fmla="*/ 485927 h 485927"/>
              <a:gd name="connsiteX6-53" fmla="*/ 112166 w 416172"/>
              <a:gd name="connsiteY6-54" fmla="*/ 219870 h 485927"/>
              <a:gd name="connsiteX7-55" fmla="*/ 122329 w 416172"/>
              <a:gd name="connsiteY7-56" fmla="*/ 157551 h 485927"/>
              <a:gd name="connsiteX8-57" fmla="*/ 58023 w 416172"/>
              <a:gd name="connsiteY8-58" fmla="*/ 160421 h 485927"/>
              <a:gd name="connsiteX9-59" fmla="*/ 202633 w 416172"/>
              <a:gd name="connsiteY9-60" fmla="*/ 0 h 485927"/>
              <a:gd name="connsiteX0-61" fmla="*/ 202633 w 416172"/>
              <a:gd name="connsiteY0-62" fmla="*/ 0 h 485927"/>
              <a:gd name="connsiteX1-63" fmla="*/ 348858 w 416172"/>
              <a:gd name="connsiteY1-64" fmla="*/ 157551 h 485927"/>
              <a:gd name="connsiteX2-65" fmla="*/ 294275 w 416172"/>
              <a:gd name="connsiteY2-66" fmla="*/ 157551 h 485927"/>
              <a:gd name="connsiteX3-67" fmla="*/ 306015 w 416172"/>
              <a:gd name="connsiteY3-68" fmla="*/ 222549 h 485927"/>
              <a:gd name="connsiteX4-69" fmla="*/ 416172 w 416172"/>
              <a:gd name="connsiteY4-70" fmla="*/ 485927 h 485927"/>
              <a:gd name="connsiteX5-71" fmla="*/ 0 w 416172"/>
              <a:gd name="connsiteY5-72" fmla="*/ 485927 h 485927"/>
              <a:gd name="connsiteX6-73" fmla="*/ 112166 w 416172"/>
              <a:gd name="connsiteY6-74" fmla="*/ 219870 h 485927"/>
              <a:gd name="connsiteX7-75" fmla="*/ 122329 w 416172"/>
              <a:gd name="connsiteY7-76" fmla="*/ 157551 h 485927"/>
              <a:gd name="connsiteX8-77" fmla="*/ 58023 w 416172"/>
              <a:gd name="connsiteY8-78" fmla="*/ 160421 h 485927"/>
              <a:gd name="connsiteX9-79" fmla="*/ 202633 w 416172"/>
              <a:gd name="connsiteY9-80" fmla="*/ 0 h 485927"/>
              <a:gd name="connsiteX0-81" fmla="*/ 202633 w 416172"/>
              <a:gd name="connsiteY0-82" fmla="*/ 0 h 485927"/>
              <a:gd name="connsiteX1-83" fmla="*/ 348858 w 416172"/>
              <a:gd name="connsiteY1-84" fmla="*/ 157551 h 485927"/>
              <a:gd name="connsiteX2-85" fmla="*/ 294275 w 416172"/>
              <a:gd name="connsiteY2-86" fmla="*/ 157551 h 485927"/>
              <a:gd name="connsiteX3-87" fmla="*/ 306015 w 416172"/>
              <a:gd name="connsiteY3-88" fmla="*/ 222549 h 485927"/>
              <a:gd name="connsiteX4-89" fmla="*/ 416172 w 416172"/>
              <a:gd name="connsiteY4-90" fmla="*/ 485927 h 485927"/>
              <a:gd name="connsiteX5-91" fmla="*/ 0 w 416172"/>
              <a:gd name="connsiteY5-92" fmla="*/ 485927 h 485927"/>
              <a:gd name="connsiteX6-93" fmla="*/ 112166 w 416172"/>
              <a:gd name="connsiteY6-94" fmla="*/ 219870 h 485927"/>
              <a:gd name="connsiteX7-95" fmla="*/ 122329 w 416172"/>
              <a:gd name="connsiteY7-96" fmla="*/ 157551 h 485927"/>
              <a:gd name="connsiteX8-97" fmla="*/ 71717 w 416172"/>
              <a:gd name="connsiteY8-98" fmla="*/ 159265 h 485927"/>
              <a:gd name="connsiteX9-99" fmla="*/ 202633 w 416172"/>
              <a:gd name="connsiteY9-100" fmla="*/ 0 h 485927"/>
              <a:gd name="connsiteX0-101" fmla="*/ 202633 w 416172"/>
              <a:gd name="connsiteY0-102" fmla="*/ 0 h 485927"/>
              <a:gd name="connsiteX1-103" fmla="*/ 348858 w 416172"/>
              <a:gd name="connsiteY1-104" fmla="*/ 157551 h 485927"/>
              <a:gd name="connsiteX2-105" fmla="*/ 294275 w 416172"/>
              <a:gd name="connsiteY2-106" fmla="*/ 157551 h 485927"/>
              <a:gd name="connsiteX3-107" fmla="*/ 306015 w 416172"/>
              <a:gd name="connsiteY3-108" fmla="*/ 222549 h 485927"/>
              <a:gd name="connsiteX4-109" fmla="*/ 416172 w 416172"/>
              <a:gd name="connsiteY4-110" fmla="*/ 485927 h 485927"/>
              <a:gd name="connsiteX5-111" fmla="*/ 0 w 416172"/>
              <a:gd name="connsiteY5-112" fmla="*/ 485927 h 485927"/>
              <a:gd name="connsiteX6-113" fmla="*/ 112166 w 416172"/>
              <a:gd name="connsiteY6-114" fmla="*/ 219870 h 485927"/>
              <a:gd name="connsiteX7-115" fmla="*/ 122329 w 416172"/>
              <a:gd name="connsiteY7-116" fmla="*/ 157551 h 485927"/>
              <a:gd name="connsiteX8-117" fmla="*/ 71717 w 416172"/>
              <a:gd name="connsiteY8-118" fmla="*/ 159265 h 485927"/>
              <a:gd name="connsiteX9-119" fmla="*/ 202633 w 416172"/>
              <a:gd name="connsiteY9-120" fmla="*/ 0 h 485927"/>
              <a:gd name="connsiteX0-121" fmla="*/ 202633 w 416172"/>
              <a:gd name="connsiteY0-122" fmla="*/ 0 h 485927"/>
              <a:gd name="connsiteX1-123" fmla="*/ 348858 w 416172"/>
              <a:gd name="connsiteY1-124" fmla="*/ 157551 h 485927"/>
              <a:gd name="connsiteX2-125" fmla="*/ 294275 w 416172"/>
              <a:gd name="connsiteY2-126" fmla="*/ 157551 h 485927"/>
              <a:gd name="connsiteX3-127" fmla="*/ 306015 w 416172"/>
              <a:gd name="connsiteY3-128" fmla="*/ 222549 h 485927"/>
              <a:gd name="connsiteX4-129" fmla="*/ 416172 w 416172"/>
              <a:gd name="connsiteY4-130" fmla="*/ 485927 h 485927"/>
              <a:gd name="connsiteX5-131" fmla="*/ 0 w 416172"/>
              <a:gd name="connsiteY5-132" fmla="*/ 485927 h 485927"/>
              <a:gd name="connsiteX6-133" fmla="*/ 112166 w 416172"/>
              <a:gd name="connsiteY6-134" fmla="*/ 219870 h 485927"/>
              <a:gd name="connsiteX7-135" fmla="*/ 122329 w 416172"/>
              <a:gd name="connsiteY7-136" fmla="*/ 157551 h 485927"/>
              <a:gd name="connsiteX8-137" fmla="*/ 71717 w 416172"/>
              <a:gd name="connsiteY8-138" fmla="*/ 159265 h 485927"/>
              <a:gd name="connsiteX9-139" fmla="*/ 202633 w 416172"/>
              <a:gd name="connsiteY9-140" fmla="*/ 0 h 485927"/>
              <a:gd name="connsiteX0-141" fmla="*/ 202633 w 416172"/>
              <a:gd name="connsiteY0-142" fmla="*/ 0 h 485927"/>
              <a:gd name="connsiteX1-143" fmla="*/ 348858 w 416172"/>
              <a:gd name="connsiteY1-144" fmla="*/ 157551 h 485927"/>
              <a:gd name="connsiteX2-145" fmla="*/ 294275 w 416172"/>
              <a:gd name="connsiteY2-146" fmla="*/ 157551 h 485927"/>
              <a:gd name="connsiteX3-147" fmla="*/ 306015 w 416172"/>
              <a:gd name="connsiteY3-148" fmla="*/ 222549 h 485927"/>
              <a:gd name="connsiteX4-149" fmla="*/ 416172 w 416172"/>
              <a:gd name="connsiteY4-150" fmla="*/ 485927 h 485927"/>
              <a:gd name="connsiteX5-151" fmla="*/ 0 w 416172"/>
              <a:gd name="connsiteY5-152" fmla="*/ 485927 h 485927"/>
              <a:gd name="connsiteX6-153" fmla="*/ 112166 w 416172"/>
              <a:gd name="connsiteY6-154" fmla="*/ 219870 h 485927"/>
              <a:gd name="connsiteX7-155" fmla="*/ 122329 w 416172"/>
              <a:gd name="connsiteY7-156" fmla="*/ 157551 h 485927"/>
              <a:gd name="connsiteX8-157" fmla="*/ 71717 w 416172"/>
              <a:gd name="connsiteY8-158" fmla="*/ 159265 h 485927"/>
              <a:gd name="connsiteX9-159" fmla="*/ 202633 w 416172"/>
              <a:gd name="connsiteY9-160" fmla="*/ 0 h 485927"/>
              <a:gd name="connsiteX0-161" fmla="*/ 202633 w 416172"/>
              <a:gd name="connsiteY0-162" fmla="*/ 0 h 485927"/>
              <a:gd name="connsiteX1-163" fmla="*/ 348858 w 416172"/>
              <a:gd name="connsiteY1-164" fmla="*/ 157551 h 485927"/>
              <a:gd name="connsiteX2-165" fmla="*/ 294275 w 416172"/>
              <a:gd name="connsiteY2-166" fmla="*/ 157551 h 485927"/>
              <a:gd name="connsiteX3-167" fmla="*/ 306015 w 416172"/>
              <a:gd name="connsiteY3-168" fmla="*/ 222549 h 485927"/>
              <a:gd name="connsiteX4-169" fmla="*/ 416172 w 416172"/>
              <a:gd name="connsiteY4-170" fmla="*/ 485927 h 485927"/>
              <a:gd name="connsiteX5-171" fmla="*/ 0 w 416172"/>
              <a:gd name="connsiteY5-172" fmla="*/ 485927 h 485927"/>
              <a:gd name="connsiteX6-173" fmla="*/ 112166 w 416172"/>
              <a:gd name="connsiteY6-174" fmla="*/ 219870 h 485927"/>
              <a:gd name="connsiteX7-175" fmla="*/ 122329 w 416172"/>
              <a:gd name="connsiteY7-176" fmla="*/ 157551 h 485927"/>
              <a:gd name="connsiteX8-177" fmla="*/ 71717 w 416172"/>
              <a:gd name="connsiteY8-178" fmla="*/ 159265 h 485927"/>
              <a:gd name="connsiteX9-179" fmla="*/ 202633 w 416172"/>
              <a:gd name="connsiteY9-180" fmla="*/ 0 h 485927"/>
              <a:gd name="connsiteX0-181" fmla="*/ 202633 w 416172"/>
              <a:gd name="connsiteY0-182" fmla="*/ 0 h 485927"/>
              <a:gd name="connsiteX1-183" fmla="*/ 348858 w 416172"/>
              <a:gd name="connsiteY1-184" fmla="*/ 157551 h 485927"/>
              <a:gd name="connsiteX2-185" fmla="*/ 294275 w 416172"/>
              <a:gd name="connsiteY2-186" fmla="*/ 157551 h 485927"/>
              <a:gd name="connsiteX3-187" fmla="*/ 306015 w 416172"/>
              <a:gd name="connsiteY3-188" fmla="*/ 222549 h 485927"/>
              <a:gd name="connsiteX4-189" fmla="*/ 416172 w 416172"/>
              <a:gd name="connsiteY4-190" fmla="*/ 485927 h 485927"/>
              <a:gd name="connsiteX5-191" fmla="*/ 0 w 416172"/>
              <a:gd name="connsiteY5-192" fmla="*/ 485927 h 485927"/>
              <a:gd name="connsiteX6-193" fmla="*/ 112166 w 416172"/>
              <a:gd name="connsiteY6-194" fmla="*/ 219870 h 485927"/>
              <a:gd name="connsiteX7-195" fmla="*/ 122329 w 416172"/>
              <a:gd name="connsiteY7-196" fmla="*/ 157551 h 485927"/>
              <a:gd name="connsiteX8-197" fmla="*/ 71717 w 416172"/>
              <a:gd name="connsiteY8-198" fmla="*/ 159265 h 485927"/>
              <a:gd name="connsiteX9-199" fmla="*/ 202633 w 416172"/>
              <a:gd name="connsiteY9-200" fmla="*/ 0 h 485927"/>
              <a:gd name="connsiteX0-201" fmla="*/ 202633 w 416172"/>
              <a:gd name="connsiteY0-202" fmla="*/ 0 h 485927"/>
              <a:gd name="connsiteX1-203" fmla="*/ 348858 w 416172"/>
              <a:gd name="connsiteY1-204" fmla="*/ 157551 h 485927"/>
              <a:gd name="connsiteX2-205" fmla="*/ 294275 w 416172"/>
              <a:gd name="connsiteY2-206" fmla="*/ 157551 h 485927"/>
              <a:gd name="connsiteX3-207" fmla="*/ 306015 w 416172"/>
              <a:gd name="connsiteY3-208" fmla="*/ 222549 h 485927"/>
              <a:gd name="connsiteX4-209" fmla="*/ 416172 w 416172"/>
              <a:gd name="connsiteY4-210" fmla="*/ 485927 h 485927"/>
              <a:gd name="connsiteX5-211" fmla="*/ 0 w 416172"/>
              <a:gd name="connsiteY5-212" fmla="*/ 485927 h 485927"/>
              <a:gd name="connsiteX6-213" fmla="*/ 112166 w 416172"/>
              <a:gd name="connsiteY6-214" fmla="*/ 219870 h 485927"/>
              <a:gd name="connsiteX7-215" fmla="*/ 122329 w 416172"/>
              <a:gd name="connsiteY7-216" fmla="*/ 157551 h 485927"/>
              <a:gd name="connsiteX8-217" fmla="*/ 71717 w 416172"/>
              <a:gd name="connsiteY8-218" fmla="*/ 159265 h 485927"/>
              <a:gd name="connsiteX9-219" fmla="*/ 202633 w 416172"/>
              <a:gd name="connsiteY9-220" fmla="*/ 0 h 485927"/>
              <a:gd name="csX0" fmla="*/ 205405 w 416172"/>
              <a:gd name="csY0" fmla="*/ 0 h 485573"/>
              <a:gd name="csX1" fmla="*/ 348858 w 416172"/>
              <a:gd name="csY1" fmla="*/ 157197 h 485573"/>
              <a:gd name="csX2" fmla="*/ 294275 w 416172"/>
              <a:gd name="csY2" fmla="*/ 157197 h 485573"/>
              <a:gd name="csX3" fmla="*/ 306015 w 416172"/>
              <a:gd name="csY3" fmla="*/ 222195 h 485573"/>
              <a:gd name="csX4" fmla="*/ 416172 w 416172"/>
              <a:gd name="csY4" fmla="*/ 485573 h 485573"/>
              <a:gd name="csX5" fmla="*/ 0 w 416172"/>
              <a:gd name="csY5" fmla="*/ 485573 h 485573"/>
              <a:gd name="csX6" fmla="*/ 112166 w 416172"/>
              <a:gd name="csY6" fmla="*/ 219516 h 485573"/>
              <a:gd name="csX7" fmla="*/ 122329 w 416172"/>
              <a:gd name="csY7" fmla="*/ 157197 h 485573"/>
              <a:gd name="csX8" fmla="*/ 71717 w 416172"/>
              <a:gd name="csY8" fmla="*/ 158911 h 485573"/>
              <a:gd name="csX9" fmla="*/ 205405 w 416172"/>
              <a:gd name="csY9" fmla="*/ 0 h 485573"/>
              <a:gd name="csX0-1" fmla="*/ 205405 w 416172"/>
              <a:gd name="csY0-2" fmla="*/ 0 h 485573"/>
              <a:gd name="csX1-3" fmla="*/ 348858 w 416172"/>
              <a:gd name="csY1-4" fmla="*/ 157197 h 485573"/>
              <a:gd name="csX2-5" fmla="*/ 294275 w 416172"/>
              <a:gd name="csY2-6" fmla="*/ 157197 h 485573"/>
              <a:gd name="csX3-7" fmla="*/ 306015 w 416172"/>
              <a:gd name="csY3-8" fmla="*/ 222195 h 485573"/>
              <a:gd name="csX4-9" fmla="*/ 416172 w 416172"/>
              <a:gd name="csY4-10" fmla="*/ 485573 h 485573"/>
              <a:gd name="csX5-11" fmla="*/ 0 w 416172"/>
              <a:gd name="csY5-12" fmla="*/ 485573 h 485573"/>
              <a:gd name="csX6-13" fmla="*/ 112166 w 416172"/>
              <a:gd name="csY6-14" fmla="*/ 219516 h 485573"/>
              <a:gd name="csX7-15" fmla="*/ 122329 w 416172"/>
              <a:gd name="csY7-16" fmla="*/ 157197 h 485573"/>
              <a:gd name="csX8-17" fmla="*/ 71717 w 416172"/>
              <a:gd name="csY8-18" fmla="*/ 158911 h 485573"/>
              <a:gd name="csX9-19" fmla="*/ 205405 w 416172"/>
              <a:gd name="csY9-20" fmla="*/ 0 h 485573"/>
              <a:gd name="csX0-21" fmla="*/ 205405 w 416172"/>
              <a:gd name="csY0-22" fmla="*/ 0 h 485573"/>
              <a:gd name="csX1-23" fmla="*/ 348858 w 416172"/>
              <a:gd name="csY1-24" fmla="*/ 157197 h 485573"/>
              <a:gd name="csX2-25" fmla="*/ 294275 w 416172"/>
              <a:gd name="csY2-26" fmla="*/ 157197 h 485573"/>
              <a:gd name="csX3-27" fmla="*/ 306015 w 416172"/>
              <a:gd name="csY3-28" fmla="*/ 222195 h 485573"/>
              <a:gd name="csX4-29" fmla="*/ 416172 w 416172"/>
              <a:gd name="csY4-30" fmla="*/ 485573 h 485573"/>
              <a:gd name="csX5-31" fmla="*/ 0 w 416172"/>
              <a:gd name="csY5-32" fmla="*/ 485573 h 485573"/>
              <a:gd name="csX6-33" fmla="*/ 112166 w 416172"/>
              <a:gd name="csY6-34" fmla="*/ 219516 h 485573"/>
              <a:gd name="csX7-35" fmla="*/ 122329 w 416172"/>
              <a:gd name="csY7-36" fmla="*/ 157197 h 485573"/>
              <a:gd name="csX8-37" fmla="*/ 71717 w 416172"/>
              <a:gd name="csY8-38" fmla="*/ 158911 h 485573"/>
              <a:gd name="csX9-39" fmla="*/ 205405 w 416172"/>
              <a:gd name="csY9-40" fmla="*/ 0 h 485573"/>
              <a:gd name="csX0-41" fmla="*/ 205405 w 416172"/>
              <a:gd name="csY0-42" fmla="*/ 0 h 485573"/>
              <a:gd name="csX1-43" fmla="*/ 348858 w 416172"/>
              <a:gd name="csY1-44" fmla="*/ 157197 h 485573"/>
              <a:gd name="csX2-45" fmla="*/ 294275 w 416172"/>
              <a:gd name="csY2-46" fmla="*/ 157197 h 485573"/>
              <a:gd name="csX3-47" fmla="*/ 306015 w 416172"/>
              <a:gd name="csY3-48" fmla="*/ 222195 h 485573"/>
              <a:gd name="csX4-49" fmla="*/ 416172 w 416172"/>
              <a:gd name="csY4-50" fmla="*/ 485573 h 485573"/>
              <a:gd name="csX5-51" fmla="*/ 0 w 416172"/>
              <a:gd name="csY5-52" fmla="*/ 485573 h 485573"/>
              <a:gd name="csX6-53" fmla="*/ 112166 w 416172"/>
              <a:gd name="csY6-54" fmla="*/ 219516 h 485573"/>
              <a:gd name="csX7-55" fmla="*/ 122329 w 416172"/>
              <a:gd name="csY7-56" fmla="*/ 157197 h 485573"/>
              <a:gd name="csX8-57" fmla="*/ 71717 w 416172"/>
              <a:gd name="csY8-58" fmla="*/ 158911 h 485573"/>
              <a:gd name="csX9-59" fmla="*/ 205405 w 416172"/>
              <a:gd name="csY9-60" fmla="*/ 0 h 485573"/>
              <a:gd name="csX0-61" fmla="*/ 214727 w 425494"/>
              <a:gd name="csY0-62" fmla="*/ 0 h 485573"/>
              <a:gd name="csX1-63" fmla="*/ 358180 w 425494"/>
              <a:gd name="csY1-64" fmla="*/ 157197 h 485573"/>
              <a:gd name="csX2-65" fmla="*/ 303597 w 425494"/>
              <a:gd name="csY2-66" fmla="*/ 157197 h 485573"/>
              <a:gd name="csX3-67" fmla="*/ 315337 w 425494"/>
              <a:gd name="csY3-68" fmla="*/ 222195 h 485573"/>
              <a:gd name="csX4-69" fmla="*/ 425494 w 425494"/>
              <a:gd name="csY4-70" fmla="*/ 485573 h 485573"/>
              <a:gd name="csX5-71" fmla="*/ 9322 w 425494"/>
              <a:gd name="csY5-72" fmla="*/ 485573 h 485573"/>
              <a:gd name="csX6-73" fmla="*/ 131651 w 425494"/>
              <a:gd name="csY6-74" fmla="*/ 157197 h 485573"/>
              <a:gd name="csX7-75" fmla="*/ 81039 w 425494"/>
              <a:gd name="csY7-76" fmla="*/ 158911 h 485573"/>
              <a:gd name="csX8-77" fmla="*/ 214727 w 425494"/>
              <a:gd name="csY8-78" fmla="*/ 0 h 485573"/>
              <a:gd name="csX0-79" fmla="*/ 205405 w 416172"/>
              <a:gd name="csY0-80" fmla="*/ 0 h 485573"/>
              <a:gd name="csX1-81" fmla="*/ 348858 w 416172"/>
              <a:gd name="csY1-82" fmla="*/ 157197 h 485573"/>
              <a:gd name="csX2-83" fmla="*/ 294275 w 416172"/>
              <a:gd name="csY2-84" fmla="*/ 157197 h 485573"/>
              <a:gd name="csX3-85" fmla="*/ 306015 w 416172"/>
              <a:gd name="csY3-86" fmla="*/ 222195 h 485573"/>
              <a:gd name="csX4-87" fmla="*/ 416172 w 416172"/>
              <a:gd name="csY4-88" fmla="*/ 485573 h 485573"/>
              <a:gd name="csX5-89" fmla="*/ 0 w 416172"/>
              <a:gd name="csY5-90" fmla="*/ 485573 h 485573"/>
              <a:gd name="csX6-91" fmla="*/ 122329 w 416172"/>
              <a:gd name="csY6-92" fmla="*/ 157197 h 485573"/>
              <a:gd name="csX7-93" fmla="*/ 71717 w 416172"/>
              <a:gd name="csY7-94" fmla="*/ 158911 h 485573"/>
              <a:gd name="csX8-95" fmla="*/ 205405 w 416172"/>
              <a:gd name="csY8-96" fmla="*/ 0 h 485573"/>
              <a:gd name="csX0-97" fmla="*/ 205405 w 416172"/>
              <a:gd name="csY0-98" fmla="*/ 0 h 485573"/>
              <a:gd name="csX1-99" fmla="*/ 348858 w 416172"/>
              <a:gd name="csY1-100" fmla="*/ 157197 h 485573"/>
              <a:gd name="csX2-101" fmla="*/ 294275 w 416172"/>
              <a:gd name="csY2-102" fmla="*/ 157197 h 485573"/>
              <a:gd name="csX3-103" fmla="*/ 416172 w 416172"/>
              <a:gd name="csY3-104" fmla="*/ 485573 h 485573"/>
              <a:gd name="csX4-105" fmla="*/ 0 w 416172"/>
              <a:gd name="csY4-106" fmla="*/ 485573 h 485573"/>
              <a:gd name="csX5-107" fmla="*/ 122329 w 416172"/>
              <a:gd name="csY5-108" fmla="*/ 157197 h 485573"/>
              <a:gd name="csX6-109" fmla="*/ 71717 w 416172"/>
              <a:gd name="csY6-110" fmla="*/ 158911 h 485573"/>
              <a:gd name="csX7-111" fmla="*/ 205405 w 416172"/>
              <a:gd name="csY7-112" fmla="*/ 0 h 485573"/>
              <a:gd name="csX0-113" fmla="*/ 205405 w 416172"/>
              <a:gd name="csY0-114" fmla="*/ 0 h 485573"/>
              <a:gd name="csX1-115" fmla="*/ 348858 w 416172"/>
              <a:gd name="csY1-116" fmla="*/ 157197 h 485573"/>
              <a:gd name="csX2-117" fmla="*/ 294275 w 416172"/>
              <a:gd name="csY2-118" fmla="*/ 157197 h 485573"/>
              <a:gd name="csX3-119" fmla="*/ 416172 w 416172"/>
              <a:gd name="csY3-120" fmla="*/ 485573 h 485573"/>
              <a:gd name="csX4-121" fmla="*/ 0 w 416172"/>
              <a:gd name="csY4-122" fmla="*/ 485573 h 485573"/>
              <a:gd name="csX5-123" fmla="*/ 122329 w 416172"/>
              <a:gd name="csY5-124" fmla="*/ 157197 h 485573"/>
              <a:gd name="csX6-125" fmla="*/ 71717 w 416172"/>
              <a:gd name="csY6-126" fmla="*/ 158911 h 485573"/>
              <a:gd name="csX7-127" fmla="*/ 205405 w 416172"/>
              <a:gd name="csY7-128" fmla="*/ 0 h 485573"/>
              <a:gd name="csX0-129" fmla="*/ 205405 w 416172"/>
              <a:gd name="csY0-130" fmla="*/ 0 h 485573"/>
              <a:gd name="csX1-131" fmla="*/ 348858 w 416172"/>
              <a:gd name="csY1-132" fmla="*/ 157197 h 485573"/>
              <a:gd name="csX2-133" fmla="*/ 294275 w 416172"/>
              <a:gd name="csY2-134" fmla="*/ 157197 h 485573"/>
              <a:gd name="csX3-135" fmla="*/ 416172 w 416172"/>
              <a:gd name="csY3-136" fmla="*/ 485573 h 485573"/>
              <a:gd name="csX4-137" fmla="*/ 0 w 416172"/>
              <a:gd name="csY4-138" fmla="*/ 485573 h 485573"/>
              <a:gd name="csX5-139" fmla="*/ 122329 w 416172"/>
              <a:gd name="csY5-140" fmla="*/ 157197 h 485573"/>
              <a:gd name="csX6-141" fmla="*/ 71717 w 416172"/>
              <a:gd name="csY6-142" fmla="*/ 158911 h 485573"/>
              <a:gd name="csX7-143" fmla="*/ 205405 w 416172"/>
              <a:gd name="csY7-144" fmla="*/ 0 h 485573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</a:cxnLst>
            <a:rect l="l" t="t" r="r" b="b"/>
            <a:pathLst>
              <a:path w="416172" h="485573">
                <a:moveTo>
                  <a:pt x="205405" y="0"/>
                </a:moveTo>
                <a:cubicBezTo>
                  <a:pt x="244007" y="53881"/>
                  <a:pt x="293715" y="111596"/>
                  <a:pt x="348858" y="157197"/>
                </a:cubicBezTo>
                <a:lnTo>
                  <a:pt x="294275" y="157197"/>
                </a:lnTo>
                <a:cubicBezTo>
                  <a:pt x="319788" y="271753"/>
                  <a:pt x="361026" y="410941"/>
                  <a:pt x="416172" y="485573"/>
                </a:cubicBezTo>
                <a:lnTo>
                  <a:pt x="0" y="485573"/>
                </a:lnTo>
                <a:cubicBezTo>
                  <a:pt x="38110" y="434242"/>
                  <a:pt x="110376" y="211641"/>
                  <a:pt x="122329" y="157197"/>
                </a:cubicBezTo>
                <a:cubicBezTo>
                  <a:pt x="91947" y="157197"/>
                  <a:pt x="102099" y="158911"/>
                  <a:pt x="71717" y="158911"/>
                </a:cubicBezTo>
                <a:cubicBezTo>
                  <a:pt x="116033" y="120609"/>
                  <a:pt x="176767" y="43061"/>
                  <a:pt x="205405" y="0"/>
                </a:cubicBezTo>
                <a:close/>
              </a:path>
            </a:pathLst>
          </a:custGeom>
          <a:gradFill>
            <a:gsLst>
              <a:gs pos="5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  <a:gs pos="2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思源宋体 CN Medium" panose="02020500000000000000" charset="-122"/>
            </a:endParaRPr>
          </a:p>
        </p:txBody>
      </p:sp>
      <p:sp>
        <p:nvSpPr>
          <p:cNvPr id="24" name="Text 11"/>
          <p:cNvSpPr/>
          <p:nvPr>
            <p:custDataLst>
              <p:tags r:id="rId13"/>
            </p:custDataLst>
          </p:nvPr>
        </p:nvSpPr>
        <p:spPr>
          <a:xfrm>
            <a:off x="1498600" y="2283460"/>
            <a:ext cx="5642610" cy="361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</a:t>
            </a:r>
            <a:r>
              <a:rPr lang="zh-CN" alt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症结</a:t>
            </a:r>
            <a:r>
              <a:rPr 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</a:t>
            </a:r>
            <a:r>
              <a:rPr 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数据格式、粒度、语义各异，</a:t>
            </a:r>
            <a:r>
              <a:rPr lang="zh-CN" alt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模型应用难以</a:t>
            </a:r>
            <a:r>
              <a:rPr 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跨模态对齐</a:t>
            </a:r>
            <a:endParaRPr lang="en-US" sz="1200" dirty="0">
              <a:solidFill>
                <a:srgbClr val="4A55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10"/>
          <p:cNvSpPr/>
          <p:nvPr>
            <p:custDataLst>
              <p:tags r:id="rId14"/>
            </p:custDataLst>
          </p:nvPr>
        </p:nvSpPr>
        <p:spPr>
          <a:xfrm>
            <a:off x="2437765" y="1882775"/>
            <a:ext cx="372364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得意黑" pitchFamily="34" charset="-120"/>
              </a:rPr>
              <a:t>难点一：多源异构数据语义对齐</a:t>
            </a:r>
            <a:endParaRPr lang="en-US" b="1" dirty="0">
              <a:solidFill>
                <a:srgbClr val="1A365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得意黑" pitchFamily="34" charset="-120"/>
            </a:endParaRPr>
          </a:p>
        </p:txBody>
      </p:sp>
      <p:sp>
        <p:nvSpPr>
          <p:cNvPr id="26" name="Text 20"/>
          <p:cNvSpPr/>
          <p:nvPr>
            <p:custDataLst>
              <p:tags r:id="rId15"/>
            </p:custDataLst>
          </p:nvPr>
        </p:nvSpPr>
        <p:spPr>
          <a:xfrm>
            <a:off x="1800543" y="3105785"/>
            <a:ext cx="499808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得意黑" pitchFamily="34" charset="-120"/>
              </a:rPr>
              <a:t>难点二：垂直领域知识嵌入与可解释推理</a:t>
            </a:r>
            <a:endParaRPr lang="en-US" b="1" dirty="0">
              <a:solidFill>
                <a:srgbClr val="1A365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得意黑" pitchFamily="34" charset="-120"/>
            </a:endParaRPr>
          </a:p>
        </p:txBody>
      </p:sp>
      <p:sp>
        <p:nvSpPr>
          <p:cNvPr id="31" name="Text 11"/>
          <p:cNvSpPr/>
          <p:nvPr>
            <p:custDataLst>
              <p:tags r:id="rId16"/>
            </p:custDataLst>
          </p:nvPr>
        </p:nvSpPr>
        <p:spPr>
          <a:xfrm>
            <a:off x="1498600" y="3568700"/>
            <a:ext cx="6209030" cy="576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</a:t>
            </a:r>
            <a:r>
              <a:rPr lang="zh-CN" alt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症结</a:t>
            </a:r>
            <a:r>
              <a:rPr 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从用户需求语义到成本影响的因果推理链，依赖汽车领域专属知识，通用模型无法实现可解释的量化映射。</a:t>
            </a:r>
            <a:endParaRPr lang="zh-CN" altLang="en-US" sz="1400" dirty="0">
              <a:solidFill>
                <a:srgbClr val="4A55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Text 30"/>
          <p:cNvSpPr/>
          <p:nvPr>
            <p:custDataLst>
              <p:tags r:id="rId17"/>
            </p:custDataLst>
          </p:nvPr>
        </p:nvSpPr>
        <p:spPr>
          <a:xfrm>
            <a:off x="1458595" y="4678680"/>
            <a:ext cx="568198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得意黑" pitchFamily="34" charset="-120"/>
              </a:rPr>
              <a:t>难点三：多</a:t>
            </a:r>
            <a:r>
              <a:rPr lang="zh-CN" altLang="en-US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得意黑" pitchFamily="34" charset="-120"/>
              </a:rPr>
              <a:t>决策模型</a:t>
            </a:r>
            <a:r>
              <a:rPr lang="en-US" b="1" dirty="0">
                <a:solidFill>
                  <a:srgbClr val="1A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得意黑" pitchFamily="34" charset="-120"/>
              </a:rPr>
              <a:t>协同调度</a:t>
            </a:r>
            <a:endParaRPr lang="en-US" b="1" dirty="0">
              <a:solidFill>
                <a:srgbClr val="1A365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得意黑" pitchFamily="34" charset="-120"/>
            </a:endParaRPr>
          </a:p>
        </p:txBody>
      </p:sp>
      <p:sp>
        <p:nvSpPr>
          <p:cNvPr id="34" name="Text 11"/>
          <p:cNvSpPr/>
          <p:nvPr>
            <p:custDataLst>
              <p:tags r:id="rId18"/>
            </p:custDataLst>
          </p:nvPr>
        </p:nvSpPr>
        <p:spPr>
          <a:xfrm>
            <a:off x="1561465" y="5110480"/>
            <a:ext cx="6028690" cy="361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</a:t>
            </a:r>
            <a:r>
              <a:rPr lang="zh-CN" alt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症结</a:t>
            </a:r>
            <a:r>
              <a:rPr lang="en-US" sz="1400" b="1" dirty="0">
                <a:solidFill>
                  <a:srgbClr val="2B6C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400" dirty="0">
                <a:solidFill>
                  <a:srgbClr val="4A55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不同决策场景下的推理结果相互割裂，缺乏跨场景联动机制，无法形成端到端的综合决策能力。    </a:t>
            </a:r>
            <a:endParaRPr lang="zh-CN" altLang="en-US" sz="1400" dirty="0">
              <a:solidFill>
                <a:srgbClr val="4A556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954645" y="3410585"/>
            <a:ext cx="529590" cy="119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</a:t>
            </a:r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</a:t>
            </a:r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</a:t>
            </a:r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1"/>
          <p:cNvGrpSpPr/>
          <p:nvPr/>
        </p:nvGrpSpPr>
        <p:grpSpPr>
          <a:xfrm>
            <a:off x="8836557" y="1845067"/>
            <a:ext cx="2989066" cy="927497"/>
            <a:chOff x="4643152" y="1193800"/>
            <a:chExt cx="4691348" cy="660400"/>
          </a:xfrm>
        </p:grpSpPr>
        <p:sp>
          <p:nvSpPr>
            <p:cNvPr id="81" name="1"/>
            <p:cNvSpPr/>
            <p:nvPr/>
          </p:nvSpPr>
          <p:spPr>
            <a:xfrm>
              <a:off x="4917105" y="1193800"/>
              <a:ext cx="4417395" cy="660400"/>
            </a:xfrm>
            <a:prstGeom prst="round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1"/>
            <p:cNvSpPr/>
            <p:nvPr/>
          </p:nvSpPr>
          <p:spPr>
            <a:xfrm>
              <a:off x="4643152" y="1348477"/>
              <a:ext cx="551098" cy="232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Index-1"/>
            <p:cNvSpPr txBox="1"/>
            <p:nvPr>
              <p:custDataLst>
                <p:tags r:id="rId19"/>
              </p:custDataLst>
            </p:nvPr>
          </p:nvSpPr>
          <p:spPr>
            <a:xfrm>
              <a:off x="4846210" y="1354723"/>
              <a:ext cx="144016" cy="2191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itle-1"/>
            <p:cNvSpPr txBox="1"/>
            <p:nvPr>
              <p:custDataLst>
                <p:tags r:id="rId20"/>
              </p:custDataLst>
            </p:nvPr>
          </p:nvSpPr>
          <p:spPr>
            <a:xfrm>
              <a:off x="5277578" y="1347409"/>
              <a:ext cx="4056922" cy="415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统一数据底座，实现跨域数据语义融合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1"/>
          <p:cNvGrpSpPr/>
          <p:nvPr/>
        </p:nvGrpSpPr>
        <p:grpSpPr>
          <a:xfrm>
            <a:off x="8836557" y="3275484"/>
            <a:ext cx="2989066" cy="927100"/>
            <a:chOff x="4643152" y="1193800"/>
            <a:chExt cx="4691348" cy="660400"/>
          </a:xfrm>
        </p:grpSpPr>
        <p:sp>
          <p:nvSpPr>
            <p:cNvPr id="68" name="1"/>
            <p:cNvSpPr/>
            <p:nvPr/>
          </p:nvSpPr>
          <p:spPr>
            <a:xfrm>
              <a:off x="4917105" y="1193800"/>
              <a:ext cx="4417395" cy="660400"/>
            </a:xfrm>
            <a:prstGeom prst="round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1"/>
            <p:cNvSpPr/>
            <p:nvPr/>
          </p:nvSpPr>
          <p:spPr>
            <a:xfrm>
              <a:off x="4643152" y="1348477"/>
              <a:ext cx="551098" cy="232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Index-1"/>
            <p:cNvSpPr txBox="1"/>
            <p:nvPr>
              <p:custDataLst>
                <p:tags r:id="rId21"/>
              </p:custDataLst>
            </p:nvPr>
          </p:nvSpPr>
          <p:spPr>
            <a:xfrm>
              <a:off x="4846210" y="1354723"/>
              <a:ext cx="144016" cy="2189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Title-1"/>
            <p:cNvSpPr txBox="1"/>
            <p:nvPr>
              <p:custDataLst>
                <p:tags r:id="rId22"/>
              </p:custDataLst>
            </p:nvPr>
          </p:nvSpPr>
          <p:spPr>
            <a:xfrm>
              <a:off x="5277578" y="1347409"/>
              <a:ext cx="4056922" cy="41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构建汽车垂直领域，知识驱动的可解释大模型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1"/>
          <p:cNvGrpSpPr/>
          <p:nvPr/>
        </p:nvGrpSpPr>
        <p:grpSpPr>
          <a:xfrm>
            <a:off x="8836557" y="4644544"/>
            <a:ext cx="2989066" cy="927100"/>
            <a:chOff x="4643152" y="1193800"/>
            <a:chExt cx="4691348" cy="660400"/>
          </a:xfrm>
        </p:grpSpPr>
        <p:sp>
          <p:nvSpPr>
            <p:cNvPr id="75" name="1"/>
            <p:cNvSpPr/>
            <p:nvPr/>
          </p:nvSpPr>
          <p:spPr>
            <a:xfrm>
              <a:off x="4917105" y="1193800"/>
              <a:ext cx="4417395" cy="660400"/>
            </a:xfrm>
            <a:prstGeom prst="round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1"/>
            <p:cNvSpPr/>
            <p:nvPr/>
          </p:nvSpPr>
          <p:spPr>
            <a:xfrm>
              <a:off x="4643152" y="1348477"/>
              <a:ext cx="551098" cy="232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Index-1"/>
            <p:cNvSpPr txBox="1"/>
            <p:nvPr>
              <p:custDataLst>
                <p:tags r:id="rId23"/>
              </p:custDataLst>
            </p:nvPr>
          </p:nvSpPr>
          <p:spPr>
            <a:xfrm>
              <a:off x="4846210" y="1354723"/>
              <a:ext cx="144016" cy="2189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Title-1"/>
            <p:cNvSpPr txBox="1"/>
            <p:nvPr>
              <p:custDataLst>
                <p:tags r:id="rId24"/>
              </p:custDataLst>
            </p:nvPr>
          </p:nvSpPr>
          <p:spPr>
            <a:xfrm>
              <a:off x="5277578" y="1347409"/>
              <a:ext cx="4056922" cy="41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搭建可协同调度与多任务联动智能体决策系统</a:t>
              </a:r>
              <a:endPara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9" name="箭头: V 形 139"/>
          <p:cNvSpPr/>
          <p:nvPr/>
        </p:nvSpPr>
        <p:spPr>
          <a:xfrm flipH="1">
            <a:off x="356235" y="5847080"/>
            <a:ext cx="11469370" cy="585470"/>
          </a:xfrm>
          <a:prstGeom prst="roundRect">
            <a:avLst>
              <a:gd name="adj" fmla="val 0"/>
            </a:avLst>
          </a:prstGeom>
          <a:solidFill>
            <a:srgbClr val="004F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实现从“数据不通、模型不懂、决策不协”到“数据统一、模型专用、智能体协同”的三层递进突破。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: 圆角 154"/>
          <p:cNvSpPr/>
          <p:nvPr/>
        </p:nvSpPr>
        <p:spPr>
          <a:xfrm>
            <a:off x="4280316" y="1597712"/>
            <a:ext cx="3594360" cy="4618141"/>
          </a:xfrm>
          <a:prstGeom prst="roundRect">
            <a:avLst>
              <a:gd name="adj" fmla="val 2595"/>
            </a:avLst>
          </a:prstGeom>
          <a:solidFill>
            <a:sysClr val="window" lastClr="FFFFFF"/>
          </a:solidFill>
          <a:ln w="12700" cap="flat" cmpd="sng" algn="ctr">
            <a:solidFill>
              <a:srgbClr val="1068CF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01600" dist="38100" dir="2700000" algn="tl" rotWithShape="0">
              <a:srgbClr val="1068CF">
                <a:alpha val="15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8940" y="401955"/>
            <a:ext cx="11401425" cy="400685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项目意义：国家战略落地、集团能力布局、中汽数据转型的三重价值统一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401169" cy="645160"/>
          </a:xfrm>
        </p:spPr>
        <p:txBody>
          <a:bodyPr/>
          <a:lstStyle/>
          <a:p>
            <a:r>
              <a:rPr dirty="0"/>
              <a:t>本项目是从“数据”到“决策”的全链条技术突破，是服务国家AI战略、支撑集团业务布局、实现公司大数据业务转型升级的关键技术载体。</a:t>
            </a:r>
            <a:endParaRPr dirty="0"/>
          </a:p>
        </p:txBody>
      </p:sp>
      <p:sp>
        <p:nvSpPr>
          <p:cNvPr id="156" name="矩形: 圆角 155"/>
          <p:cNvSpPr/>
          <p:nvPr/>
        </p:nvSpPr>
        <p:spPr>
          <a:xfrm>
            <a:off x="5247608" y="1590012"/>
            <a:ext cx="1620728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068CF">
                  <a:lumMod val="60000"/>
                  <a:lumOff val="40000"/>
                </a:srgbClr>
              </a:gs>
              <a:gs pos="65000">
                <a:srgbClr val="1068C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7" name="0"/>
          <p:cNvSpPr txBox="1"/>
          <p:nvPr/>
        </p:nvSpPr>
        <p:spPr>
          <a:xfrm flipH="1">
            <a:off x="4279489" y="2492347"/>
            <a:ext cx="3594358" cy="673589"/>
          </a:xfrm>
          <a:prstGeom prst="roundRect">
            <a:avLst>
              <a:gd name="adj" fmla="val 7664"/>
            </a:avLst>
          </a:prstGeom>
          <a:gradFill>
            <a:gsLst>
              <a:gs pos="100000">
                <a:srgbClr val="1068CF">
                  <a:lumMod val="60000"/>
                  <a:lumOff val="40000"/>
                </a:srgbClr>
              </a:gs>
              <a:gs pos="43000">
                <a:srgbClr val="1068CF"/>
              </a:gs>
            </a:gsLst>
            <a:lin ang="2700000" scaled="0"/>
          </a:gradFill>
          <a:ln w="19050" cap="rnd">
            <a:noFill/>
            <a:prstDash val="solid"/>
            <a:round/>
          </a:ln>
          <a:effectLst>
            <a:outerShdw blurRad="101600" dist="38100" dir="5400000" algn="t" rotWithShape="0">
              <a:srgbClr val="1068C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>
              <a:defRPr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高质量推动价值创造 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4399714" y="5639675"/>
            <a:ext cx="3383196" cy="310887"/>
            <a:chOff x="2908913" y="695325"/>
            <a:chExt cx="6374174" cy="531875"/>
          </a:xfrm>
        </p:grpSpPr>
        <p:sp>
          <p:nvSpPr>
            <p:cNvPr id="198" name="梯形 197"/>
            <p:cNvSpPr/>
            <p:nvPr/>
          </p:nvSpPr>
          <p:spPr>
            <a:xfrm>
              <a:off x="3170932" y="695325"/>
              <a:ext cx="5850136" cy="425810"/>
            </a:xfrm>
            <a:prstGeom prst="trapezoid">
              <a:avLst>
                <a:gd name="adj" fmla="val 180569"/>
              </a:avLst>
            </a:prstGeom>
            <a:gradFill flip="none" rotWithShape="1">
              <a:gsLst>
                <a:gs pos="0">
                  <a:srgbClr val="1068CF">
                    <a:lumMod val="20000"/>
                    <a:lumOff val="80000"/>
                    <a:alpha val="0"/>
                  </a:srgbClr>
                </a:gs>
                <a:gs pos="100000">
                  <a:srgbClr val="1068CF">
                    <a:lumMod val="20000"/>
                    <a:lumOff val="80000"/>
                    <a:alpha val="50000"/>
                  </a:srgbClr>
                </a:gs>
              </a:gsLst>
              <a:lin ang="5400000" scaled="1"/>
              <a:tileRect/>
            </a:gradFill>
            <a:ln w="9525" cap="flat" cmpd="sng" algn="ctr">
              <a:gradFill>
                <a:gsLst>
                  <a:gs pos="0">
                    <a:srgbClr val="1068CF">
                      <a:lumMod val="20000"/>
                      <a:lumOff val="80000"/>
                      <a:alpha val="0"/>
                    </a:srgbClr>
                  </a:gs>
                  <a:gs pos="100000">
                    <a:srgbClr val="1068CF">
                      <a:lumMod val="20000"/>
                      <a:lumOff val="8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9" name="梯形 198"/>
            <p:cNvSpPr/>
            <p:nvPr/>
          </p:nvSpPr>
          <p:spPr>
            <a:xfrm>
              <a:off x="3445650" y="1032133"/>
              <a:ext cx="5300700" cy="195067"/>
            </a:xfrm>
            <a:prstGeom prst="trapezoid">
              <a:avLst>
                <a:gd name="adj" fmla="val 180569"/>
              </a:avLst>
            </a:prstGeom>
            <a:gradFill flip="none" rotWithShape="1">
              <a:gsLst>
                <a:gs pos="60000">
                  <a:srgbClr val="1068CF">
                    <a:lumMod val="20000"/>
                    <a:lumOff val="80000"/>
                    <a:alpha val="0"/>
                  </a:srgbClr>
                </a:gs>
                <a:gs pos="100000">
                  <a:srgbClr val="1068CF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200" name="组合 199"/>
            <p:cNvGrpSpPr/>
            <p:nvPr/>
          </p:nvGrpSpPr>
          <p:grpSpPr>
            <a:xfrm>
              <a:off x="2908913" y="741679"/>
              <a:ext cx="6374174" cy="379455"/>
              <a:chOff x="2923444" y="708025"/>
              <a:chExt cx="6374174" cy="413110"/>
            </a:xfrm>
          </p:grpSpPr>
          <p:cxnSp>
            <p:nvCxnSpPr>
              <p:cNvPr id="201" name="直接连接符 200"/>
              <p:cNvCxnSpPr/>
              <p:nvPr/>
            </p:nvCxnSpPr>
            <p:spPr>
              <a:xfrm flipH="1">
                <a:off x="2923444" y="708025"/>
                <a:ext cx="827818" cy="413110"/>
              </a:xfrm>
              <a:prstGeom prst="line">
                <a:avLst/>
              </a:prstGeom>
              <a:noFill/>
              <a:ln w="6350" cap="rnd" cmpd="sng" algn="ctr">
                <a:gradFill flip="none" rotWithShape="1">
                  <a:gsLst>
                    <a:gs pos="0">
                      <a:srgbClr val="1068CF">
                        <a:lumMod val="60000"/>
                        <a:lumOff val="40000"/>
                        <a:alpha val="0"/>
                      </a:srgbClr>
                    </a:gs>
                    <a:gs pos="100000">
                      <a:srgbClr val="1068CF">
                        <a:lumMod val="60000"/>
                        <a:lumOff val="4000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02" name="直接连接符 201"/>
              <p:cNvCxnSpPr/>
              <p:nvPr/>
            </p:nvCxnSpPr>
            <p:spPr>
              <a:xfrm>
                <a:off x="8469800" y="708025"/>
                <a:ext cx="827818" cy="413110"/>
              </a:xfrm>
              <a:prstGeom prst="line">
                <a:avLst/>
              </a:prstGeom>
              <a:noFill/>
              <a:ln w="6350" cap="rnd" cmpd="sng" algn="ctr">
                <a:gradFill flip="none" rotWithShape="1">
                  <a:gsLst>
                    <a:gs pos="0">
                      <a:srgbClr val="1068CF">
                        <a:lumMod val="60000"/>
                        <a:lumOff val="40000"/>
                        <a:alpha val="0"/>
                      </a:srgbClr>
                    </a:gs>
                    <a:gs pos="100000">
                      <a:srgbClr val="1068CF">
                        <a:lumMod val="60000"/>
                        <a:lumOff val="40000"/>
                      </a:srgbClr>
                    </a:gs>
                  </a:gsLst>
                  <a:lin ang="5400000" scaled="1"/>
                  <a:tileRect/>
                </a:gradFill>
                <a:prstDash val="solid"/>
                <a:miter lim="800000"/>
              </a:ln>
              <a:effectLst/>
            </p:spPr>
          </p:cxnSp>
        </p:grpSp>
      </p:grpSp>
      <p:sp>
        <p:nvSpPr>
          <p:cNvPr id="125" name="矩形: 圆角 124"/>
          <p:cNvSpPr/>
          <p:nvPr/>
        </p:nvSpPr>
        <p:spPr>
          <a:xfrm>
            <a:off x="8125560" y="1597712"/>
            <a:ext cx="3599714" cy="4618141"/>
          </a:xfrm>
          <a:prstGeom prst="roundRect">
            <a:avLst>
              <a:gd name="adj" fmla="val 2595"/>
            </a:avLst>
          </a:prstGeom>
          <a:solidFill>
            <a:sysClr val="window" lastClr="FFFFFF"/>
          </a:solidFill>
          <a:ln w="12700" cap="flat" cmpd="sng" algn="ctr">
            <a:solidFill>
              <a:srgbClr val="1068CF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01600" dist="38100" dir="2700000" algn="tl" rotWithShape="0">
              <a:srgbClr val="1068CF">
                <a:alpha val="15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矩形: 圆角 125"/>
          <p:cNvSpPr/>
          <p:nvPr/>
        </p:nvSpPr>
        <p:spPr>
          <a:xfrm>
            <a:off x="9094292" y="1590012"/>
            <a:ext cx="1623143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068CF">
                  <a:lumMod val="60000"/>
                  <a:lumOff val="40000"/>
                </a:srgbClr>
              </a:gs>
              <a:gs pos="65000">
                <a:srgbClr val="1068C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7" name="0"/>
          <p:cNvSpPr txBox="1"/>
          <p:nvPr/>
        </p:nvSpPr>
        <p:spPr>
          <a:xfrm flipH="1">
            <a:off x="8124731" y="2492348"/>
            <a:ext cx="3599712" cy="673588"/>
          </a:xfrm>
          <a:prstGeom prst="roundRect">
            <a:avLst>
              <a:gd name="adj" fmla="val 7664"/>
            </a:avLst>
          </a:prstGeom>
          <a:gradFill>
            <a:gsLst>
              <a:gs pos="100000">
                <a:srgbClr val="1068CF">
                  <a:lumMod val="60000"/>
                  <a:lumOff val="40000"/>
                </a:srgbClr>
              </a:gs>
              <a:gs pos="43000">
                <a:srgbClr val="1068CF"/>
              </a:gs>
            </a:gsLst>
            <a:lin ang="2700000" scaled="0"/>
          </a:gradFill>
          <a:ln w="19050" cap="rnd">
            <a:noFill/>
            <a:prstDash val="solid"/>
            <a:round/>
          </a:ln>
          <a:effectLst>
            <a:outerShdw blurRad="101600" dist="38100" dir="5400000" algn="t" rotWithShape="0">
              <a:srgbClr val="1068C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>
              <a:defRPr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智能决策基础设施服务商”转变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矩形: 圆角 205"/>
          <p:cNvSpPr/>
          <p:nvPr/>
        </p:nvSpPr>
        <p:spPr>
          <a:xfrm>
            <a:off x="410404" y="1597712"/>
            <a:ext cx="3600543" cy="4618141"/>
          </a:xfrm>
          <a:prstGeom prst="roundRect">
            <a:avLst>
              <a:gd name="adj" fmla="val 2595"/>
            </a:avLst>
          </a:prstGeom>
          <a:solidFill>
            <a:sysClr val="window" lastClr="FFFFFF"/>
          </a:solidFill>
          <a:ln w="12700" cap="flat" cmpd="sng" algn="ctr">
            <a:solidFill>
              <a:srgbClr val="1068CF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01600" dist="38100" dir="2700000" algn="tl" rotWithShape="0">
              <a:srgbClr val="1068CF">
                <a:alpha val="15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7" name="矩形: 圆角 206"/>
          <p:cNvSpPr/>
          <p:nvPr/>
        </p:nvSpPr>
        <p:spPr>
          <a:xfrm>
            <a:off x="1379359" y="1590012"/>
            <a:ext cx="1623517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068CF">
                  <a:lumMod val="60000"/>
                  <a:lumOff val="40000"/>
                </a:srgbClr>
              </a:gs>
              <a:gs pos="65000">
                <a:srgbClr val="1068C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8" name="0"/>
          <p:cNvSpPr txBox="1"/>
          <p:nvPr/>
        </p:nvSpPr>
        <p:spPr>
          <a:xfrm flipH="1">
            <a:off x="409574" y="2492348"/>
            <a:ext cx="3600541" cy="673588"/>
          </a:xfrm>
          <a:prstGeom prst="roundRect">
            <a:avLst>
              <a:gd name="adj" fmla="val 7664"/>
            </a:avLst>
          </a:prstGeom>
          <a:gradFill>
            <a:gsLst>
              <a:gs pos="100000">
                <a:srgbClr val="1068CF">
                  <a:lumMod val="60000"/>
                  <a:lumOff val="40000"/>
                </a:srgbClr>
              </a:gs>
              <a:gs pos="43000">
                <a:srgbClr val="1068CF"/>
              </a:gs>
            </a:gsLst>
            <a:lin ang="2700000" scaled="0"/>
          </a:gradFill>
          <a:ln w="19050" cap="rnd">
            <a:noFill/>
            <a:prstDash val="solid"/>
            <a:round/>
          </a:ln>
          <a:effectLst>
            <a:outerShdw blurRad="101600" dist="38100" dir="5400000" algn="t" rotWithShape="0">
              <a:srgbClr val="1068C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>
              <a:defRPr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响应国家“人工智能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+”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504190" y="1829882"/>
            <a:ext cx="3397297" cy="40001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1000">
                      <a:schemeClr val="accent5"/>
                    </a:gs>
                    <a:gs pos="0">
                      <a:srgbClr val="1B22A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服务国家战略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gradFill>
                <a:gsLst>
                  <a:gs pos="91000">
                    <a:schemeClr val="accent5"/>
                  </a:gs>
                  <a:gs pos="0">
                    <a:srgbClr val="1B22A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884416" y="3234763"/>
            <a:ext cx="3145018" cy="160401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打造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在汽车产业决策场景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的典型落地应用，形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成可复制、可推广的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行业标杆。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rgbClr val="0D0D0D">
                  <a:lumMod val="90000"/>
                  <a:lumOff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606006" y="3389784"/>
            <a:ext cx="193967" cy="179007"/>
            <a:chOff x="967315" y="3084069"/>
            <a:chExt cx="179286" cy="179007"/>
          </a:xfrm>
        </p:grpSpPr>
        <p:sp>
          <p:nvSpPr>
            <p:cNvPr id="230" name="矩形: 圆角 20"/>
            <p:cNvSpPr/>
            <p:nvPr/>
          </p:nvSpPr>
          <p:spPr>
            <a:xfrm>
              <a:off x="967315" y="3084069"/>
              <a:ext cx="179286" cy="179007"/>
            </a:xfrm>
            <a:custGeom>
              <a:avLst/>
              <a:gdLst>
                <a:gd name="csX0" fmla="*/ 0 w 406400"/>
                <a:gd name="csY0" fmla="*/ 67735 h 406400"/>
                <a:gd name="csX1" fmla="*/ 67735 w 406400"/>
                <a:gd name="csY1" fmla="*/ 0 h 406400"/>
                <a:gd name="csX2" fmla="*/ 338665 w 406400"/>
                <a:gd name="csY2" fmla="*/ 0 h 406400"/>
                <a:gd name="csX3" fmla="*/ 406400 w 406400"/>
                <a:gd name="csY3" fmla="*/ 67735 h 406400"/>
                <a:gd name="csX4" fmla="*/ 406400 w 406400"/>
                <a:gd name="csY4" fmla="*/ 338665 h 406400"/>
                <a:gd name="csX5" fmla="*/ 338665 w 406400"/>
                <a:gd name="csY5" fmla="*/ 406400 h 406400"/>
                <a:gd name="csX6" fmla="*/ 67735 w 406400"/>
                <a:gd name="csY6" fmla="*/ 406400 h 406400"/>
                <a:gd name="csX7" fmla="*/ 0 w 406400"/>
                <a:gd name="csY7" fmla="*/ 338665 h 406400"/>
                <a:gd name="csX8" fmla="*/ 0 w 406400"/>
                <a:gd name="csY8" fmla="*/ 67735 h 406400"/>
                <a:gd name="csX0-1" fmla="*/ 0 w 407035"/>
                <a:gd name="csY0-2" fmla="*/ 67735 h 406400"/>
                <a:gd name="csX1-3" fmla="*/ 67735 w 407035"/>
                <a:gd name="csY1-4" fmla="*/ 0 h 406400"/>
                <a:gd name="csX2-5" fmla="*/ 338665 w 407035"/>
                <a:gd name="csY2-6" fmla="*/ 0 h 406400"/>
                <a:gd name="csX3-7" fmla="*/ 406400 w 407035"/>
                <a:gd name="csY3-8" fmla="*/ 67735 h 406400"/>
                <a:gd name="csX4-9" fmla="*/ 407035 w 407035"/>
                <a:gd name="csY4-10" fmla="*/ 68580 h 406400"/>
                <a:gd name="csX5-11" fmla="*/ 406400 w 407035"/>
                <a:gd name="csY5-12" fmla="*/ 338665 h 406400"/>
                <a:gd name="csX6-13" fmla="*/ 338665 w 407035"/>
                <a:gd name="csY6-14" fmla="*/ 406400 h 406400"/>
                <a:gd name="csX7-15" fmla="*/ 67735 w 407035"/>
                <a:gd name="csY7-16" fmla="*/ 406400 h 406400"/>
                <a:gd name="csX8-17" fmla="*/ 0 w 407035"/>
                <a:gd name="csY8-18" fmla="*/ 338665 h 406400"/>
                <a:gd name="csX9" fmla="*/ 0 w 407035"/>
                <a:gd name="csY9" fmla="*/ 67735 h 406400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  <a:cxn ang="0">
                  <a:pos x="csX8-17" y="csY8-18"/>
                </a:cxn>
                <a:cxn ang="0">
                  <a:pos x="csX9" y="csY9"/>
                </a:cxn>
              </a:cxnLst>
              <a:rect l="l" t="t" r="r" b="b"/>
              <a:pathLst>
                <a:path w="407035" h="406400">
                  <a:moveTo>
                    <a:pt x="0" y="67735"/>
                  </a:moveTo>
                  <a:cubicBezTo>
                    <a:pt x="0" y="30326"/>
                    <a:pt x="30326" y="0"/>
                    <a:pt x="67735" y="0"/>
                  </a:cubicBezTo>
                  <a:lnTo>
                    <a:pt x="338665" y="0"/>
                  </a:lnTo>
                  <a:cubicBezTo>
                    <a:pt x="376074" y="0"/>
                    <a:pt x="406400" y="30326"/>
                    <a:pt x="406400" y="67735"/>
                  </a:cubicBezTo>
                  <a:lnTo>
                    <a:pt x="407035" y="68580"/>
                  </a:lnTo>
                  <a:cubicBezTo>
                    <a:pt x="406823" y="158608"/>
                    <a:pt x="406612" y="248637"/>
                    <a:pt x="406400" y="338665"/>
                  </a:cubicBezTo>
                  <a:cubicBezTo>
                    <a:pt x="406400" y="376074"/>
                    <a:pt x="376074" y="406400"/>
                    <a:pt x="338665" y="406400"/>
                  </a:cubicBezTo>
                  <a:lnTo>
                    <a:pt x="67735" y="406400"/>
                  </a:lnTo>
                  <a:cubicBezTo>
                    <a:pt x="30326" y="406400"/>
                    <a:pt x="0" y="376074"/>
                    <a:pt x="0" y="338665"/>
                  </a:cubicBezTo>
                  <a:lnTo>
                    <a:pt x="0" y="67735"/>
                  </a:lnTo>
                  <a:close/>
                </a:path>
              </a:pathLst>
            </a:custGeom>
            <a:noFill/>
            <a:ln w="15875" cap="flat" cmpd="sng" algn="ctr">
              <a:solidFill>
                <a:srgbClr val="1068C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1003235" y="3132492"/>
              <a:ext cx="108341" cy="78382"/>
            </a:xfrm>
            <a:custGeom>
              <a:avLst/>
              <a:gdLst>
                <a:gd name="csX0" fmla="*/ 106747 w 337318"/>
                <a:gd name="csY0" fmla="*/ 244040 h 244040"/>
                <a:gd name="csX1" fmla="*/ 0 w 337318"/>
                <a:gd name="csY1" fmla="*/ 137293 h 244040"/>
                <a:gd name="csX2" fmla="*/ 13468 w 337318"/>
                <a:gd name="csY2" fmla="*/ 123825 h 244040"/>
                <a:gd name="csX3" fmla="*/ 106747 w 337318"/>
                <a:gd name="csY3" fmla="*/ 217103 h 244040"/>
                <a:gd name="csX4" fmla="*/ 323850 w 337318"/>
                <a:gd name="csY4" fmla="*/ 0 h 244040"/>
                <a:gd name="csX5" fmla="*/ 337318 w 337318"/>
                <a:gd name="csY5" fmla="*/ 13468 h 244040"/>
                <a:gd name="csX6" fmla="*/ 106747 w 337318"/>
                <a:gd name="csY6" fmla="*/ 244040 h 24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7318" h="244040">
                  <a:moveTo>
                    <a:pt x="106747" y="244040"/>
                  </a:moveTo>
                  <a:lnTo>
                    <a:pt x="0" y="137293"/>
                  </a:lnTo>
                  <a:lnTo>
                    <a:pt x="13468" y="123825"/>
                  </a:lnTo>
                  <a:lnTo>
                    <a:pt x="106747" y="217103"/>
                  </a:lnTo>
                  <a:lnTo>
                    <a:pt x="323850" y="0"/>
                  </a:lnTo>
                  <a:lnTo>
                    <a:pt x="337318" y="13468"/>
                  </a:lnTo>
                  <a:lnTo>
                    <a:pt x="106747" y="244040"/>
                  </a:lnTo>
                  <a:close/>
                </a:path>
              </a:pathLst>
            </a:custGeom>
            <a:solidFill>
              <a:srgbClr val="1068CF"/>
            </a:solidFill>
            <a:ln w="15875" cap="flat">
              <a:solidFill>
                <a:srgbClr val="1068CF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1112198" y="5148268"/>
            <a:ext cx="2037488" cy="861692"/>
            <a:chOff x="1467569" y="5107549"/>
            <a:chExt cx="1883275" cy="861692"/>
          </a:xfrm>
        </p:grpSpPr>
        <p:sp>
          <p:nvSpPr>
            <p:cNvPr id="218" name="椭圆 217"/>
            <p:cNvSpPr/>
            <p:nvPr/>
          </p:nvSpPr>
          <p:spPr>
            <a:xfrm>
              <a:off x="1779626" y="5445377"/>
              <a:ext cx="1259161" cy="444737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11000">
                    <a:srgbClr val="1068CF">
                      <a:alpha val="0"/>
                    </a:srgbClr>
                  </a:gs>
                  <a:gs pos="100000">
                    <a:srgbClr val="1068CF">
                      <a:alpha val="8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9" name="椭圆 218"/>
            <p:cNvSpPr/>
            <p:nvPr/>
          </p:nvSpPr>
          <p:spPr>
            <a:xfrm>
              <a:off x="1467569" y="5107549"/>
              <a:ext cx="1883275" cy="665174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1068CF">
                      <a:alpha val="0"/>
                    </a:srgbClr>
                  </a:gs>
                  <a:gs pos="100000">
                    <a:srgbClr val="1068C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0" name="椭圆 219"/>
            <p:cNvSpPr/>
            <p:nvPr/>
          </p:nvSpPr>
          <p:spPr>
            <a:xfrm>
              <a:off x="1693401" y="5284042"/>
              <a:ext cx="1454717" cy="417773"/>
            </a:xfrm>
            <a:prstGeom prst="ellipse">
              <a:avLst/>
            </a:prstGeom>
            <a:gradFill>
              <a:gsLst>
                <a:gs pos="15000">
                  <a:srgbClr val="1068CF">
                    <a:alpha val="0"/>
                  </a:srgbClr>
                </a:gs>
                <a:gs pos="100000">
                  <a:srgbClr val="1068CF">
                    <a:alpha val="20000"/>
                  </a:srgbClr>
                </a:gs>
              </a:gsLst>
              <a:lin ang="5400000" scaled="1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1" name="椭圆 220"/>
            <p:cNvSpPr/>
            <p:nvPr/>
          </p:nvSpPr>
          <p:spPr>
            <a:xfrm>
              <a:off x="1639256" y="5417186"/>
              <a:ext cx="1563007" cy="552055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6000">
                    <a:srgbClr val="1068CF">
                      <a:alpha val="0"/>
                    </a:srgbClr>
                  </a:gs>
                  <a:gs pos="100000">
                    <a:srgbClr val="1068CF">
                      <a:alpha val="3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33" name="图形 2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6484" y="4984097"/>
            <a:ext cx="1033911" cy="673628"/>
          </a:xfrm>
          <a:prstGeom prst="rect">
            <a:avLst/>
          </a:prstGeom>
        </p:spPr>
      </p:pic>
      <p:sp>
        <p:nvSpPr>
          <p:cNvPr id="239" name="文本框 238"/>
          <p:cNvSpPr txBox="1"/>
          <p:nvPr/>
        </p:nvSpPr>
        <p:spPr>
          <a:xfrm>
            <a:off x="4419379" y="1837296"/>
            <a:ext cx="3277072" cy="40001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1000">
                      <a:schemeClr val="accent5"/>
                    </a:gs>
                    <a:gs pos="0">
                      <a:srgbClr val="1B22A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支撑集团战略布局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gradFill>
                <a:gsLst>
                  <a:gs pos="91000">
                    <a:schemeClr val="accent5"/>
                  </a:gs>
                  <a:gs pos="0">
                    <a:srgbClr val="1B22A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744330" y="3288024"/>
            <a:ext cx="3145018" cy="160401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撑集团在汽车数智化服务领域的战略布局和业务增长</a:t>
            </a:r>
            <a:r>
              <a:rPr kumimoji="0" 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sz="1600" b="0" i="0" u="none" strike="noStrike" kern="0" cap="none" spc="0" normalizeH="0" baseline="0" noProof="0" dirty="0">
              <a:ln>
                <a:noFill/>
              </a:ln>
              <a:solidFill>
                <a:srgbClr val="0D0D0D">
                  <a:lumMod val="90000"/>
                  <a:lumOff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提升公共基础领域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D0D0D">
                    <a:lumMod val="90000"/>
                    <a:lumOff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国家级数据基础设施建设应用成效。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rgbClr val="0D0D0D">
                  <a:lumMod val="90000"/>
                  <a:lumOff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9" name="组合 248"/>
          <p:cNvGrpSpPr/>
          <p:nvPr/>
        </p:nvGrpSpPr>
        <p:grpSpPr>
          <a:xfrm>
            <a:off x="4484959" y="3385614"/>
            <a:ext cx="193967" cy="179007"/>
            <a:chOff x="967315" y="3084069"/>
            <a:chExt cx="179286" cy="179007"/>
          </a:xfrm>
        </p:grpSpPr>
        <p:sp>
          <p:nvSpPr>
            <p:cNvPr id="250" name="矩形: 圆角 20"/>
            <p:cNvSpPr/>
            <p:nvPr/>
          </p:nvSpPr>
          <p:spPr>
            <a:xfrm>
              <a:off x="967315" y="3084069"/>
              <a:ext cx="179286" cy="179007"/>
            </a:xfrm>
            <a:custGeom>
              <a:avLst/>
              <a:gdLst>
                <a:gd name="csX0" fmla="*/ 0 w 406400"/>
                <a:gd name="csY0" fmla="*/ 67735 h 406400"/>
                <a:gd name="csX1" fmla="*/ 67735 w 406400"/>
                <a:gd name="csY1" fmla="*/ 0 h 406400"/>
                <a:gd name="csX2" fmla="*/ 338665 w 406400"/>
                <a:gd name="csY2" fmla="*/ 0 h 406400"/>
                <a:gd name="csX3" fmla="*/ 406400 w 406400"/>
                <a:gd name="csY3" fmla="*/ 67735 h 406400"/>
                <a:gd name="csX4" fmla="*/ 406400 w 406400"/>
                <a:gd name="csY4" fmla="*/ 338665 h 406400"/>
                <a:gd name="csX5" fmla="*/ 338665 w 406400"/>
                <a:gd name="csY5" fmla="*/ 406400 h 406400"/>
                <a:gd name="csX6" fmla="*/ 67735 w 406400"/>
                <a:gd name="csY6" fmla="*/ 406400 h 406400"/>
                <a:gd name="csX7" fmla="*/ 0 w 406400"/>
                <a:gd name="csY7" fmla="*/ 338665 h 406400"/>
                <a:gd name="csX8" fmla="*/ 0 w 406400"/>
                <a:gd name="csY8" fmla="*/ 67735 h 406400"/>
                <a:gd name="csX0-1" fmla="*/ 0 w 407035"/>
                <a:gd name="csY0-2" fmla="*/ 67735 h 406400"/>
                <a:gd name="csX1-3" fmla="*/ 67735 w 407035"/>
                <a:gd name="csY1-4" fmla="*/ 0 h 406400"/>
                <a:gd name="csX2-5" fmla="*/ 338665 w 407035"/>
                <a:gd name="csY2-6" fmla="*/ 0 h 406400"/>
                <a:gd name="csX3-7" fmla="*/ 406400 w 407035"/>
                <a:gd name="csY3-8" fmla="*/ 67735 h 406400"/>
                <a:gd name="csX4-9" fmla="*/ 407035 w 407035"/>
                <a:gd name="csY4-10" fmla="*/ 68580 h 406400"/>
                <a:gd name="csX5-11" fmla="*/ 406400 w 407035"/>
                <a:gd name="csY5-12" fmla="*/ 338665 h 406400"/>
                <a:gd name="csX6-13" fmla="*/ 338665 w 407035"/>
                <a:gd name="csY6-14" fmla="*/ 406400 h 406400"/>
                <a:gd name="csX7-15" fmla="*/ 67735 w 407035"/>
                <a:gd name="csY7-16" fmla="*/ 406400 h 406400"/>
                <a:gd name="csX8-17" fmla="*/ 0 w 407035"/>
                <a:gd name="csY8-18" fmla="*/ 338665 h 406400"/>
                <a:gd name="csX9" fmla="*/ 0 w 407035"/>
                <a:gd name="csY9" fmla="*/ 67735 h 406400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  <a:cxn ang="0">
                  <a:pos x="csX8-17" y="csY8-18"/>
                </a:cxn>
                <a:cxn ang="0">
                  <a:pos x="csX9" y="csY9"/>
                </a:cxn>
              </a:cxnLst>
              <a:rect l="l" t="t" r="r" b="b"/>
              <a:pathLst>
                <a:path w="407035" h="406400">
                  <a:moveTo>
                    <a:pt x="0" y="67735"/>
                  </a:moveTo>
                  <a:cubicBezTo>
                    <a:pt x="0" y="30326"/>
                    <a:pt x="30326" y="0"/>
                    <a:pt x="67735" y="0"/>
                  </a:cubicBezTo>
                  <a:lnTo>
                    <a:pt x="338665" y="0"/>
                  </a:lnTo>
                  <a:cubicBezTo>
                    <a:pt x="376074" y="0"/>
                    <a:pt x="406400" y="30326"/>
                    <a:pt x="406400" y="67735"/>
                  </a:cubicBezTo>
                  <a:lnTo>
                    <a:pt x="407035" y="68580"/>
                  </a:lnTo>
                  <a:cubicBezTo>
                    <a:pt x="406823" y="158608"/>
                    <a:pt x="406612" y="248637"/>
                    <a:pt x="406400" y="338665"/>
                  </a:cubicBezTo>
                  <a:cubicBezTo>
                    <a:pt x="406400" y="376074"/>
                    <a:pt x="376074" y="406400"/>
                    <a:pt x="338665" y="406400"/>
                  </a:cubicBezTo>
                  <a:lnTo>
                    <a:pt x="67735" y="406400"/>
                  </a:lnTo>
                  <a:cubicBezTo>
                    <a:pt x="30326" y="406400"/>
                    <a:pt x="0" y="376074"/>
                    <a:pt x="0" y="338665"/>
                  </a:cubicBezTo>
                  <a:lnTo>
                    <a:pt x="0" y="67735"/>
                  </a:lnTo>
                  <a:close/>
                </a:path>
              </a:pathLst>
            </a:custGeom>
            <a:noFill/>
            <a:ln w="15875" cap="flat" cmpd="sng" algn="ctr">
              <a:solidFill>
                <a:srgbClr val="1068C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1003235" y="3132492"/>
              <a:ext cx="108341" cy="78382"/>
            </a:xfrm>
            <a:custGeom>
              <a:avLst/>
              <a:gdLst>
                <a:gd name="csX0" fmla="*/ 106747 w 337318"/>
                <a:gd name="csY0" fmla="*/ 244040 h 244040"/>
                <a:gd name="csX1" fmla="*/ 0 w 337318"/>
                <a:gd name="csY1" fmla="*/ 137293 h 244040"/>
                <a:gd name="csX2" fmla="*/ 13468 w 337318"/>
                <a:gd name="csY2" fmla="*/ 123825 h 244040"/>
                <a:gd name="csX3" fmla="*/ 106747 w 337318"/>
                <a:gd name="csY3" fmla="*/ 217103 h 244040"/>
                <a:gd name="csX4" fmla="*/ 323850 w 337318"/>
                <a:gd name="csY4" fmla="*/ 0 h 244040"/>
                <a:gd name="csX5" fmla="*/ 337318 w 337318"/>
                <a:gd name="csY5" fmla="*/ 13468 h 244040"/>
                <a:gd name="csX6" fmla="*/ 106747 w 337318"/>
                <a:gd name="csY6" fmla="*/ 244040 h 24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7318" h="244040">
                  <a:moveTo>
                    <a:pt x="106747" y="244040"/>
                  </a:moveTo>
                  <a:lnTo>
                    <a:pt x="0" y="137293"/>
                  </a:lnTo>
                  <a:lnTo>
                    <a:pt x="13468" y="123825"/>
                  </a:lnTo>
                  <a:lnTo>
                    <a:pt x="106747" y="217103"/>
                  </a:lnTo>
                  <a:lnTo>
                    <a:pt x="323850" y="0"/>
                  </a:lnTo>
                  <a:lnTo>
                    <a:pt x="337318" y="13468"/>
                  </a:lnTo>
                  <a:lnTo>
                    <a:pt x="106747" y="244040"/>
                  </a:lnTo>
                  <a:close/>
                </a:path>
              </a:pathLst>
            </a:custGeom>
            <a:solidFill>
              <a:srgbClr val="1068CF"/>
            </a:solidFill>
            <a:ln w="15875" cap="flat">
              <a:solidFill>
                <a:srgbClr val="1068CF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2" name="组合 251"/>
          <p:cNvGrpSpPr/>
          <p:nvPr/>
        </p:nvGrpSpPr>
        <p:grpSpPr>
          <a:xfrm>
            <a:off x="4484959" y="4059880"/>
            <a:ext cx="193967" cy="179007"/>
            <a:chOff x="967315" y="3084069"/>
            <a:chExt cx="179286" cy="179007"/>
          </a:xfrm>
        </p:grpSpPr>
        <p:sp>
          <p:nvSpPr>
            <p:cNvPr id="253" name="矩形: 圆角 20"/>
            <p:cNvSpPr/>
            <p:nvPr/>
          </p:nvSpPr>
          <p:spPr>
            <a:xfrm>
              <a:off x="967315" y="3084069"/>
              <a:ext cx="179286" cy="179007"/>
            </a:xfrm>
            <a:custGeom>
              <a:avLst/>
              <a:gdLst>
                <a:gd name="csX0" fmla="*/ 0 w 406400"/>
                <a:gd name="csY0" fmla="*/ 67735 h 406400"/>
                <a:gd name="csX1" fmla="*/ 67735 w 406400"/>
                <a:gd name="csY1" fmla="*/ 0 h 406400"/>
                <a:gd name="csX2" fmla="*/ 338665 w 406400"/>
                <a:gd name="csY2" fmla="*/ 0 h 406400"/>
                <a:gd name="csX3" fmla="*/ 406400 w 406400"/>
                <a:gd name="csY3" fmla="*/ 67735 h 406400"/>
                <a:gd name="csX4" fmla="*/ 406400 w 406400"/>
                <a:gd name="csY4" fmla="*/ 338665 h 406400"/>
                <a:gd name="csX5" fmla="*/ 338665 w 406400"/>
                <a:gd name="csY5" fmla="*/ 406400 h 406400"/>
                <a:gd name="csX6" fmla="*/ 67735 w 406400"/>
                <a:gd name="csY6" fmla="*/ 406400 h 406400"/>
                <a:gd name="csX7" fmla="*/ 0 w 406400"/>
                <a:gd name="csY7" fmla="*/ 338665 h 406400"/>
                <a:gd name="csX8" fmla="*/ 0 w 406400"/>
                <a:gd name="csY8" fmla="*/ 67735 h 406400"/>
                <a:gd name="csX0-1" fmla="*/ 0 w 407035"/>
                <a:gd name="csY0-2" fmla="*/ 67735 h 406400"/>
                <a:gd name="csX1-3" fmla="*/ 67735 w 407035"/>
                <a:gd name="csY1-4" fmla="*/ 0 h 406400"/>
                <a:gd name="csX2-5" fmla="*/ 338665 w 407035"/>
                <a:gd name="csY2-6" fmla="*/ 0 h 406400"/>
                <a:gd name="csX3-7" fmla="*/ 406400 w 407035"/>
                <a:gd name="csY3-8" fmla="*/ 67735 h 406400"/>
                <a:gd name="csX4-9" fmla="*/ 407035 w 407035"/>
                <a:gd name="csY4-10" fmla="*/ 68580 h 406400"/>
                <a:gd name="csX5-11" fmla="*/ 406400 w 407035"/>
                <a:gd name="csY5-12" fmla="*/ 338665 h 406400"/>
                <a:gd name="csX6-13" fmla="*/ 338665 w 407035"/>
                <a:gd name="csY6-14" fmla="*/ 406400 h 406400"/>
                <a:gd name="csX7-15" fmla="*/ 67735 w 407035"/>
                <a:gd name="csY7-16" fmla="*/ 406400 h 406400"/>
                <a:gd name="csX8-17" fmla="*/ 0 w 407035"/>
                <a:gd name="csY8-18" fmla="*/ 338665 h 406400"/>
                <a:gd name="csX9" fmla="*/ 0 w 407035"/>
                <a:gd name="csY9" fmla="*/ 67735 h 406400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  <a:cxn ang="0">
                  <a:pos x="csX8-17" y="csY8-18"/>
                </a:cxn>
                <a:cxn ang="0">
                  <a:pos x="csX9" y="csY9"/>
                </a:cxn>
              </a:cxnLst>
              <a:rect l="l" t="t" r="r" b="b"/>
              <a:pathLst>
                <a:path w="407035" h="406400">
                  <a:moveTo>
                    <a:pt x="0" y="67735"/>
                  </a:moveTo>
                  <a:cubicBezTo>
                    <a:pt x="0" y="30326"/>
                    <a:pt x="30326" y="0"/>
                    <a:pt x="67735" y="0"/>
                  </a:cubicBezTo>
                  <a:lnTo>
                    <a:pt x="338665" y="0"/>
                  </a:lnTo>
                  <a:cubicBezTo>
                    <a:pt x="376074" y="0"/>
                    <a:pt x="406400" y="30326"/>
                    <a:pt x="406400" y="67735"/>
                  </a:cubicBezTo>
                  <a:lnTo>
                    <a:pt x="407035" y="68580"/>
                  </a:lnTo>
                  <a:cubicBezTo>
                    <a:pt x="406823" y="158608"/>
                    <a:pt x="406612" y="248637"/>
                    <a:pt x="406400" y="338665"/>
                  </a:cubicBezTo>
                  <a:cubicBezTo>
                    <a:pt x="406400" y="376074"/>
                    <a:pt x="376074" y="406400"/>
                    <a:pt x="338665" y="406400"/>
                  </a:cubicBezTo>
                  <a:lnTo>
                    <a:pt x="67735" y="406400"/>
                  </a:lnTo>
                  <a:cubicBezTo>
                    <a:pt x="30326" y="406400"/>
                    <a:pt x="0" y="376074"/>
                    <a:pt x="0" y="338665"/>
                  </a:cubicBezTo>
                  <a:lnTo>
                    <a:pt x="0" y="67735"/>
                  </a:lnTo>
                  <a:close/>
                </a:path>
              </a:pathLst>
            </a:custGeom>
            <a:noFill/>
            <a:ln w="15875" cap="flat" cmpd="sng" algn="ctr">
              <a:solidFill>
                <a:srgbClr val="1068C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1003235" y="3132492"/>
              <a:ext cx="108341" cy="78382"/>
            </a:xfrm>
            <a:custGeom>
              <a:avLst/>
              <a:gdLst>
                <a:gd name="csX0" fmla="*/ 106747 w 337318"/>
                <a:gd name="csY0" fmla="*/ 244040 h 244040"/>
                <a:gd name="csX1" fmla="*/ 0 w 337318"/>
                <a:gd name="csY1" fmla="*/ 137293 h 244040"/>
                <a:gd name="csX2" fmla="*/ 13468 w 337318"/>
                <a:gd name="csY2" fmla="*/ 123825 h 244040"/>
                <a:gd name="csX3" fmla="*/ 106747 w 337318"/>
                <a:gd name="csY3" fmla="*/ 217103 h 244040"/>
                <a:gd name="csX4" fmla="*/ 323850 w 337318"/>
                <a:gd name="csY4" fmla="*/ 0 h 244040"/>
                <a:gd name="csX5" fmla="*/ 337318 w 337318"/>
                <a:gd name="csY5" fmla="*/ 13468 h 244040"/>
                <a:gd name="csX6" fmla="*/ 106747 w 337318"/>
                <a:gd name="csY6" fmla="*/ 244040 h 24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7318" h="244040">
                  <a:moveTo>
                    <a:pt x="106747" y="244040"/>
                  </a:moveTo>
                  <a:lnTo>
                    <a:pt x="0" y="137293"/>
                  </a:lnTo>
                  <a:lnTo>
                    <a:pt x="13468" y="123825"/>
                  </a:lnTo>
                  <a:lnTo>
                    <a:pt x="106747" y="217103"/>
                  </a:lnTo>
                  <a:lnTo>
                    <a:pt x="323850" y="0"/>
                  </a:lnTo>
                  <a:lnTo>
                    <a:pt x="337318" y="13468"/>
                  </a:lnTo>
                  <a:lnTo>
                    <a:pt x="106747" y="244040"/>
                  </a:lnTo>
                  <a:close/>
                </a:path>
              </a:pathLst>
            </a:custGeom>
            <a:solidFill>
              <a:srgbClr val="1068CF"/>
            </a:solidFill>
            <a:ln w="15875" cap="flat">
              <a:solidFill>
                <a:srgbClr val="1068CF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1" name="图片 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991" y="5010653"/>
            <a:ext cx="745542" cy="763894"/>
          </a:xfrm>
          <a:prstGeom prst="roundRect">
            <a:avLst>
              <a:gd name="adj" fmla="val 39087"/>
            </a:avLst>
          </a:prstGeom>
        </p:spPr>
      </p:pic>
      <p:pic>
        <p:nvPicPr>
          <p:cNvPr id="265" name="图形 2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5108759"/>
            <a:ext cx="686981" cy="604925"/>
          </a:xfrm>
          <a:prstGeom prst="rect">
            <a:avLst/>
          </a:prstGeom>
        </p:spPr>
      </p:pic>
      <p:sp>
        <p:nvSpPr>
          <p:cNvPr id="266" name="文本框 265"/>
          <p:cNvSpPr txBox="1"/>
          <p:nvPr/>
        </p:nvSpPr>
        <p:spPr>
          <a:xfrm>
            <a:off x="8286051" y="1843175"/>
            <a:ext cx="3277072" cy="40001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1000">
                      <a:schemeClr val="accent5"/>
                    </a:gs>
                    <a:gs pos="0">
                      <a:srgbClr val="1B22A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承接中汽数据战略定位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gradFill>
                <a:gsLst>
                  <a:gs pos="91000">
                    <a:schemeClr val="accent5"/>
                  </a:gs>
                  <a:gs pos="0">
                    <a:srgbClr val="1B22A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8608625" y="3292876"/>
            <a:ext cx="2938508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kern="0" dirty="0">
                <a:solidFill>
                  <a:srgbClr val="0D0D0D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沉淀三项不可替代的核心技术资产。</a:t>
            </a:r>
            <a:endParaRPr lang="zh-CN" altLang="en-US" sz="1600" kern="0" dirty="0">
              <a:solidFill>
                <a:srgbClr val="0D0D0D">
                  <a:lumMod val="90000"/>
                  <a:lumOff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kern="0" dirty="0">
                <a:solidFill>
                  <a:srgbClr val="0D0D0D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是中汽数据实现战略升级的核心抓手。</a:t>
            </a:r>
            <a:endParaRPr lang="zh-CN" altLang="en-US" sz="1600" kern="0" dirty="0">
              <a:solidFill>
                <a:srgbClr val="0D0D0D">
                  <a:lumMod val="90000"/>
                  <a:lumOff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9" name="组合 268"/>
          <p:cNvGrpSpPr/>
          <p:nvPr/>
        </p:nvGrpSpPr>
        <p:grpSpPr>
          <a:xfrm>
            <a:off x="8326066" y="3398093"/>
            <a:ext cx="193967" cy="179007"/>
            <a:chOff x="967315" y="3084069"/>
            <a:chExt cx="179286" cy="179007"/>
          </a:xfrm>
        </p:grpSpPr>
        <p:sp>
          <p:nvSpPr>
            <p:cNvPr id="270" name="矩形: 圆角 20"/>
            <p:cNvSpPr/>
            <p:nvPr/>
          </p:nvSpPr>
          <p:spPr>
            <a:xfrm>
              <a:off x="967315" y="3084069"/>
              <a:ext cx="179286" cy="179007"/>
            </a:xfrm>
            <a:custGeom>
              <a:avLst/>
              <a:gdLst>
                <a:gd name="csX0" fmla="*/ 0 w 406400"/>
                <a:gd name="csY0" fmla="*/ 67735 h 406400"/>
                <a:gd name="csX1" fmla="*/ 67735 w 406400"/>
                <a:gd name="csY1" fmla="*/ 0 h 406400"/>
                <a:gd name="csX2" fmla="*/ 338665 w 406400"/>
                <a:gd name="csY2" fmla="*/ 0 h 406400"/>
                <a:gd name="csX3" fmla="*/ 406400 w 406400"/>
                <a:gd name="csY3" fmla="*/ 67735 h 406400"/>
                <a:gd name="csX4" fmla="*/ 406400 w 406400"/>
                <a:gd name="csY4" fmla="*/ 338665 h 406400"/>
                <a:gd name="csX5" fmla="*/ 338665 w 406400"/>
                <a:gd name="csY5" fmla="*/ 406400 h 406400"/>
                <a:gd name="csX6" fmla="*/ 67735 w 406400"/>
                <a:gd name="csY6" fmla="*/ 406400 h 406400"/>
                <a:gd name="csX7" fmla="*/ 0 w 406400"/>
                <a:gd name="csY7" fmla="*/ 338665 h 406400"/>
                <a:gd name="csX8" fmla="*/ 0 w 406400"/>
                <a:gd name="csY8" fmla="*/ 67735 h 406400"/>
                <a:gd name="csX0-1" fmla="*/ 0 w 407035"/>
                <a:gd name="csY0-2" fmla="*/ 67735 h 406400"/>
                <a:gd name="csX1-3" fmla="*/ 67735 w 407035"/>
                <a:gd name="csY1-4" fmla="*/ 0 h 406400"/>
                <a:gd name="csX2-5" fmla="*/ 338665 w 407035"/>
                <a:gd name="csY2-6" fmla="*/ 0 h 406400"/>
                <a:gd name="csX3-7" fmla="*/ 406400 w 407035"/>
                <a:gd name="csY3-8" fmla="*/ 67735 h 406400"/>
                <a:gd name="csX4-9" fmla="*/ 407035 w 407035"/>
                <a:gd name="csY4-10" fmla="*/ 68580 h 406400"/>
                <a:gd name="csX5-11" fmla="*/ 406400 w 407035"/>
                <a:gd name="csY5-12" fmla="*/ 338665 h 406400"/>
                <a:gd name="csX6-13" fmla="*/ 338665 w 407035"/>
                <a:gd name="csY6-14" fmla="*/ 406400 h 406400"/>
                <a:gd name="csX7-15" fmla="*/ 67735 w 407035"/>
                <a:gd name="csY7-16" fmla="*/ 406400 h 406400"/>
                <a:gd name="csX8-17" fmla="*/ 0 w 407035"/>
                <a:gd name="csY8-18" fmla="*/ 338665 h 406400"/>
                <a:gd name="csX9" fmla="*/ 0 w 407035"/>
                <a:gd name="csY9" fmla="*/ 67735 h 406400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  <a:cxn ang="0">
                  <a:pos x="csX8-17" y="csY8-18"/>
                </a:cxn>
                <a:cxn ang="0">
                  <a:pos x="csX9" y="csY9"/>
                </a:cxn>
              </a:cxnLst>
              <a:rect l="l" t="t" r="r" b="b"/>
              <a:pathLst>
                <a:path w="407035" h="406400">
                  <a:moveTo>
                    <a:pt x="0" y="67735"/>
                  </a:moveTo>
                  <a:cubicBezTo>
                    <a:pt x="0" y="30326"/>
                    <a:pt x="30326" y="0"/>
                    <a:pt x="67735" y="0"/>
                  </a:cubicBezTo>
                  <a:lnTo>
                    <a:pt x="338665" y="0"/>
                  </a:lnTo>
                  <a:cubicBezTo>
                    <a:pt x="376074" y="0"/>
                    <a:pt x="406400" y="30326"/>
                    <a:pt x="406400" y="67735"/>
                  </a:cubicBezTo>
                  <a:lnTo>
                    <a:pt x="407035" y="68580"/>
                  </a:lnTo>
                  <a:cubicBezTo>
                    <a:pt x="406823" y="158608"/>
                    <a:pt x="406612" y="248637"/>
                    <a:pt x="406400" y="338665"/>
                  </a:cubicBezTo>
                  <a:cubicBezTo>
                    <a:pt x="406400" y="376074"/>
                    <a:pt x="376074" y="406400"/>
                    <a:pt x="338665" y="406400"/>
                  </a:cubicBezTo>
                  <a:lnTo>
                    <a:pt x="67735" y="406400"/>
                  </a:lnTo>
                  <a:cubicBezTo>
                    <a:pt x="30326" y="406400"/>
                    <a:pt x="0" y="376074"/>
                    <a:pt x="0" y="338665"/>
                  </a:cubicBezTo>
                  <a:lnTo>
                    <a:pt x="0" y="67735"/>
                  </a:lnTo>
                  <a:close/>
                </a:path>
              </a:pathLst>
            </a:custGeom>
            <a:noFill/>
            <a:ln w="15875" cap="flat" cmpd="sng" algn="ctr">
              <a:solidFill>
                <a:srgbClr val="1068C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1" name="任意多边形: 形状 270"/>
            <p:cNvSpPr/>
            <p:nvPr/>
          </p:nvSpPr>
          <p:spPr>
            <a:xfrm>
              <a:off x="1003235" y="3132492"/>
              <a:ext cx="108341" cy="78382"/>
            </a:xfrm>
            <a:custGeom>
              <a:avLst/>
              <a:gdLst>
                <a:gd name="csX0" fmla="*/ 106747 w 337318"/>
                <a:gd name="csY0" fmla="*/ 244040 h 244040"/>
                <a:gd name="csX1" fmla="*/ 0 w 337318"/>
                <a:gd name="csY1" fmla="*/ 137293 h 244040"/>
                <a:gd name="csX2" fmla="*/ 13468 w 337318"/>
                <a:gd name="csY2" fmla="*/ 123825 h 244040"/>
                <a:gd name="csX3" fmla="*/ 106747 w 337318"/>
                <a:gd name="csY3" fmla="*/ 217103 h 244040"/>
                <a:gd name="csX4" fmla="*/ 323850 w 337318"/>
                <a:gd name="csY4" fmla="*/ 0 h 244040"/>
                <a:gd name="csX5" fmla="*/ 337318 w 337318"/>
                <a:gd name="csY5" fmla="*/ 13468 h 244040"/>
                <a:gd name="csX6" fmla="*/ 106747 w 337318"/>
                <a:gd name="csY6" fmla="*/ 244040 h 24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7318" h="244040">
                  <a:moveTo>
                    <a:pt x="106747" y="244040"/>
                  </a:moveTo>
                  <a:lnTo>
                    <a:pt x="0" y="137293"/>
                  </a:lnTo>
                  <a:lnTo>
                    <a:pt x="13468" y="123825"/>
                  </a:lnTo>
                  <a:lnTo>
                    <a:pt x="106747" y="217103"/>
                  </a:lnTo>
                  <a:lnTo>
                    <a:pt x="323850" y="0"/>
                  </a:lnTo>
                  <a:lnTo>
                    <a:pt x="337318" y="13468"/>
                  </a:lnTo>
                  <a:lnTo>
                    <a:pt x="106747" y="244040"/>
                  </a:lnTo>
                  <a:close/>
                </a:path>
              </a:pathLst>
            </a:custGeom>
            <a:solidFill>
              <a:srgbClr val="1068CF"/>
            </a:solidFill>
            <a:ln w="15875" cap="flat">
              <a:solidFill>
                <a:srgbClr val="1068CF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2" name="组合 271"/>
          <p:cNvGrpSpPr/>
          <p:nvPr/>
        </p:nvGrpSpPr>
        <p:grpSpPr>
          <a:xfrm>
            <a:off x="8342324" y="4069712"/>
            <a:ext cx="193967" cy="179007"/>
            <a:chOff x="967315" y="3084069"/>
            <a:chExt cx="179286" cy="179007"/>
          </a:xfrm>
        </p:grpSpPr>
        <p:sp>
          <p:nvSpPr>
            <p:cNvPr id="273" name="矩形: 圆角 20"/>
            <p:cNvSpPr/>
            <p:nvPr/>
          </p:nvSpPr>
          <p:spPr>
            <a:xfrm>
              <a:off x="967315" y="3084069"/>
              <a:ext cx="179286" cy="179007"/>
            </a:xfrm>
            <a:custGeom>
              <a:avLst/>
              <a:gdLst>
                <a:gd name="csX0" fmla="*/ 0 w 406400"/>
                <a:gd name="csY0" fmla="*/ 67735 h 406400"/>
                <a:gd name="csX1" fmla="*/ 67735 w 406400"/>
                <a:gd name="csY1" fmla="*/ 0 h 406400"/>
                <a:gd name="csX2" fmla="*/ 338665 w 406400"/>
                <a:gd name="csY2" fmla="*/ 0 h 406400"/>
                <a:gd name="csX3" fmla="*/ 406400 w 406400"/>
                <a:gd name="csY3" fmla="*/ 67735 h 406400"/>
                <a:gd name="csX4" fmla="*/ 406400 w 406400"/>
                <a:gd name="csY4" fmla="*/ 338665 h 406400"/>
                <a:gd name="csX5" fmla="*/ 338665 w 406400"/>
                <a:gd name="csY5" fmla="*/ 406400 h 406400"/>
                <a:gd name="csX6" fmla="*/ 67735 w 406400"/>
                <a:gd name="csY6" fmla="*/ 406400 h 406400"/>
                <a:gd name="csX7" fmla="*/ 0 w 406400"/>
                <a:gd name="csY7" fmla="*/ 338665 h 406400"/>
                <a:gd name="csX8" fmla="*/ 0 w 406400"/>
                <a:gd name="csY8" fmla="*/ 67735 h 406400"/>
                <a:gd name="csX0-1" fmla="*/ 0 w 407035"/>
                <a:gd name="csY0-2" fmla="*/ 67735 h 406400"/>
                <a:gd name="csX1-3" fmla="*/ 67735 w 407035"/>
                <a:gd name="csY1-4" fmla="*/ 0 h 406400"/>
                <a:gd name="csX2-5" fmla="*/ 338665 w 407035"/>
                <a:gd name="csY2-6" fmla="*/ 0 h 406400"/>
                <a:gd name="csX3-7" fmla="*/ 406400 w 407035"/>
                <a:gd name="csY3-8" fmla="*/ 67735 h 406400"/>
                <a:gd name="csX4-9" fmla="*/ 407035 w 407035"/>
                <a:gd name="csY4-10" fmla="*/ 68580 h 406400"/>
                <a:gd name="csX5-11" fmla="*/ 406400 w 407035"/>
                <a:gd name="csY5-12" fmla="*/ 338665 h 406400"/>
                <a:gd name="csX6-13" fmla="*/ 338665 w 407035"/>
                <a:gd name="csY6-14" fmla="*/ 406400 h 406400"/>
                <a:gd name="csX7-15" fmla="*/ 67735 w 407035"/>
                <a:gd name="csY7-16" fmla="*/ 406400 h 406400"/>
                <a:gd name="csX8-17" fmla="*/ 0 w 407035"/>
                <a:gd name="csY8-18" fmla="*/ 338665 h 406400"/>
                <a:gd name="csX9" fmla="*/ 0 w 407035"/>
                <a:gd name="csY9" fmla="*/ 67735 h 406400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  <a:cxn ang="0">
                  <a:pos x="csX8-17" y="csY8-18"/>
                </a:cxn>
                <a:cxn ang="0">
                  <a:pos x="csX9" y="csY9"/>
                </a:cxn>
              </a:cxnLst>
              <a:rect l="l" t="t" r="r" b="b"/>
              <a:pathLst>
                <a:path w="407035" h="406400">
                  <a:moveTo>
                    <a:pt x="0" y="67735"/>
                  </a:moveTo>
                  <a:cubicBezTo>
                    <a:pt x="0" y="30326"/>
                    <a:pt x="30326" y="0"/>
                    <a:pt x="67735" y="0"/>
                  </a:cubicBezTo>
                  <a:lnTo>
                    <a:pt x="338665" y="0"/>
                  </a:lnTo>
                  <a:cubicBezTo>
                    <a:pt x="376074" y="0"/>
                    <a:pt x="406400" y="30326"/>
                    <a:pt x="406400" y="67735"/>
                  </a:cubicBezTo>
                  <a:lnTo>
                    <a:pt x="407035" y="68580"/>
                  </a:lnTo>
                  <a:cubicBezTo>
                    <a:pt x="406823" y="158608"/>
                    <a:pt x="406612" y="248637"/>
                    <a:pt x="406400" y="338665"/>
                  </a:cubicBezTo>
                  <a:cubicBezTo>
                    <a:pt x="406400" y="376074"/>
                    <a:pt x="376074" y="406400"/>
                    <a:pt x="338665" y="406400"/>
                  </a:cubicBezTo>
                  <a:lnTo>
                    <a:pt x="67735" y="406400"/>
                  </a:lnTo>
                  <a:cubicBezTo>
                    <a:pt x="30326" y="406400"/>
                    <a:pt x="0" y="376074"/>
                    <a:pt x="0" y="338665"/>
                  </a:cubicBezTo>
                  <a:lnTo>
                    <a:pt x="0" y="67735"/>
                  </a:lnTo>
                  <a:close/>
                </a:path>
              </a:pathLst>
            </a:custGeom>
            <a:noFill/>
            <a:ln w="15875" cap="flat" cmpd="sng" algn="ctr">
              <a:solidFill>
                <a:srgbClr val="1068C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4" name="任意多边形: 形状 273"/>
            <p:cNvSpPr/>
            <p:nvPr/>
          </p:nvSpPr>
          <p:spPr>
            <a:xfrm>
              <a:off x="1003235" y="3132492"/>
              <a:ext cx="108341" cy="78382"/>
            </a:xfrm>
            <a:custGeom>
              <a:avLst/>
              <a:gdLst>
                <a:gd name="csX0" fmla="*/ 106747 w 337318"/>
                <a:gd name="csY0" fmla="*/ 244040 h 244040"/>
                <a:gd name="csX1" fmla="*/ 0 w 337318"/>
                <a:gd name="csY1" fmla="*/ 137293 h 244040"/>
                <a:gd name="csX2" fmla="*/ 13468 w 337318"/>
                <a:gd name="csY2" fmla="*/ 123825 h 244040"/>
                <a:gd name="csX3" fmla="*/ 106747 w 337318"/>
                <a:gd name="csY3" fmla="*/ 217103 h 244040"/>
                <a:gd name="csX4" fmla="*/ 323850 w 337318"/>
                <a:gd name="csY4" fmla="*/ 0 h 244040"/>
                <a:gd name="csX5" fmla="*/ 337318 w 337318"/>
                <a:gd name="csY5" fmla="*/ 13468 h 244040"/>
                <a:gd name="csX6" fmla="*/ 106747 w 337318"/>
                <a:gd name="csY6" fmla="*/ 244040 h 244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7318" h="244040">
                  <a:moveTo>
                    <a:pt x="106747" y="244040"/>
                  </a:moveTo>
                  <a:lnTo>
                    <a:pt x="0" y="137293"/>
                  </a:lnTo>
                  <a:lnTo>
                    <a:pt x="13468" y="123825"/>
                  </a:lnTo>
                  <a:lnTo>
                    <a:pt x="106747" y="217103"/>
                  </a:lnTo>
                  <a:lnTo>
                    <a:pt x="323850" y="0"/>
                  </a:lnTo>
                  <a:lnTo>
                    <a:pt x="337318" y="13468"/>
                  </a:lnTo>
                  <a:lnTo>
                    <a:pt x="106747" y="244040"/>
                  </a:lnTo>
                  <a:close/>
                </a:path>
              </a:pathLst>
            </a:custGeom>
            <a:solidFill>
              <a:srgbClr val="1068CF"/>
            </a:solidFill>
            <a:ln w="15875" cap="flat">
              <a:solidFill>
                <a:srgbClr val="1068CF"/>
              </a:solidFill>
              <a:prstDash val="solid"/>
              <a:round/>
            </a:ln>
          </p:spPr>
          <p:txBody>
            <a:bodyPr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76" name="图形 27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lum contrast="4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03469" y="5060276"/>
            <a:ext cx="1362268" cy="786880"/>
          </a:xfrm>
          <a:prstGeom prst="rect">
            <a:avLst/>
          </a:prstGeom>
        </p:spPr>
      </p:pic>
      <p:grpSp>
        <p:nvGrpSpPr>
          <p:cNvPr id="277" name="组合 276"/>
          <p:cNvGrpSpPr/>
          <p:nvPr/>
        </p:nvGrpSpPr>
        <p:grpSpPr>
          <a:xfrm>
            <a:off x="8933358" y="5167932"/>
            <a:ext cx="2037488" cy="861692"/>
            <a:chOff x="1467569" y="5107549"/>
            <a:chExt cx="1883275" cy="861692"/>
          </a:xfrm>
        </p:grpSpPr>
        <p:sp>
          <p:nvSpPr>
            <p:cNvPr id="278" name="椭圆 277"/>
            <p:cNvSpPr/>
            <p:nvPr/>
          </p:nvSpPr>
          <p:spPr>
            <a:xfrm>
              <a:off x="1779626" y="5445377"/>
              <a:ext cx="1259161" cy="444737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11000">
                    <a:srgbClr val="1068CF">
                      <a:alpha val="0"/>
                    </a:srgbClr>
                  </a:gs>
                  <a:gs pos="100000">
                    <a:srgbClr val="1068CF">
                      <a:alpha val="8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9" name="椭圆 278"/>
            <p:cNvSpPr/>
            <p:nvPr/>
          </p:nvSpPr>
          <p:spPr>
            <a:xfrm>
              <a:off x="1467569" y="5107549"/>
              <a:ext cx="1883275" cy="665174"/>
            </a:xfrm>
            <a:prstGeom prst="ellipse">
              <a:avLst/>
            </a:prstGeom>
            <a:noFill/>
            <a:ln w="9525" cap="flat" cmpd="sng" algn="ctr">
              <a:gradFill>
                <a:gsLst>
                  <a:gs pos="0">
                    <a:srgbClr val="1068CF">
                      <a:alpha val="0"/>
                    </a:srgbClr>
                  </a:gs>
                  <a:gs pos="100000">
                    <a:srgbClr val="1068CF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0" name="椭圆 279"/>
            <p:cNvSpPr/>
            <p:nvPr/>
          </p:nvSpPr>
          <p:spPr>
            <a:xfrm>
              <a:off x="1693401" y="5284042"/>
              <a:ext cx="1454717" cy="417773"/>
            </a:xfrm>
            <a:prstGeom prst="ellipse">
              <a:avLst/>
            </a:prstGeom>
            <a:gradFill>
              <a:gsLst>
                <a:gs pos="15000">
                  <a:srgbClr val="1068CF">
                    <a:alpha val="0"/>
                  </a:srgbClr>
                </a:gs>
                <a:gs pos="100000">
                  <a:srgbClr val="1068CF">
                    <a:alpha val="20000"/>
                  </a:srgbClr>
                </a:gs>
              </a:gsLst>
              <a:lin ang="5400000" scaled="1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1" name="椭圆 280"/>
            <p:cNvSpPr/>
            <p:nvPr/>
          </p:nvSpPr>
          <p:spPr>
            <a:xfrm>
              <a:off x="1639256" y="5417186"/>
              <a:ext cx="1563007" cy="552055"/>
            </a:xfrm>
            <a:prstGeom prst="ellipse">
              <a:avLst/>
            </a:prstGeom>
            <a:noFill/>
            <a:ln w="3175" cap="flat" cmpd="sng" algn="ctr">
              <a:gradFill>
                <a:gsLst>
                  <a:gs pos="6000">
                    <a:srgbClr val="1068CF">
                      <a:alpha val="0"/>
                    </a:srgbClr>
                  </a:gs>
                  <a:gs pos="100000">
                    <a:srgbClr val="1068CF">
                      <a:alpha val="3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5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63966" y="684596"/>
            <a:ext cx="4450080" cy="501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项目背景及必要性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研究内容与创新点</a:t>
            </a:r>
            <a:endParaRPr lang="en-US" altLang="zh-CN" sz="3200" dirty="0">
              <a:solidFill>
                <a:srgbClr val="2A41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项目考核指标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经费及实施周期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预期成果和转化预期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cs typeface="微软雅黑" panose="020B0503020204020204" pitchFamily="34" charset="-122"/>
              </a:rPr>
              <a:t>研究目标：分层突破三大技术难点，构建端到端决策智能体</a:t>
            </a:r>
            <a:endParaRPr>
              <a:cs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94690" y="4860290"/>
            <a:ext cx="10810240" cy="1587500"/>
            <a:chOff x="1170" y="2584"/>
            <a:chExt cx="17024" cy="2500"/>
          </a:xfrm>
        </p:grpSpPr>
        <p:sp>
          <p:nvSpPr>
            <p:cNvPr id="3" name="AutoShape 3"/>
            <p:cNvSpPr/>
            <p:nvPr>
              <p:custDataLst>
                <p:tags r:id="rId1"/>
              </p:custDataLst>
            </p:nvPr>
          </p:nvSpPr>
          <p:spPr>
            <a:xfrm>
              <a:off x="1200" y="2584"/>
              <a:ext cx="16800" cy="2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AutoShape 5"/>
            <p:cNvSpPr/>
            <p:nvPr>
              <p:custDataLst>
                <p:tags r:id="rId2"/>
              </p:custDataLst>
            </p:nvPr>
          </p:nvSpPr>
          <p:spPr>
            <a:xfrm>
              <a:off x="1700" y="2784"/>
              <a:ext cx="5550" cy="2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目标</a:t>
              </a:r>
              <a:r>
                <a:rPr lang="en-US" altLang="zh-CN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3</a:t>
              </a:r>
              <a:r>
                <a:rPr lang="zh-CN" alt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：</a:t>
              </a:r>
              <a:r>
                <a:rPr 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决策智能体</a:t>
              </a:r>
              <a:endParaRPr 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0" algn="ctr">
                <a:lnSpc>
                  <a:spcPct val="108000"/>
                </a:lnSpc>
                <a:spcBef>
                  <a:spcPts val="800"/>
                </a:spcBef>
              </a:pPr>
              <a:r>
                <a:rPr 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决策出口</a:t>
              </a: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</p:txBody>
        </p:sp>
        <p:sp>
          <p:nvSpPr>
            <p:cNvPr id="20" name="AutoShape 7"/>
            <p:cNvSpPr/>
            <p:nvPr>
              <p:custDataLst>
                <p:tags r:id="rId3"/>
              </p:custDataLst>
            </p:nvPr>
          </p:nvSpPr>
          <p:spPr>
            <a:xfrm>
              <a:off x="8392" y="2784"/>
              <a:ext cx="9803" cy="2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核心任务：</a:t>
              </a:r>
              <a:r>
                <a:rPr lang="zh-CN" altLang="en-US" sz="1400" b="0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构建大模型调度+专用模型执行的协同架构，实现端到端决策交付。</a:t>
              </a:r>
              <a:endParaRPr lang="zh-CN" altLang="en-US" sz="14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  <a:defRPr/>
              </a:pP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目标：</a:t>
              </a:r>
              <a:r>
                <a:rPr lang="en-US" sz="1200" b="0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通过自然语言交互，自动完成任务拆解、调度与结果整合，输出决策建议。</a:t>
              </a:r>
              <a:endParaRPr 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</p:txBody>
        </p:sp>
        <p:sp>
          <p:nvSpPr>
            <p:cNvPr id="21" name="AutoShape 9"/>
            <p:cNvSpPr/>
            <p:nvPr>
              <p:custDataLst>
                <p:tags r:id="rId4"/>
              </p:custDataLst>
            </p:nvPr>
          </p:nvSpPr>
          <p:spPr>
            <a:xfrm>
              <a:off x="1170" y="2584"/>
              <a:ext cx="246" cy="25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0"/>
            <p:cNvSpPr/>
            <p:nvPr/>
          </p:nvSpPr>
          <p:spPr>
            <a:xfrm rot="5400000">
              <a:off x="6311" y="3608"/>
              <a:ext cx="2209" cy="454"/>
            </a:xfrm>
            <a:custGeom>
              <a:avLst/>
              <a:gdLst>
                <a:gd name="connsiteX0" fmla="*/ 202633 w 416172"/>
                <a:gd name="connsiteY0" fmla="*/ 0 h 485927"/>
                <a:gd name="connsiteX1" fmla="*/ 374083 w 416172"/>
                <a:gd name="connsiteY1" fmla="*/ 157551 h 485927"/>
                <a:gd name="connsiteX2" fmla="*/ 294275 w 416172"/>
                <a:gd name="connsiteY2" fmla="*/ 157551 h 485927"/>
                <a:gd name="connsiteX3" fmla="*/ 306015 w 416172"/>
                <a:gd name="connsiteY3" fmla="*/ 222549 h 485927"/>
                <a:gd name="connsiteX4" fmla="*/ 416172 w 416172"/>
                <a:gd name="connsiteY4" fmla="*/ 485927 h 485927"/>
                <a:gd name="connsiteX5" fmla="*/ 0 w 416172"/>
                <a:gd name="connsiteY5" fmla="*/ 485927 h 485927"/>
                <a:gd name="connsiteX6" fmla="*/ 112166 w 416172"/>
                <a:gd name="connsiteY6" fmla="*/ 219870 h 485927"/>
                <a:gd name="connsiteX7" fmla="*/ 122329 w 416172"/>
                <a:gd name="connsiteY7" fmla="*/ 157551 h 485927"/>
                <a:gd name="connsiteX8" fmla="*/ 31183 w 416172"/>
                <a:gd name="connsiteY8" fmla="*/ 157551 h 485927"/>
                <a:gd name="connsiteX9" fmla="*/ 202633 w 416172"/>
                <a:gd name="connsiteY9" fmla="*/ 0 h 485927"/>
                <a:gd name="connsiteX0-1" fmla="*/ 202633 w 416172"/>
                <a:gd name="connsiteY0-2" fmla="*/ 0 h 485927"/>
                <a:gd name="connsiteX1-3" fmla="*/ 374083 w 416172"/>
                <a:gd name="connsiteY1-4" fmla="*/ 157551 h 485927"/>
                <a:gd name="connsiteX2-5" fmla="*/ 294275 w 416172"/>
                <a:gd name="connsiteY2-6" fmla="*/ 157551 h 485927"/>
                <a:gd name="connsiteX3-7" fmla="*/ 306015 w 416172"/>
                <a:gd name="connsiteY3-8" fmla="*/ 222549 h 485927"/>
                <a:gd name="connsiteX4-9" fmla="*/ 416172 w 416172"/>
                <a:gd name="connsiteY4-10" fmla="*/ 485927 h 485927"/>
                <a:gd name="connsiteX5-11" fmla="*/ 0 w 416172"/>
                <a:gd name="connsiteY5-12" fmla="*/ 485927 h 485927"/>
                <a:gd name="connsiteX6-13" fmla="*/ 112166 w 416172"/>
                <a:gd name="connsiteY6-14" fmla="*/ 219870 h 485927"/>
                <a:gd name="connsiteX7-15" fmla="*/ 122329 w 416172"/>
                <a:gd name="connsiteY7-16" fmla="*/ 157551 h 485927"/>
                <a:gd name="connsiteX8-17" fmla="*/ 58023 w 416172"/>
                <a:gd name="connsiteY8-18" fmla="*/ 160421 h 485927"/>
                <a:gd name="connsiteX9-19" fmla="*/ 202633 w 416172"/>
                <a:gd name="connsiteY9-20" fmla="*/ 0 h 485927"/>
                <a:gd name="connsiteX0-21" fmla="*/ 202633 w 416172"/>
                <a:gd name="connsiteY0-22" fmla="*/ 0 h 485927"/>
                <a:gd name="connsiteX1-23" fmla="*/ 374083 w 416172"/>
                <a:gd name="connsiteY1-24" fmla="*/ 157551 h 485927"/>
                <a:gd name="connsiteX2-25" fmla="*/ 294275 w 416172"/>
                <a:gd name="connsiteY2-26" fmla="*/ 157551 h 485927"/>
                <a:gd name="connsiteX3-27" fmla="*/ 306015 w 416172"/>
                <a:gd name="connsiteY3-28" fmla="*/ 222549 h 485927"/>
                <a:gd name="connsiteX4-29" fmla="*/ 416172 w 416172"/>
                <a:gd name="connsiteY4-30" fmla="*/ 485927 h 485927"/>
                <a:gd name="connsiteX5-31" fmla="*/ 0 w 416172"/>
                <a:gd name="connsiteY5-32" fmla="*/ 485927 h 485927"/>
                <a:gd name="connsiteX6-33" fmla="*/ 112166 w 416172"/>
                <a:gd name="connsiteY6-34" fmla="*/ 219870 h 485927"/>
                <a:gd name="connsiteX7-35" fmla="*/ 122329 w 416172"/>
                <a:gd name="connsiteY7-36" fmla="*/ 157551 h 485927"/>
                <a:gd name="connsiteX8-37" fmla="*/ 58023 w 416172"/>
                <a:gd name="connsiteY8-38" fmla="*/ 160421 h 485927"/>
                <a:gd name="connsiteX9-39" fmla="*/ 202633 w 416172"/>
                <a:gd name="connsiteY9-40" fmla="*/ 0 h 485927"/>
                <a:gd name="connsiteX0-41" fmla="*/ 202633 w 416172"/>
                <a:gd name="connsiteY0-42" fmla="*/ 0 h 485927"/>
                <a:gd name="connsiteX1-43" fmla="*/ 348858 w 416172"/>
                <a:gd name="connsiteY1-44" fmla="*/ 157551 h 485927"/>
                <a:gd name="connsiteX2-45" fmla="*/ 294275 w 416172"/>
                <a:gd name="connsiteY2-46" fmla="*/ 157551 h 485927"/>
                <a:gd name="connsiteX3-47" fmla="*/ 306015 w 416172"/>
                <a:gd name="connsiteY3-48" fmla="*/ 222549 h 485927"/>
                <a:gd name="connsiteX4-49" fmla="*/ 416172 w 416172"/>
                <a:gd name="connsiteY4-50" fmla="*/ 485927 h 485927"/>
                <a:gd name="connsiteX5-51" fmla="*/ 0 w 416172"/>
                <a:gd name="connsiteY5-52" fmla="*/ 485927 h 485927"/>
                <a:gd name="connsiteX6-53" fmla="*/ 112166 w 416172"/>
                <a:gd name="connsiteY6-54" fmla="*/ 219870 h 485927"/>
                <a:gd name="connsiteX7-55" fmla="*/ 122329 w 416172"/>
                <a:gd name="connsiteY7-56" fmla="*/ 157551 h 485927"/>
                <a:gd name="connsiteX8-57" fmla="*/ 58023 w 416172"/>
                <a:gd name="connsiteY8-58" fmla="*/ 160421 h 485927"/>
                <a:gd name="connsiteX9-59" fmla="*/ 202633 w 416172"/>
                <a:gd name="connsiteY9-60" fmla="*/ 0 h 485927"/>
                <a:gd name="connsiteX0-61" fmla="*/ 202633 w 416172"/>
                <a:gd name="connsiteY0-62" fmla="*/ 0 h 485927"/>
                <a:gd name="connsiteX1-63" fmla="*/ 348858 w 416172"/>
                <a:gd name="connsiteY1-64" fmla="*/ 157551 h 485927"/>
                <a:gd name="connsiteX2-65" fmla="*/ 294275 w 416172"/>
                <a:gd name="connsiteY2-66" fmla="*/ 157551 h 485927"/>
                <a:gd name="connsiteX3-67" fmla="*/ 306015 w 416172"/>
                <a:gd name="connsiteY3-68" fmla="*/ 222549 h 485927"/>
                <a:gd name="connsiteX4-69" fmla="*/ 416172 w 416172"/>
                <a:gd name="connsiteY4-70" fmla="*/ 485927 h 485927"/>
                <a:gd name="connsiteX5-71" fmla="*/ 0 w 416172"/>
                <a:gd name="connsiteY5-72" fmla="*/ 485927 h 485927"/>
                <a:gd name="connsiteX6-73" fmla="*/ 112166 w 416172"/>
                <a:gd name="connsiteY6-74" fmla="*/ 219870 h 485927"/>
                <a:gd name="connsiteX7-75" fmla="*/ 122329 w 416172"/>
                <a:gd name="connsiteY7-76" fmla="*/ 157551 h 485927"/>
                <a:gd name="connsiteX8-77" fmla="*/ 58023 w 416172"/>
                <a:gd name="connsiteY8-78" fmla="*/ 160421 h 485927"/>
                <a:gd name="connsiteX9-79" fmla="*/ 202633 w 416172"/>
                <a:gd name="connsiteY9-80" fmla="*/ 0 h 485927"/>
                <a:gd name="connsiteX0-81" fmla="*/ 202633 w 416172"/>
                <a:gd name="connsiteY0-82" fmla="*/ 0 h 485927"/>
                <a:gd name="connsiteX1-83" fmla="*/ 348858 w 416172"/>
                <a:gd name="connsiteY1-84" fmla="*/ 157551 h 485927"/>
                <a:gd name="connsiteX2-85" fmla="*/ 294275 w 416172"/>
                <a:gd name="connsiteY2-86" fmla="*/ 157551 h 485927"/>
                <a:gd name="connsiteX3-87" fmla="*/ 306015 w 416172"/>
                <a:gd name="connsiteY3-88" fmla="*/ 222549 h 485927"/>
                <a:gd name="connsiteX4-89" fmla="*/ 416172 w 416172"/>
                <a:gd name="connsiteY4-90" fmla="*/ 485927 h 485927"/>
                <a:gd name="connsiteX5-91" fmla="*/ 0 w 416172"/>
                <a:gd name="connsiteY5-92" fmla="*/ 485927 h 485927"/>
                <a:gd name="connsiteX6-93" fmla="*/ 112166 w 416172"/>
                <a:gd name="connsiteY6-94" fmla="*/ 219870 h 485927"/>
                <a:gd name="connsiteX7-95" fmla="*/ 122329 w 416172"/>
                <a:gd name="connsiteY7-96" fmla="*/ 157551 h 485927"/>
                <a:gd name="connsiteX8-97" fmla="*/ 71717 w 416172"/>
                <a:gd name="connsiteY8-98" fmla="*/ 159265 h 485927"/>
                <a:gd name="connsiteX9-99" fmla="*/ 202633 w 416172"/>
                <a:gd name="connsiteY9-100" fmla="*/ 0 h 485927"/>
                <a:gd name="connsiteX0-101" fmla="*/ 202633 w 416172"/>
                <a:gd name="connsiteY0-102" fmla="*/ 0 h 485927"/>
                <a:gd name="connsiteX1-103" fmla="*/ 348858 w 416172"/>
                <a:gd name="connsiteY1-104" fmla="*/ 157551 h 485927"/>
                <a:gd name="connsiteX2-105" fmla="*/ 294275 w 416172"/>
                <a:gd name="connsiteY2-106" fmla="*/ 157551 h 485927"/>
                <a:gd name="connsiteX3-107" fmla="*/ 306015 w 416172"/>
                <a:gd name="connsiteY3-108" fmla="*/ 222549 h 485927"/>
                <a:gd name="connsiteX4-109" fmla="*/ 416172 w 416172"/>
                <a:gd name="connsiteY4-110" fmla="*/ 485927 h 485927"/>
                <a:gd name="connsiteX5-111" fmla="*/ 0 w 416172"/>
                <a:gd name="connsiteY5-112" fmla="*/ 485927 h 485927"/>
                <a:gd name="connsiteX6-113" fmla="*/ 112166 w 416172"/>
                <a:gd name="connsiteY6-114" fmla="*/ 219870 h 485927"/>
                <a:gd name="connsiteX7-115" fmla="*/ 122329 w 416172"/>
                <a:gd name="connsiteY7-116" fmla="*/ 157551 h 485927"/>
                <a:gd name="connsiteX8-117" fmla="*/ 71717 w 416172"/>
                <a:gd name="connsiteY8-118" fmla="*/ 159265 h 485927"/>
                <a:gd name="connsiteX9-119" fmla="*/ 202633 w 416172"/>
                <a:gd name="connsiteY9-120" fmla="*/ 0 h 485927"/>
                <a:gd name="connsiteX0-121" fmla="*/ 202633 w 416172"/>
                <a:gd name="connsiteY0-122" fmla="*/ 0 h 485927"/>
                <a:gd name="connsiteX1-123" fmla="*/ 348858 w 416172"/>
                <a:gd name="connsiteY1-124" fmla="*/ 157551 h 485927"/>
                <a:gd name="connsiteX2-125" fmla="*/ 294275 w 416172"/>
                <a:gd name="connsiteY2-126" fmla="*/ 157551 h 485927"/>
                <a:gd name="connsiteX3-127" fmla="*/ 306015 w 416172"/>
                <a:gd name="connsiteY3-128" fmla="*/ 222549 h 485927"/>
                <a:gd name="connsiteX4-129" fmla="*/ 416172 w 416172"/>
                <a:gd name="connsiteY4-130" fmla="*/ 485927 h 485927"/>
                <a:gd name="connsiteX5-131" fmla="*/ 0 w 416172"/>
                <a:gd name="connsiteY5-132" fmla="*/ 485927 h 485927"/>
                <a:gd name="connsiteX6-133" fmla="*/ 112166 w 416172"/>
                <a:gd name="connsiteY6-134" fmla="*/ 219870 h 485927"/>
                <a:gd name="connsiteX7-135" fmla="*/ 122329 w 416172"/>
                <a:gd name="connsiteY7-136" fmla="*/ 157551 h 485927"/>
                <a:gd name="connsiteX8-137" fmla="*/ 71717 w 416172"/>
                <a:gd name="connsiteY8-138" fmla="*/ 159265 h 485927"/>
                <a:gd name="connsiteX9-139" fmla="*/ 202633 w 416172"/>
                <a:gd name="connsiteY9-140" fmla="*/ 0 h 485927"/>
                <a:gd name="connsiteX0-141" fmla="*/ 202633 w 416172"/>
                <a:gd name="connsiteY0-142" fmla="*/ 0 h 485927"/>
                <a:gd name="connsiteX1-143" fmla="*/ 348858 w 416172"/>
                <a:gd name="connsiteY1-144" fmla="*/ 157551 h 485927"/>
                <a:gd name="connsiteX2-145" fmla="*/ 294275 w 416172"/>
                <a:gd name="connsiteY2-146" fmla="*/ 157551 h 485927"/>
                <a:gd name="connsiteX3-147" fmla="*/ 306015 w 416172"/>
                <a:gd name="connsiteY3-148" fmla="*/ 222549 h 485927"/>
                <a:gd name="connsiteX4-149" fmla="*/ 416172 w 416172"/>
                <a:gd name="connsiteY4-150" fmla="*/ 485927 h 485927"/>
                <a:gd name="connsiteX5-151" fmla="*/ 0 w 416172"/>
                <a:gd name="connsiteY5-152" fmla="*/ 485927 h 485927"/>
                <a:gd name="connsiteX6-153" fmla="*/ 112166 w 416172"/>
                <a:gd name="connsiteY6-154" fmla="*/ 219870 h 485927"/>
                <a:gd name="connsiteX7-155" fmla="*/ 122329 w 416172"/>
                <a:gd name="connsiteY7-156" fmla="*/ 157551 h 485927"/>
                <a:gd name="connsiteX8-157" fmla="*/ 71717 w 416172"/>
                <a:gd name="connsiteY8-158" fmla="*/ 159265 h 485927"/>
                <a:gd name="connsiteX9-159" fmla="*/ 202633 w 416172"/>
                <a:gd name="connsiteY9-160" fmla="*/ 0 h 485927"/>
                <a:gd name="connsiteX0-161" fmla="*/ 202633 w 416172"/>
                <a:gd name="connsiteY0-162" fmla="*/ 0 h 485927"/>
                <a:gd name="connsiteX1-163" fmla="*/ 348858 w 416172"/>
                <a:gd name="connsiteY1-164" fmla="*/ 157551 h 485927"/>
                <a:gd name="connsiteX2-165" fmla="*/ 294275 w 416172"/>
                <a:gd name="connsiteY2-166" fmla="*/ 157551 h 485927"/>
                <a:gd name="connsiteX3-167" fmla="*/ 306015 w 416172"/>
                <a:gd name="connsiteY3-168" fmla="*/ 222549 h 485927"/>
                <a:gd name="connsiteX4-169" fmla="*/ 416172 w 416172"/>
                <a:gd name="connsiteY4-170" fmla="*/ 485927 h 485927"/>
                <a:gd name="connsiteX5-171" fmla="*/ 0 w 416172"/>
                <a:gd name="connsiteY5-172" fmla="*/ 485927 h 485927"/>
                <a:gd name="connsiteX6-173" fmla="*/ 112166 w 416172"/>
                <a:gd name="connsiteY6-174" fmla="*/ 219870 h 485927"/>
                <a:gd name="connsiteX7-175" fmla="*/ 122329 w 416172"/>
                <a:gd name="connsiteY7-176" fmla="*/ 157551 h 485927"/>
                <a:gd name="connsiteX8-177" fmla="*/ 71717 w 416172"/>
                <a:gd name="connsiteY8-178" fmla="*/ 159265 h 485927"/>
                <a:gd name="connsiteX9-179" fmla="*/ 202633 w 416172"/>
                <a:gd name="connsiteY9-180" fmla="*/ 0 h 485927"/>
                <a:gd name="connsiteX0-181" fmla="*/ 202633 w 416172"/>
                <a:gd name="connsiteY0-182" fmla="*/ 0 h 485927"/>
                <a:gd name="connsiteX1-183" fmla="*/ 348858 w 416172"/>
                <a:gd name="connsiteY1-184" fmla="*/ 157551 h 485927"/>
                <a:gd name="connsiteX2-185" fmla="*/ 294275 w 416172"/>
                <a:gd name="connsiteY2-186" fmla="*/ 157551 h 485927"/>
                <a:gd name="connsiteX3-187" fmla="*/ 306015 w 416172"/>
                <a:gd name="connsiteY3-188" fmla="*/ 222549 h 485927"/>
                <a:gd name="connsiteX4-189" fmla="*/ 416172 w 416172"/>
                <a:gd name="connsiteY4-190" fmla="*/ 485927 h 485927"/>
                <a:gd name="connsiteX5-191" fmla="*/ 0 w 416172"/>
                <a:gd name="connsiteY5-192" fmla="*/ 485927 h 485927"/>
                <a:gd name="connsiteX6-193" fmla="*/ 112166 w 416172"/>
                <a:gd name="connsiteY6-194" fmla="*/ 219870 h 485927"/>
                <a:gd name="connsiteX7-195" fmla="*/ 122329 w 416172"/>
                <a:gd name="connsiteY7-196" fmla="*/ 157551 h 485927"/>
                <a:gd name="connsiteX8-197" fmla="*/ 71717 w 416172"/>
                <a:gd name="connsiteY8-198" fmla="*/ 159265 h 485927"/>
                <a:gd name="connsiteX9-199" fmla="*/ 202633 w 416172"/>
                <a:gd name="connsiteY9-200" fmla="*/ 0 h 485927"/>
                <a:gd name="connsiteX0-201" fmla="*/ 202633 w 416172"/>
                <a:gd name="connsiteY0-202" fmla="*/ 0 h 485927"/>
                <a:gd name="connsiteX1-203" fmla="*/ 348858 w 416172"/>
                <a:gd name="connsiteY1-204" fmla="*/ 157551 h 485927"/>
                <a:gd name="connsiteX2-205" fmla="*/ 294275 w 416172"/>
                <a:gd name="connsiteY2-206" fmla="*/ 157551 h 485927"/>
                <a:gd name="connsiteX3-207" fmla="*/ 306015 w 416172"/>
                <a:gd name="connsiteY3-208" fmla="*/ 222549 h 485927"/>
                <a:gd name="connsiteX4-209" fmla="*/ 416172 w 416172"/>
                <a:gd name="connsiteY4-210" fmla="*/ 485927 h 485927"/>
                <a:gd name="connsiteX5-211" fmla="*/ 0 w 416172"/>
                <a:gd name="connsiteY5-212" fmla="*/ 485927 h 485927"/>
                <a:gd name="connsiteX6-213" fmla="*/ 112166 w 416172"/>
                <a:gd name="connsiteY6-214" fmla="*/ 219870 h 485927"/>
                <a:gd name="connsiteX7-215" fmla="*/ 122329 w 416172"/>
                <a:gd name="connsiteY7-216" fmla="*/ 157551 h 485927"/>
                <a:gd name="connsiteX8-217" fmla="*/ 71717 w 416172"/>
                <a:gd name="connsiteY8-218" fmla="*/ 159265 h 485927"/>
                <a:gd name="connsiteX9-219" fmla="*/ 202633 w 416172"/>
                <a:gd name="connsiteY9-220" fmla="*/ 0 h 485927"/>
                <a:gd name="csX0" fmla="*/ 205405 w 416172"/>
                <a:gd name="csY0" fmla="*/ 0 h 485573"/>
                <a:gd name="csX1" fmla="*/ 348858 w 416172"/>
                <a:gd name="csY1" fmla="*/ 157197 h 485573"/>
                <a:gd name="csX2" fmla="*/ 294275 w 416172"/>
                <a:gd name="csY2" fmla="*/ 157197 h 485573"/>
                <a:gd name="csX3" fmla="*/ 306015 w 416172"/>
                <a:gd name="csY3" fmla="*/ 222195 h 485573"/>
                <a:gd name="csX4" fmla="*/ 416172 w 416172"/>
                <a:gd name="csY4" fmla="*/ 485573 h 485573"/>
                <a:gd name="csX5" fmla="*/ 0 w 416172"/>
                <a:gd name="csY5" fmla="*/ 485573 h 485573"/>
                <a:gd name="csX6" fmla="*/ 112166 w 416172"/>
                <a:gd name="csY6" fmla="*/ 219516 h 485573"/>
                <a:gd name="csX7" fmla="*/ 122329 w 416172"/>
                <a:gd name="csY7" fmla="*/ 157197 h 485573"/>
                <a:gd name="csX8" fmla="*/ 71717 w 416172"/>
                <a:gd name="csY8" fmla="*/ 158911 h 485573"/>
                <a:gd name="csX9" fmla="*/ 205405 w 416172"/>
                <a:gd name="csY9" fmla="*/ 0 h 485573"/>
                <a:gd name="csX0-1" fmla="*/ 205405 w 416172"/>
                <a:gd name="csY0-2" fmla="*/ 0 h 485573"/>
                <a:gd name="csX1-3" fmla="*/ 348858 w 416172"/>
                <a:gd name="csY1-4" fmla="*/ 157197 h 485573"/>
                <a:gd name="csX2-5" fmla="*/ 294275 w 416172"/>
                <a:gd name="csY2-6" fmla="*/ 157197 h 485573"/>
                <a:gd name="csX3-7" fmla="*/ 306015 w 416172"/>
                <a:gd name="csY3-8" fmla="*/ 222195 h 485573"/>
                <a:gd name="csX4-9" fmla="*/ 416172 w 416172"/>
                <a:gd name="csY4-10" fmla="*/ 485573 h 485573"/>
                <a:gd name="csX5-11" fmla="*/ 0 w 416172"/>
                <a:gd name="csY5-12" fmla="*/ 485573 h 485573"/>
                <a:gd name="csX6-13" fmla="*/ 112166 w 416172"/>
                <a:gd name="csY6-14" fmla="*/ 219516 h 485573"/>
                <a:gd name="csX7-15" fmla="*/ 122329 w 416172"/>
                <a:gd name="csY7-16" fmla="*/ 157197 h 485573"/>
                <a:gd name="csX8-17" fmla="*/ 71717 w 416172"/>
                <a:gd name="csY8-18" fmla="*/ 158911 h 485573"/>
                <a:gd name="csX9-19" fmla="*/ 205405 w 416172"/>
                <a:gd name="csY9-20" fmla="*/ 0 h 485573"/>
                <a:gd name="csX0-21" fmla="*/ 205405 w 416172"/>
                <a:gd name="csY0-22" fmla="*/ 0 h 485573"/>
                <a:gd name="csX1-23" fmla="*/ 348858 w 416172"/>
                <a:gd name="csY1-24" fmla="*/ 157197 h 485573"/>
                <a:gd name="csX2-25" fmla="*/ 294275 w 416172"/>
                <a:gd name="csY2-26" fmla="*/ 157197 h 485573"/>
                <a:gd name="csX3-27" fmla="*/ 306015 w 416172"/>
                <a:gd name="csY3-28" fmla="*/ 222195 h 485573"/>
                <a:gd name="csX4-29" fmla="*/ 416172 w 416172"/>
                <a:gd name="csY4-30" fmla="*/ 485573 h 485573"/>
                <a:gd name="csX5-31" fmla="*/ 0 w 416172"/>
                <a:gd name="csY5-32" fmla="*/ 485573 h 485573"/>
                <a:gd name="csX6-33" fmla="*/ 112166 w 416172"/>
                <a:gd name="csY6-34" fmla="*/ 219516 h 485573"/>
                <a:gd name="csX7-35" fmla="*/ 122329 w 416172"/>
                <a:gd name="csY7-36" fmla="*/ 157197 h 485573"/>
                <a:gd name="csX8-37" fmla="*/ 71717 w 416172"/>
                <a:gd name="csY8-38" fmla="*/ 158911 h 485573"/>
                <a:gd name="csX9-39" fmla="*/ 205405 w 416172"/>
                <a:gd name="csY9-40" fmla="*/ 0 h 485573"/>
                <a:gd name="csX0-41" fmla="*/ 205405 w 416172"/>
                <a:gd name="csY0-42" fmla="*/ 0 h 485573"/>
                <a:gd name="csX1-43" fmla="*/ 348858 w 416172"/>
                <a:gd name="csY1-44" fmla="*/ 157197 h 485573"/>
                <a:gd name="csX2-45" fmla="*/ 294275 w 416172"/>
                <a:gd name="csY2-46" fmla="*/ 157197 h 485573"/>
                <a:gd name="csX3-47" fmla="*/ 306015 w 416172"/>
                <a:gd name="csY3-48" fmla="*/ 222195 h 485573"/>
                <a:gd name="csX4-49" fmla="*/ 416172 w 416172"/>
                <a:gd name="csY4-50" fmla="*/ 485573 h 485573"/>
                <a:gd name="csX5-51" fmla="*/ 0 w 416172"/>
                <a:gd name="csY5-52" fmla="*/ 485573 h 485573"/>
                <a:gd name="csX6-53" fmla="*/ 112166 w 416172"/>
                <a:gd name="csY6-54" fmla="*/ 219516 h 485573"/>
                <a:gd name="csX7-55" fmla="*/ 122329 w 416172"/>
                <a:gd name="csY7-56" fmla="*/ 157197 h 485573"/>
                <a:gd name="csX8-57" fmla="*/ 71717 w 416172"/>
                <a:gd name="csY8-58" fmla="*/ 158911 h 485573"/>
                <a:gd name="csX9-59" fmla="*/ 205405 w 416172"/>
                <a:gd name="csY9-60" fmla="*/ 0 h 485573"/>
                <a:gd name="csX0-61" fmla="*/ 214727 w 425494"/>
                <a:gd name="csY0-62" fmla="*/ 0 h 485573"/>
                <a:gd name="csX1-63" fmla="*/ 358180 w 425494"/>
                <a:gd name="csY1-64" fmla="*/ 157197 h 485573"/>
                <a:gd name="csX2-65" fmla="*/ 303597 w 425494"/>
                <a:gd name="csY2-66" fmla="*/ 157197 h 485573"/>
                <a:gd name="csX3-67" fmla="*/ 315337 w 425494"/>
                <a:gd name="csY3-68" fmla="*/ 222195 h 485573"/>
                <a:gd name="csX4-69" fmla="*/ 425494 w 425494"/>
                <a:gd name="csY4-70" fmla="*/ 485573 h 485573"/>
                <a:gd name="csX5-71" fmla="*/ 9322 w 425494"/>
                <a:gd name="csY5-72" fmla="*/ 485573 h 485573"/>
                <a:gd name="csX6-73" fmla="*/ 131651 w 425494"/>
                <a:gd name="csY6-74" fmla="*/ 157197 h 485573"/>
                <a:gd name="csX7-75" fmla="*/ 81039 w 425494"/>
                <a:gd name="csY7-76" fmla="*/ 158911 h 485573"/>
                <a:gd name="csX8-77" fmla="*/ 214727 w 425494"/>
                <a:gd name="csY8-78" fmla="*/ 0 h 485573"/>
                <a:gd name="csX0-79" fmla="*/ 205405 w 416172"/>
                <a:gd name="csY0-80" fmla="*/ 0 h 485573"/>
                <a:gd name="csX1-81" fmla="*/ 348858 w 416172"/>
                <a:gd name="csY1-82" fmla="*/ 157197 h 485573"/>
                <a:gd name="csX2-83" fmla="*/ 294275 w 416172"/>
                <a:gd name="csY2-84" fmla="*/ 157197 h 485573"/>
                <a:gd name="csX3-85" fmla="*/ 306015 w 416172"/>
                <a:gd name="csY3-86" fmla="*/ 222195 h 485573"/>
                <a:gd name="csX4-87" fmla="*/ 416172 w 416172"/>
                <a:gd name="csY4-88" fmla="*/ 485573 h 485573"/>
                <a:gd name="csX5-89" fmla="*/ 0 w 416172"/>
                <a:gd name="csY5-90" fmla="*/ 485573 h 485573"/>
                <a:gd name="csX6-91" fmla="*/ 122329 w 416172"/>
                <a:gd name="csY6-92" fmla="*/ 157197 h 485573"/>
                <a:gd name="csX7-93" fmla="*/ 71717 w 416172"/>
                <a:gd name="csY7-94" fmla="*/ 158911 h 485573"/>
                <a:gd name="csX8-95" fmla="*/ 205405 w 416172"/>
                <a:gd name="csY8-96" fmla="*/ 0 h 485573"/>
                <a:gd name="csX0-97" fmla="*/ 205405 w 416172"/>
                <a:gd name="csY0-98" fmla="*/ 0 h 485573"/>
                <a:gd name="csX1-99" fmla="*/ 348858 w 416172"/>
                <a:gd name="csY1-100" fmla="*/ 157197 h 485573"/>
                <a:gd name="csX2-101" fmla="*/ 294275 w 416172"/>
                <a:gd name="csY2-102" fmla="*/ 157197 h 485573"/>
                <a:gd name="csX3-103" fmla="*/ 416172 w 416172"/>
                <a:gd name="csY3-104" fmla="*/ 485573 h 485573"/>
                <a:gd name="csX4-105" fmla="*/ 0 w 416172"/>
                <a:gd name="csY4-106" fmla="*/ 485573 h 485573"/>
                <a:gd name="csX5-107" fmla="*/ 122329 w 416172"/>
                <a:gd name="csY5-108" fmla="*/ 157197 h 485573"/>
                <a:gd name="csX6-109" fmla="*/ 71717 w 416172"/>
                <a:gd name="csY6-110" fmla="*/ 158911 h 485573"/>
                <a:gd name="csX7-111" fmla="*/ 205405 w 416172"/>
                <a:gd name="csY7-112" fmla="*/ 0 h 485573"/>
                <a:gd name="csX0-113" fmla="*/ 205405 w 416172"/>
                <a:gd name="csY0-114" fmla="*/ 0 h 485573"/>
                <a:gd name="csX1-115" fmla="*/ 348858 w 416172"/>
                <a:gd name="csY1-116" fmla="*/ 157197 h 485573"/>
                <a:gd name="csX2-117" fmla="*/ 294275 w 416172"/>
                <a:gd name="csY2-118" fmla="*/ 157197 h 485573"/>
                <a:gd name="csX3-119" fmla="*/ 416172 w 416172"/>
                <a:gd name="csY3-120" fmla="*/ 485573 h 485573"/>
                <a:gd name="csX4-121" fmla="*/ 0 w 416172"/>
                <a:gd name="csY4-122" fmla="*/ 485573 h 485573"/>
                <a:gd name="csX5-123" fmla="*/ 122329 w 416172"/>
                <a:gd name="csY5-124" fmla="*/ 157197 h 485573"/>
                <a:gd name="csX6-125" fmla="*/ 71717 w 416172"/>
                <a:gd name="csY6-126" fmla="*/ 158911 h 485573"/>
                <a:gd name="csX7-127" fmla="*/ 205405 w 416172"/>
                <a:gd name="csY7-128" fmla="*/ 0 h 485573"/>
                <a:gd name="csX0-129" fmla="*/ 205405 w 416172"/>
                <a:gd name="csY0-130" fmla="*/ 0 h 485573"/>
                <a:gd name="csX1-131" fmla="*/ 348858 w 416172"/>
                <a:gd name="csY1-132" fmla="*/ 157197 h 485573"/>
                <a:gd name="csX2-133" fmla="*/ 294275 w 416172"/>
                <a:gd name="csY2-134" fmla="*/ 157197 h 485573"/>
                <a:gd name="csX3-135" fmla="*/ 416172 w 416172"/>
                <a:gd name="csY3-136" fmla="*/ 485573 h 485573"/>
                <a:gd name="csX4-137" fmla="*/ 0 w 416172"/>
                <a:gd name="csY4-138" fmla="*/ 485573 h 485573"/>
                <a:gd name="csX5-139" fmla="*/ 122329 w 416172"/>
                <a:gd name="csY5-140" fmla="*/ 157197 h 485573"/>
                <a:gd name="csX6-141" fmla="*/ 71717 w 416172"/>
                <a:gd name="csY6-142" fmla="*/ 158911 h 485573"/>
                <a:gd name="csX7-143" fmla="*/ 205405 w 416172"/>
                <a:gd name="csY7-144" fmla="*/ 0 h 485573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</a:cxnLst>
              <a:rect l="l" t="t" r="r" b="b"/>
              <a:pathLst>
                <a:path w="416172" h="485573">
                  <a:moveTo>
                    <a:pt x="205405" y="0"/>
                  </a:moveTo>
                  <a:cubicBezTo>
                    <a:pt x="244007" y="53881"/>
                    <a:pt x="293715" y="111596"/>
                    <a:pt x="348858" y="157197"/>
                  </a:cubicBezTo>
                  <a:lnTo>
                    <a:pt x="294275" y="157197"/>
                  </a:lnTo>
                  <a:cubicBezTo>
                    <a:pt x="319788" y="271753"/>
                    <a:pt x="361026" y="410941"/>
                    <a:pt x="416172" y="485573"/>
                  </a:cubicBezTo>
                  <a:lnTo>
                    <a:pt x="0" y="485573"/>
                  </a:lnTo>
                  <a:cubicBezTo>
                    <a:pt x="38110" y="434242"/>
                    <a:pt x="110376" y="211641"/>
                    <a:pt x="122329" y="157197"/>
                  </a:cubicBezTo>
                  <a:cubicBezTo>
                    <a:pt x="91947" y="157197"/>
                    <a:pt x="102099" y="158911"/>
                    <a:pt x="71717" y="158911"/>
                  </a:cubicBezTo>
                  <a:cubicBezTo>
                    <a:pt x="116033" y="120609"/>
                    <a:pt x="176767" y="43061"/>
                    <a:pt x="205405" y="0"/>
                  </a:cubicBezTo>
                  <a:close/>
                </a:path>
              </a:pathLst>
            </a:custGeom>
            <a:gradFill>
              <a:gsLst>
                <a:gs pos="57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  <a:gs pos="2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0"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思源宋体 CN Medium" panose="0202050000000000000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94690" y="3096260"/>
            <a:ext cx="10791190" cy="1587500"/>
            <a:chOff x="1200" y="5384"/>
            <a:chExt cx="16994" cy="2500"/>
          </a:xfrm>
        </p:grpSpPr>
        <p:sp>
          <p:nvSpPr>
            <p:cNvPr id="8" name="AutoShape 8"/>
            <p:cNvSpPr/>
            <p:nvPr>
              <p:custDataLst>
                <p:tags r:id="rId5"/>
              </p:custDataLst>
            </p:nvPr>
          </p:nvSpPr>
          <p:spPr>
            <a:xfrm>
              <a:off x="1200" y="5384"/>
              <a:ext cx="16800" cy="2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1200" y="5384"/>
              <a:ext cx="246" cy="25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>
              <p:custDataLst>
                <p:tags r:id="rId7"/>
              </p:custDataLst>
            </p:nvPr>
          </p:nvSpPr>
          <p:spPr>
            <a:xfrm>
              <a:off x="1700" y="5584"/>
              <a:ext cx="5550" cy="2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目标</a:t>
              </a:r>
              <a:r>
                <a:rPr lang="en-US" altLang="zh-CN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2</a:t>
              </a:r>
              <a:r>
                <a:rPr lang="zh-CN" alt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：</a:t>
              </a:r>
              <a:r>
                <a:rPr 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垂直领域模型</a:t>
              </a: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  <a:spcBef>
                  <a:spcPts val="600"/>
                </a:spcBef>
              </a:pPr>
              <a:r>
                <a:rPr 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核心引擎</a:t>
              </a: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12"/>
            <p:cNvSpPr/>
            <p:nvPr>
              <p:custDataLst>
                <p:tags r:id="rId8"/>
              </p:custDataLst>
            </p:nvPr>
          </p:nvSpPr>
          <p:spPr>
            <a:xfrm>
              <a:off x="8392" y="5584"/>
              <a:ext cx="9803" cy="2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核心任务</a:t>
              </a:r>
              <a:r>
                <a:rPr 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：</a:t>
              </a: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研发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汽车行业专用模型，实现“需求→产品→成本”的自动推理</a:t>
              </a:r>
              <a:endParaRPr 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  <a:defRPr/>
              </a:pP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目标：</a:t>
              </a:r>
              <a:r>
                <a:rPr lang="en-US" sz="1200" b="0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提供可解释、可推理的专业模型能力，支撑上层复杂决策。</a:t>
              </a:r>
              <a:endParaRPr lang="zh-CN" alt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</p:txBody>
        </p:sp>
        <p:sp>
          <p:nvSpPr>
            <p:cNvPr id="26" name="0"/>
            <p:cNvSpPr/>
            <p:nvPr/>
          </p:nvSpPr>
          <p:spPr>
            <a:xfrm rot="5400000">
              <a:off x="6343" y="6407"/>
              <a:ext cx="2209" cy="454"/>
            </a:xfrm>
            <a:custGeom>
              <a:avLst/>
              <a:gdLst>
                <a:gd name="connsiteX0" fmla="*/ 202633 w 416172"/>
                <a:gd name="connsiteY0" fmla="*/ 0 h 485927"/>
                <a:gd name="connsiteX1" fmla="*/ 374083 w 416172"/>
                <a:gd name="connsiteY1" fmla="*/ 157551 h 485927"/>
                <a:gd name="connsiteX2" fmla="*/ 294275 w 416172"/>
                <a:gd name="connsiteY2" fmla="*/ 157551 h 485927"/>
                <a:gd name="connsiteX3" fmla="*/ 306015 w 416172"/>
                <a:gd name="connsiteY3" fmla="*/ 222549 h 485927"/>
                <a:gd name="connsiteX4" fmla="*/ 416172 w 416172"/>
                <a:gd name="connsiteY4" fmla="*/ 485927 h 485927"/>
                <a:gd name="connsiteX5" fmla="*/ 0 w 416172"/>
                <a:gd name="connsiteY5" fmla="*/ 485927 h 485927"/>
                <a:gd name="connsiteX6" fmla="*/ 112166 w 416172"/>
                <a:gd name="connsiteY6" fmla="*/ 219870 h 485927"/>
                <a:gd name="connsiteX7" fmla="*/ 122329 w 416172"/>
                <a:gd name="connsiteY7" fmla="*/ 157551 h 485927"/>
                <a:gd name="connsiteX8" fmla="*/ 31183 w 416172"/>
                <a:gd name="connsiteY8" fmla="*/ 157551 h 485927"/>
                <a:gd name="connsiteX9" fmla="*/ 202633 w 416172"/>
                <a:gd name="connsiteY9" fmla="*/ 0 h 485927"/>
                <a:gd name="connsiteX0-1" fmla="*/ 202633 w 416172"/>
                <a:gd name="connsiteY0-2" fmla="*/ 0 h 485927"/>
                <a:gd name="connsiteX1-3" fmla="*/ 374083 w 416172"/>
                <a:gd name="connsiteY1-4" fmla="*/ 157551 h 485927"/>
                <a:gd name="connsiteX2-5" fmla="*/ 294275 w 416172"/>
                <a:gd name="connsiteY2-6" fmla="*/ 157551 h 485927"/>
                <a:gd name="connsiteX3-7" fmla="*/ 306015 w 416172"/>
                <a:gd name="connsiteY3-8" fmla="*/ 222549 h 485927"/>
                <a:gd name="connsiteX4-9" fmla="*/ 416172 w 416172"/>
                <a:gd name="connsiteY4-10" fmla="*/ 485927 h 485927"/>
                <a:gd name="connsiteX5-11" fmla="*/ 0 w 416172"/>
                <a:gd name="connsiteY5-12" fmla="*/ 485927 h 485927"/>
                <a:gd name="connsiteX6-13" fmla="*/ 112166 w 416172"/>
                <a:gd name="connsiteY6-14" fmla="*/ 219870 h 485927"/>
                <a:gd name="connsiteX7-15" fmla="*/ 122329 w 416172"/>
                <a:gd name="connsiteY7-16" fmla="*/ 157551 h 485927"/>
                <a:gd name="connsiteX8-17" fmla="*/ 58023 w 416172"/>
                <a:gd name="connsiteY8-18" fmla="*/ 160421 h 485927"/>
                <a:gd name="connsiteX9-19" fmla="*/ 202633 w 416172"/>
                <a:gd name="connsiteY9-20" fmla="*/ 0 h 485927"/>
                <a:gd name="connsiteX0-21" fmla="*/ 202633 w 416172"/>
                <a:gd name="connsiteY0-22" fmla="*/ 0 h 485927"/>
                <a:gd name="connsiteX1-23" fmla="*/ 374083 w 416172"/>
                <a:gd name="connsiteY1-24" fmla="*/ 157551 h 485927"/>
                <a:gd name="connsiteX2-25" fmla="*/ 294275 w 416172"/>
                <a:gd name="connsiteY2-26" fmla="*/ 157551 h 485927"/>
                <a:gd name="connsiteX3-27" fmla="*/ 306015 w 416172"/>
                <a:gd name="connsiteY3-28" fmla="*/ 222549 h 485927"/>
                <a:gd name="connsiteX4-29" fmla="*/ 416172 w 416172"/>
                <a:gd name="connsiteY4-30" fmla="*/ 485927 h 485927"/>
                <a:gd name="connsiteX5-31" fmla="*/ 0 w 416172"/>
                <a:gd name="connsiteY5-32" fmla="*/ 485927 h 485927"/>
                <a:gd name="connsiteX6-33" fmla="*/ 112166 w 416172"/>
                <a:gd name="connsiteY6-34" fmla="*/ 219870 h 485927"/>
                <a:gd name="connsiteX7-35" fmla="*/ 122329 w 416172"/>
                <a:gd name="connsiteY7-36" fmla="*/ 157551 h 485927"/>
                <a:gd name="connsiteX8-37" fmla="*/ 58023 w 416172"/>
                <a:gd name="connsiteY8-38" fmla="*/ 160421 h 485927"/>
                <a:gd name="connsiteX9-39" fmla="*/ 202633 w 416172"/>
                <a:gd name="connsiteY9-40" fmla="*/ 0 h 485927"/>
                <a:gd name="connsiteX0-41" fmla="*/ 202633 w 416172"/>
                <a:gd name="connsiteY0-42" fmla="*/ 0 h 485927"/>
                <a:gd name="connsiteX1-43" fmla="*/ 348858 w 416172"/>
                <a:gd name="connsiteY1-44" fmla="*/ 157551 h 485927"/>
                <a:gd name="connsiteX2-45" fmla="*/ 294275 w 416172"/>
                <a:gd name="connsiteY2-46" fmla="*/ 157551 h 485927"/>
                <a:gd name="connsiteX3-47" fmla="*/ 306015 w 416172"/>
                <a:gd name="connsiteY3-48" fmla="*/ 222549 h 485927"/>
                <a:gd name="connsiteX4-49" fmla="*/ 416172 w 416172"/>
                <a:gd name="connsiteY4-50" fmla="*/ 485927 h 485927"/>
                <a:gd name="connsiteX5-51" fmla="*/ 0 w 416172"/>
                <a:gd name="connsiteY5-52" fmla="*/ 485927 h 485927"/>
                <a:gd name="connsiteX6-53" fmla="*/ 112166 w 416172"/>
                <a:gd name="connsiteY6-54" fmla="*/ 219870 h 485927"/>
                <a:gd name="connsiteX7-55" fmla="*/ 122329 w 416172"/>
                <a:gd name="connsiteY7-56" fmla="*/ 157551 h 485927"/>
                <a:gd name="connsiteX8-57" fmla="*/ 58023 w 416172"/>
                <a:gd name="connsiteY8-58" fmla="*/ 160421 h 485927"/>
                <a:gd name="connsiteX9-59" fmla="*/ 202633 w 416172"/>
                <a:gd name="connsiteY9-60" fmla="*/ 0 h 485927"/>
                <a:gd name="connsiteX0-61" fmla="*/ 202633 w 416172"/>
                <a:gd name="connsiteY0-62" fmla="*/ 0 h 485927"/>
                <a:gd name="connsiteX1-63" fmla="*/ 348858 w 416172"/>
                <a:gd name="connsiteY1-64" fmla="*/ 157551 h 485927"/>
                <a:gd name="connsiteX2-65" fmla="*/ 294275 w 416172"/>
                <a:gd name="connsiteY2-66" fmla="*/ 157551 h 485927"/>
                <a:gd name="connsiteX3-67" fmla="*/ 306015 w 416172"/>
                <a:gd name="connsiteY3-68" fmla="*/ 222549 h 485927"/>
                <a:gd name="connsiteX4-69" fmla="*/ 416172 w 416172"/>
                <a:gd name="connsiteY4-70" fmla="*/ 485927 h 485927"/>
                <a:gd name="connsiteX5-71" fmla="*/ 0 w 416172"/>
                <a:gd name="connsiteY5-72" fmla="*/ 485927 h 485927"/>
                <a:gd name="connsiteX6-73" fmla="*/ 112166 w 416172"/>
                <a:gd name="connsiteY6-74" fmla="*/ 219870 h 485927"/>
                <a:gd name="connsiteX7-75" fmla="*/ 122329 w 416172"/>
                <a:gd name="connsiteY7-76" fmla="*/ 157551 h 485927"/>
                <a:gd name="connsiteX8-77" fmla="*/ 58023 w 416172"/>
                <a:gd name="connsiteY8-78" fmla="*/ 160421 h 485927"/>
                <a:gd name="connsiteX9-79" fmla="*/ 202633 w 416172"/>
                <a:gd name="connsiteY9-80" fmla="*/ 0 h 485927"/>
                <a:gd name="connsiteX0-81" fmla="*/ 202633 w 416172"/>
                <a:gd name="connsiteY0-82" fmla="*/ 0 h 485927"/>
                <a:gd name="connsiteX1-83" fmla="*/ 348858 w 416172"/>
                <a:gd name="connsiteY1-84" fmla="*/ 157551 h 485927"/>
                <a:gd name="connsiteX2-85" fmla="*/ 294275 w 416172"/>
                <a:gd name="connsiteY2-86" fmla="*/ 157551 h 485927"/>
                <a:gd name="connsiteX3-87" fmla="*/ 306015 w 416172"/>
                <a:gd name="connsiteY3-88" fmla="*/ 222549 h 485927"/>
                <a:gd name="connsiteX4-89" fmla="*/ 416172 w 416172"/>
                <a:gd name="connsiteY4-90" fmla="*/ 485927 h 485927"/>
                <a:gd name="connsiteX5-91" fmla="*/ 0 w 416172"/>
                <a:gd name="connsiteY5-92" fmla="*/ 485927 h 485927"/>
                <a:gd name="connsiteX6-93" fmla="*/ 112166 w 416172"/>
                <a:gd name="connsiteY6-94" fmla="*/ 219870 h 485927"/>
                <a:gd name="connsiteX7-95" fmla="*/ 122329 w 416172"/>
                <a:gd name="connsiteY7-96" fmla="*/ 157551 h 485927"/>
                <a:gd name="connsiteX8-97" fmla="*/ 71717 w 416172"/>
                <a:gd name="connsiteY8-98" fmla="*/ 159265 h 485927"/>
                <a:gd name="connsiteX9-99" fmla="*/ 202633 w 416172"/>
                <a:gd name="connsiteY9-100" fmla="*/ 0 h 485927"/>
                <a:gd name="connsiteX0-101" fmla="*/ 202633 w 416172"/>
                <a:gd name="connsiteY0-102" fmla="*/ 0 h 485927"/>
                <a:gd name="connsiteX1-103" fmla="*/ 348858 w 416172"/>
                <a:gd name="connsiteY1-104" fmla="*/ 157551 h 485927"/>
                <a:gd name="connsiteX2-105" fmla="*/ 294275 w 416172"/>
                <a:gd name="connsiteY2-106" fmla="*/ 157551 h 485927"/>
                <a:gd name="connsiteX3-107" fmla="*/ 306015 w 416172"/>
                <a:gd name="connsiteY3-108" fmla="*/ 222549 h 485927"/>
                <a:gd name="connsiteX4-109" fmla="*/ 416172 w 416172"/>
                <a:gd name="connsiteY4-110" fmla="*/ 485927 h 485927"/>
                <a:gd name="connsiteX5-111" fmla="*/ 0 w 416172"/>
                <a:gd name="connsiteY5-112" fmla="*/ 485927 h 485927"/>
                <a:gd name="connsiteX6-113" fmla="*/ 112166 w 416172"/>
                <a:gd name="connsiteY6-114" fmla="*/ 219870 h 485927"/>
                <a:gd name="connsiteX7-115" fmla="*/ 122329 w 416172"/>
                <a:gd name="connsiteY7-116" fmla="*/ 157551 h 485927"/>
                <a:gd name="connsiteX8-117" fmla="*/ 71717 w 416172"/>
                <a:gd name="connsiteY8-118" fmla="*/ 159265 h 485927"/>
                <a:gd name="connsiteX9-119" fmla="*/ 202633 w 416172"/>
                <a:gd name="connsiteY9-120" fmla="*/ 0 h 485927"/>
                <a:gd name="connsiteX0-121" fmla="*/ 202633 w 416172"/>
                <a:gd name="connsiteY0-122" fmla="*/ 0 h 485927"/>
                <a:gd name="connsiteX1-123" fmla="*/ 348858 w 416172"/>
                <a:gd name="connsiteY1-124" fmla="*/ 157551 h 485927"/>
                <a:gd name="connsiteX2-125" fmla="*/ 294275 w 416172"/>
                <a:gd name="connsiteY2-126" fmla="*/ 157551 h 485927"/>
                <a:gd name="connsiteX3-127" fmla="*/ 306015 w 416172"/>
                <a:gd name="connsiteY3-128" fmla="*/ 222549 h 485927"/>
                <a:gd name="connsiteX4-129" fmla="*/ 416172 w 416172"/>
                <a:gd name="connsiteY4-130" fmla="*/ 485927 h 485927"/>
                <a:gd name="connsiteX5-131" fmla="*/ 0 w 416172"/>
                <a:gd name="connsiteY5-132" fmla="*/ 485927 h 485927"/>
                <a:gd name="connsiteX6-133" fmla="*/ 112166 w 416172"/>
                <a:gd name="connsiteY6-134" fmla="*/ 219870 h 485927"/>
                <a:gd name="connsiteX7-135" fmla="*/ 122329 w 416172"/>
                <a:gd name="connsiteY7-136" fmla="*/ 157551 h 485927"/>
                <a:gd name="connsiteX8-137" fmla="*/ 71717 w 416172"/>
                <a:gd name="connsiteY8-138" fmla="*/ 159265 h 485927"/>
                <a:gd name="connsiteX9-139" fmla="*/ 202633 w 416172"/>
                <a:gd name="connsiteY9-140" fmla="*/ 0 h 485927"/>
                <a:gd name="connsiteX0-141" fmla="*/ 202633 w 416172"/>
                <a:gd name="connsiteY0-142" fmla="*/ 0 h 485927"/>
                <a:gd name="connsiteX1-143" fmla="*/ 348858 w 416172"/>
                <a:gd name="connsiteY1-144" fmla="*/ 157551 h 485927"/>
                <a:gd name="connsiteX2-145" fmla="*/ 294275 w 416172"/>
                <a:gd name="connsiteY2-146" fmla="*/ 157551 h 485927"/>
                <a:gd name="connsiteX3-147" fmla="*/ 306015 w 416172"/>
                <a:gd name="connsiteY3-148" fmla="*/ 222549 h 485927"/>
                <a:gd name="connsiteX4-149" fmla="*/ 416172 w 416172"/>
                <a:gd name="connsiteY4-150" fmla="*/ 485927 h 485927"/>
                <a:gd name="connsiteX5-151" fmla="*/ 0 w 416172"/>
                <a:gd name="connsiteY5-152" fmla="*/ 485927 h 485927"/>
                <a:gd name="connsiteX6-153" fmla="*/ 112166 w 416172"/>
                <a:gd name="connsiteY6-154" fmla="*/ 219870 h 485927"/>
                <a:gd name="connsiteX7-155" fmla="*/ 122329 w 416172"/>
                <a:gd name="connsiteY7-156" fmla="*/ 157551 h 485927"/>
                <a:gd name="connsiteX8-157" fmla="*/ 71717 w 416172"/>
                <a:gd name="connsiteY8-158" fmla="*/ 159265 h 485927"/>
                <a:gd name="connsiteX9-159" fmla="*/ 202633 w 416172"/>
                <a:gd name="connsiteY9-160" fmla="*/ 0 h 485927"/>
                <a:gd name="connsiteX0-161" fmla="*/ 202633 w 416172"/>
                <a:gd name="connsiteY0-162" fmla="*/ 0 h 485927"/>
                <a:gd name="connsiteX1-163" fmla="*/ 348858 w 416172"/>
                <a:gd name="connsiteY1-164" fmla="*/ 157551 h 485927"/>
                <a:gd name="connsiteX2-165" fmla="*/ 294275 w 416172"/>
                <a:gd name="connsiteY2-166" fmla="*/ 157551 h 485927"/>
                <a:gd name="connsiteX3-167" fmla="*/ 306015 w 416172"/>
                <a:gd name="connsiteY3-168" fmla="*/ 222549 h 485927"/>
                <a:gd name="connsiteX4-169" fmla="*/ 416172 w 416172"/>
                <a:gd name="connsiteY4-170" fmla="*/ 485927 h 485927"/>
                <a:gd name="connsiteX5-171" fmla="*/ 0 w 416172"/>
                <a:gd name="connsiteY5-172" fmla="*/ 485927 h 485927"/>
                <a:gd name="connsiteX6-173" fmla="*/ 112166 w 416172"/>
                <a:gd name="connsiteY6-174" fmla="*/ 219870 h 485927"/>
                <a:gd name="connsiteX7-175" fmla="*/ 122329 w 416172"/>
                <a:gd name="connsiteY7-176" fmla="*/ 157551 h 485927"/>
                <a:gd name="connsiteX8-177" fmla="*/ 71717 w 416172"/>
                <a:gd name="connsiteY8-178" fmla="*/ 159265 h 485927"/>
                <a:gd name="connsiteX9-179" fmla="*/ 202633 w 416172"/>
                <a:gd name="connsiteY9-180" fmla="*/ 0 h 485927"/>
                <a:gd name="connsiteX0-181" fmla="*/ 202633 w 416172"/>
                <a:gd name="connsiteY0-182" fmla="*/ 0 h 485927"/>
                <a:gd name="connsiteX1-183" fmla="*/ 348858 w 416172"/>
                <a:gd name="connsiteY1-184" fmla="*/ 157551 h 485927"/>
                <a:gd name="connsiteX2-185" fmla="*/ 294275 w 416172"/>
                <a:gd name="connsiteY2-186" fmla="*/ 157551 h 485927"/>
                <a:gd name="connsiteX3-187" fmla="*/ 306015 w 416172"/>
                <a:gd name="connsiteY3-188" fmla="*/ 222549 h 485927"/>
                <a:gd name="connsiteX4-189" fmla="*/ 416172 w 416172"/>
                <a:gd name="connsiteY4-190" fmla="*/ 485927 h 485927"/>
                <a:gd name="connsiteX5-191" fmla="*/ 0 w 416172"/>
                <a:gd name="connsiteY5-192" fmla="*/ 485927 h 485927"/>
                <a:gd name="connsiteX6-193" fmla="*/ 112166 w 416172"/>
                <a:gd name="connsiteY6-194" fmla="*/ 219870 h 485927"/>
                <a:gd name="connsiteX7-195" fmla="*/ 122329 w 416172"/>
                <a:gd name="connsiteY7-196" fmla="*/ 157551 h 485927"/>
                <a:gd name="connsiteX8-197" fmla="*/ 71717 w 416172"/>
                <a:gd name="connsiteY8-198" fmla="*/ 159265 h 485927"/>
                <a:gd name="connsiteX9-199" fmla="*/ 202633 w 416172"/>
                <a:gd name="connsiteY9-200" fmla="*/ 0 h 485927"/>
                <a:gd name="connsiteX0-201" fmla="*/ 202633 w 416172"/>
                <a:gd name="connsiteY0-202" fmla="*/ 0 h 485927"/>
                <a:gd name="connsiteX1-203" fmla="*/ 348858 w 416172"/>
                <a:gd name="connsiteY1-204" fmla="*/ 157551 h 485927"/>
                <a:gd name="connsiteX2-205" fmla="*/ 294275 w 416172"/>
                <a:gd name="connsiteY2-206" fmla="*/ 157551 h 485927"/>
                <a:gd name="connsiteX3-207" fmla="*/ 306015 w 416172"/>
                <a:gd name="connsiteY3-208" fmla="*/ 222549 h 485927"/>
                <a:gd name="connsiteX4-209" fmla="*/ 416172 w 416172"/>
                <a:gd name="connsiteY4-210" fmla="*/ 485927 h 485927"/>
                <a:gd name="connsiteX5-211" fmla="*/ 0 w 416172"/>
                <a:gd name="connsiteY5-212" fmla="*/ 485927 h 485927"/>
                <a:gd name="connsiteX6-213" fmla="*/ 112166 w 416172"/>
                <a:gd name="connsiteY6-214" fmla="*/ 219870 h 485927"/>
                <a:gd name="connsiteX7-215" fmla="*/ 122329 w 416172"/>
                <a:gd name="connsiteY7-216" fmla="*/ 157551 h 485927"/>
                <a:gd name="connsiteX8-217" fmla="*/ 71717 w 416172"/>
                <a:gd name="connsiteY8-218" fmla="*/ 159265 h 485927"/>
                <a:gd name="connsiteX9-219" fmla="*/ 202633 w 416172"/>
                <a:gd name="connsiteY9-220" fmla="*/ 0 h 485927"/>
                <a:gd name="csX0" fmla="*/ 205405 w 416172"/>
                <a:gd name="csY0" fmla="*/ 0 h 485573"/>
                <a:gd name="csX1" fmla="*/ 348858 w 416172"/>
                <a:gd name="csY1" fmla="*/ 157197 h 485573"/>
                <a:gd name="csX2" fmla="*/ 294275 w 416172"/>
                <a:gd name="csY2" fmla="*/ 157197 h 485573"/>
                <a:gd name="csX3" fmla="*/ 306015 w 416172"/>
                <a:gd name="csY3" fmla="*/ 222195 h 485573"/>
                <a:gd name="csX4" fmla="*/ 416172 w 416172"/>
                <a:gd name="csY4" fmla="*/ 485573 h 485573"/>
                <a:gd name="csX5" fmla="*/ 0 w 416172"/>
                <a:gd name="csY5" fmla="*/ 485573 h 485573"/>
                <a:gd name="csX6" fmla="*/ 112166 w 416172"/>
                <a:gd name="csY6" fmla="*/ 219516 h 485573"/>
                <a:gd name="csX7" fmla="*/ 122329 w 416172"/>
                <a:gd name="csY7" fmla="*/ 157197 h 485573"/>
                <a:gd name="csX8" fmla="*/ 71717 w 416172"/>
                <a:gd name="csY8" fmla="*/ 158911 h 485573"/>
                <a:gd name="csX9" fmla="*/ 205405 w 416172"/>
                <a:gd name="csY9" fmla="*/ 0 h 485573"/>
                <a:gd name="csX0-1" fmla="*/ 205405 w 416172"/>
                <a:gd name="csY0-2" fmla="*/ 0 h 485573"/>
                <a:gd name="csX1-3" fmla="*/ 348858 w 416172"/>
                <a:gd name="csY1-4" fmla="*/ 157197 h 485573"/>
                <a:gd name="csX2-5" fmla="*/ 294275 w 416172"/>
                <a:gd name="csY2-6" fmla="*/ 157197 h 485573"/>
                <a:gd name="csX3-7" fmla="*/ 306015 w 416172"/>
                <a:gd name="csY3-8" fmla="*/ 222195 h 485573"/>
                <a:gd name="csX4-9" fmla="*/ 416172 w 416172"/>
                <a:gd name="csY4-10" fmla="*/ 485573 h 485573"/>
                <a:gd name="csX5-11" fmla="*/ 0 w 416172"/>
                <a:gd name="csY5-12" fmla="*/ 485573 h 485573"/>
                <a:gd name="csX6-13" fmla="*/ 112166 w 416172"/>
                <a:gd name="csY6-14" fmla="*/ 219516 h 485573"/>
                <a:gd name="csX7-15" fmla="*/ 122329 w 416172"/>
                <a:gd name="csY7-16" fmla="*/ 157197 h 485573"/>
                <a:gd name="csX8-17" fmla="*/ 71717 w 416172"/>
                <a:gd name="csY8-18" fmla="*/ 158911 h 485573"/>
                <a:gd name="csX9-19" fmla="*/ 205405 w 416172"/>
                <a:gd name="csY9-20" fmla="*/ 0 h 485573"/>
                <a:gd name="csX0-21" fmla="*/ 205405 w 416172"/>
                <a:gd name="csY0-22" fmla="*/ 0 h 485573"/>
                <a:gd name="csX1-23" fmla="*/ 348858 w 416172"/>
                <a:gd name="csY1-24" fmla="*/ 157197 h 485573"/>
                <a:gd name="csX2-25" fmla="*/ 294275 w 416172"/>
                <a:gd name="csY2-26" fmla="*/ 157197 h 485573"/>
                <a:gd name="csX3-27" fmla="*/ 306015 w 416172"/>
                <a:gd name="csY3-28" fmla="*/ 222195 h 485573"/>
                <a:gd name="csX4-29" fmla="*/ 416172 w 416172"/>
                <a:gd name="csY4-30" fmla="*/ 485573 h 485573"/>
                <a:gd name="csX5-31" fmla="*/ 0 w 416172"/>
                <a:gd name="csY5-32" fmla="*/ 485573 h 485573"/>
                <a:gd name="csX6-33" fmla="*/ 112166 w 416172"/>
                <a:gd name="csY6-34" fmla="*/ 219516 h 485573"/>
                <a:gd name="csX7-35" fmla="*/ 122329 w 416172"/>
                <a:gd name="csY7-36" fmla="*/ 157197 h 485573"/>
                <a:gd name="csX8-37" fmla="*/ 71717 w 416172"/>
                <a:gd name="csY8-38" fmla="*/ 158911 h 485573"/>
                <a:gd name="csX9-39" fmla="*/ 205405 w 416172"/>
                <a:gd name="csY9-40" fmla="*/ 0 h 485573"/>
                <a:gd name="csX0-41" fmla="*/ 205405 w 416172"/>
                <a:gd name="csY0-42" fmla="*/ 0 h 485573"/>
                <a:gd name="csX1-43" fmla="*/ 348858 w 416172"/>
                <a:gd name="csY1-44" fmla="*/ 157197 h 485573"/>
                <a:gd name="csX2-45" fmla="*/ 294275 w 416172"/>
                <a:gd name="csY2-46" fmla="*/ 157197 h 485573"/>
                <a:gd name="csX3-47" fmla="*/ 306015 w 416172"/>
                <a:gd name="csY3-48" fmla="*/ 222195 h 485573"/>
                <a:gd name="csX4-49" fmla="*/ 416172 w 416172"/>
                <a:gd name="csY4-50" fmla="*/ 485573 h 485573"/>
                <a:gd name="csX5-51" fmla="*/ 0 w 416172"/>
                <a:gd name="csY5-52" fmla="*/ 485573 h 485573"/>
                <a:gd name="csX6-53" fmla="*/ 112166 w 416172"/>
                <a:gd name="csY6-54" fmla="*/ 219516 h 485573"/>
                <a:gd name="csX7-55" fmla="*/ 122329 w 416172"/>
                <a:gd name="csY7-56" fmla="*/ 157197 h 485573"/>
                <a:gd name="csX8-57" fmla="*/ 71717 w 416172"/>
                <a:gd name="csY8-58" fmla="*/ 158911 h 485573"/>
                <a:gd name="csX9-59" fmla="*/ 205405 w 416172"/>
                <a:gd name="csY9-60" fmla="*/ 0 h 485573"/>
                <a:gd name="csX0-61" fmla="*/ 214727 w 425494"/>
                <a:gd name="csY0-62" fmla="*/ 0 h 485573"/>
                <a:gd name="csX1-63" fmla="*/ 358180 w 425494"/>
                <a:gd name="csY1-64" fmla="*/ 157197 h 485573"/>
                <a:gd name="csX2-65" fmla="*/ 303597 w 425494"/>
                <a:gd name="csY2-66" fmla="*/ 157197 h 485573"/>
                <a:gd name="csX3-67" fmla="*/ 315337 w 425494"/>
                <a:gd name="csY3-68" fmla="*/ 222195 h 485573"/>
                <a:gd name="csX4-69" fmla="*/ 425494 w 425494"/>
                <a:gd name="csY4-70" fmla="*/ 485573 h 485573"/>
                <a:gd name="csX5-71" fmla="*/ 9322 w 425494"/>
                <a:gd name="csY5-72" fmla="*/ 485573 h 485573"/>
                <a:gd name="csX6-73" fmla="*/ 131651 w 425494"/>
                <a:gd name="csY6-74" fmla="*/ 157197 h 485573"/>
                <a:gd name="csX7-75" fmla="*/ 81039 w 425494"/>
                <a:gd name="csY7-76" fmla="*/ 158911 h 485573"/>
                <a:gd name="csX8-77" fmla="*/ 214727 w 425494"/>
                <a:gd name="csY8-78" fmla="*/ 0 h 485573"/>
                <a:gd name="csX0-79" fmla="*/ 205405 w 416172"/>
                <a:gd name="csY0-80" fmla="*/ 0 h 485573"/>
                <a:gd name="csX1-81" fmla="*/ 348858 w 416172"/>
                <a:gd name="csY1-82" fmla="*/ 157197 h 485573"/>
                <a:gd name="csX2-83" fmla="*/ 294275 w 416172"/>
                <a:gd name="csY2-84" fmla="*/ 157197 h 485573"/>
                <a:gd name="csX3-85" fmla="*/ 306015 w 416172"/>
                <a:gd name="csY3-86" fmla="*/ 222195 h 485573"/>
                <a:gd name="csX4-87" fmla="*/ 416172 w 416172"/>
                <a:gd name="csY4-88" fmla="*/ 485573 h 485573"/>
                <a:gd name="csX5-89" fmla="*/ 0 w 416172"/>
                <a:gd name="csY5-90" fmla="*/ 485573 h 485573"/>
                <a:gd name="csX6-91" fmla="*/ 122329 w 416172"/>
                <a:gd name="csY6-92" fmla="*/ 157197 h 485573"/>
                <a:gd name="csX7-93" fmla="*/ 71717 w 416172"/>
                <a:gd name="csY7-94" fmla="*/ 158911 h 485573"/>
                <a:gd name="csX8-95" fmla="*/ 205405 w 416172"/>
                <a:gd name="csY8-96" fmla="*/ 0 h 485573"/>
                <a:gd name="csX0-97" fmla="*/ 205405 w 416172"/>
                <a:gd name="csY0-98" fmla="*/ 0 h 485573"/>
                <a:gd name="csX1-99" fmla="*/ 348858 w 416172"/>
                <a:gd name="csY1-100" fmla="*/ 157197 h 485573"/>
                <a:gd name="csX2-101" fmla="*/ 294275 w 416172"/>
                <a:gd name="csY2-102" fmla="*/ 157197 h 485573"/>
                <a:gd name="csX3-103" fmla="*/ 416172 w 416172"/>
                <a:gd name="csY3-104" fmla="*/ 485573 h 485573"/>
                <a:gd name="csX4-105" fmla="*/ 0 w 416172"/>
                <a:gd name="csY4-106" fmla="*/ 485573 h 485573"/>
                <a:gd name="csX5-107" fmla="*/ 122329 w 416172"/>
                <a:gd name="csY5-108" fmla="*/ 157197 h 485573"/>
                <a:gd name="csX6-109" fmla="*/ 71717 w 416172"/>
                <a:gd name="csY6-110" fmla="*/ 158911 h 485573"/>
                <a:gd name="csX7-111" fmla="*/ 205405 w 416172"/>
                <a:gd name="csY7-112" fmla="*/ 0 h 485573"/>
                <a:gd name="csX0-113" fmla="*/ 205405 w 416172"/>
                <a:gd name="csY0-114" fmla="*/ 0 h 485573"/>
                <a:gd name="csX1-115" fmla="*/ 348858 w 416172"/>
                <a:gd name="csY1-116" fmla="*/ 157197 h 485573"/>
                <a:gd name="csX2-117" fmla="*/ 294275 w 416172"/>
                <a:gd name="csY2-118" fmla="*/ 157197 h 485573"/>
                <a:gd name="csX3-119" fmla="*/ 416172 w 416172"/>
                <a:gd name="csY3-120" fmla="*/ 485573 h 485573"/>
                <a:gd name="csX4-121" fmla="*/ 0 w 416172"/>
                <a:gd name="csY4-122" fmla="*/ 485573 h 485573"/>
                <a:gd name="csX5-123" fmla="*/ 122329 w 416172"/>
                <a:gd name="csY5-124" fmla="*/ 157197 h 485573"/>
                <a:gd name="csX6-125" fmla="*/ 71717 w 416172"/>
                <a:gd name="csY6-126" fmla="*/ 158911 h 485573"/>
                <a:gd name="csX7-127" fmla="*/ 205405 w 416172"/>
                <a:gd name="csY7-128" fmla="*/ 0 h 485573"/>
                <a:gd name="csX0-129" fmla="*/ 205405 w 416172"/>
                <a:gd name="csY0-130" fmla="*/ 0 h 485573"/>
                <a:gd name="csX1-131" fmla="*/ 348858 w 416172"/>
                <a:gd name="csY1-132" fmla="*/ 157197 h 485573"/>
                <a:gd name="csX2-133" fmla="*/ 294275 w 416172"/>
                <a:gd name="csY2-134" fmla="*/ 157197 h 485573"/>
                <a:gd name="csX3-135" fmla="*/ 416172 w 416172"/>
                <a:gd name="csY3-136" fmla="*/ 485573 h 485573"/>
                <a:gd name="csX4-137" fmla="*/ 0 w 416172"/>
                <a:gd name="csY4-138" fmla="*/ 485573 h 485573"/>
                <a:gd name="csX5-139" fmla="*/ 122329 w 416172"/>
                <a:gd name="csY5-140" fmla="*/ 157197 h 485573"/>
                <a:gd name="csX6-141" fmla="*/ 71717 w 416172"/>
                <a:gd name="csY6-142" fmla="*/ 158911 h 485573"/>
                <a:gd name="csX7-143" fmla="*/ 205405 w 416172"/>
                <a:gd name="csY7-144" fmla="*/ 0 h 485573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</a:cxnLst>
              <a:rect l="l" t="t" r="r" b="b"/>
              <a:pathLst>
                <a:path w="416172" h="485573">
                  <a:moveTo>
                    <a:pt x="205405" y="0"/>
                  </a:moveTo>
                  <a:cubicBezTo>
                    <a:pt x="244007" y="53881"/>
                    <a:pt x="293715" y="111596"/>
                    <a:pt x="348858" y="157197"/>
                  </a:cubicBezTo>
                  <a:lnTo>
                    <a:pt x="294275" y="157197"/>
                  </a:lnTo>
                  <a:cubicBezTo>
                    <a:pt x="319788" y="271753"/>
                    <a:pt x="361026" y="410941"/>
                    <a:pt x="416172" y="485573"/>
                  </a:cubicBezTo>
                  <a:lnTo>
                    <a:pt x="0" y="485573"/>
                  </a:lnTo>
                  <a:cubicBezTo>
                    <a:pt x="38110" y="434242"/>
                    <a:pt x="110376" y="211641"/>
                    <a:pt x="122329" y="157197"/>
                  </a:cubicBezTo>
                  <a:cubicBezTo>
                    <a:pt x="91947" y="157197"/>
                    <a:pt x="102099" y="158911"/>
                    <a:pt x="71717" y="158911"/>
                  </a:cubicBezTo>
                  <a:cubicBezTo>
                    <a:pt x="116033" y="120609"/>
                    <a:pt x="176767" y="43061"/>
                    <a:pt x="205405" y="0"/>
                  </a:cubicBezTo>
                  <a:close/>
                </a:path>
              </a:pathLst>
            </a:custGeom>
            <a:gradFill>
              <a:gsLst>
                <a:gs pos="57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  <a:gs pos="2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0"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思源宋体 CN Medium" panose="02020500000000000000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18490" y="1511300"/>
            <a:ext cx="10754360" cy="1494155"/>
            <a:chOff x="1064" y="8184"/>
            <a:chExt cx="16936" cy="2353"/>
          </a:xfrm>
        </p:grpSpPr>
        <p:sp>
          <p:nvSpPr>
            <p:cNvPr id="13" name="AutoShape 13"/>
            <p:cNvSpPr/>
            <p:nvPr>
              <p:custDataLst>
                <p:tags r:id="rId9"/>
              </p:custDataLst>
            </p:nvPr>
          </p:nvSpPr>
          <p:spPr>
            <a:xfrm>
              <a:off x="1064" y="8184"/>
              <a:ext cx="16937" cy="22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AutoShape 14"/>
            <p:cNvSpPr/>
            <p:nvPr>
              <p:custDataLst>
                <p:tags r:id="rId10"/>
              </p:custDataLst>
            </p:nvPr>
          </p:nvSpPr>
          <p:spPr>
            <a:xfrm>
              <a:off x="1200" y="8184"/>
              <a:ext cx="246" cy="22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AutoShape 15"/>
            <p:cNvSpPr/>
            <p:nvPr>
              <p:custDataLst>
                <p:tags r:id="rId11"/>
              </p:custDataLst>
            </p:nvPr>
          </p:nvSpPr>
          <p:spPr>
            <a:xfrm>
              <a:off x="1700" y="8384"/>
              <a:ext cx="555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目标</a:t>
              </a:r>
              <a:r>
                <a:rPr lang="en-US" altLang="zh-CN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1</a:t>
              </a:r>
              <a:r>
                <a:rPr lang="zh-CN" alt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：</a:t>
              </a:r>
              <a:r>
                <a:rPr lang="en-US" sz="20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统一数据底座</a:t>
              </a: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  <a:spcBef>
                  <a:spcPts val="400"/>
                </a:spcBef>
              </a:pPr>
              <a:r>
                <a:rPr 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 坚实基石</a:t>
              </a: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</p:txBody>
        </p:sp>
        <p:sp>
          <p:nvSpPr>
            <p:cNvPr id="17" name="AutoShape 17"/>
            <p:cNvSpPr/>
            <p:nvPr>
              <p:custDataLst>
                <p:tags r:id="rId12"/>
              </p:custDataLst>
            </p:nvPr>
          </p:nvSpPr>
          <p:spPr>
            <a:xfrm>
              <a:off x="8392" y="8384"/>
              <a:ext cx="9208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</a:t>
              </a:r>
              <a:r>
                <a:rPr 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任务：</a:t>
              </a:r>
              <a:r>
                <a:rPr 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打通</a:t>
              </a: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多源异构</a:t>
              </a:r>
              <a:r>
                <a:rPr 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数据，统一框架与计算。</a:t>
              </a:r>
              <a:endParaRPr 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  <a:defRPr/>
              </a:pPr>
              <a:endParaRPr lang="en-US" sz="1400" b="1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目标：</a:t>
              </a:r>
              <a:r>
                <a:rPr lang="en-US" sz="1200" b="0" i="0" u="none" strike="noStrike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提供标准化、语义一致的数据输入，解决异构问题。</a:t>
              </a:r>
              <a:endParaRPr lang="en-US" sz="1200" b="0" i="0" u="none" strike="noStrik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7" name="0"/>
            <p:cNvSpPr/>
            <p:nvPr/>
          </p:nvSpPr>
          <p:spPr>
            <a:xfrm rot="5400000">
              <a:off x="6276" y="9206"/>
              <a:ext cx="2209" cy="454"/>
            </a:xfrm>
            <a:custGeom>
              <a:avLst/>
              <a:gdLst>
                <a:gd name="connsiteX0" fmla="*/ 202633 w 416172"/>
                <a:gd name="connsiteY0" fmla="*/ 0 h 485927"/>
                <a:gd name="connsiteX1" fmla="*/ 374083 w 416172"/>
                <a:gd name="connsiteY1" fmla="*/ 157551 h 485927"/>
                <a:gd name="connsiteX2" fmla="*/ 294275 w 416172"/>
                <a:gd name="connsiteY2" fmla="*/ 157551 h 485927"/>
                <a:gd name="connsiteX3" fmla="*/ 306015 w 416172"/>
                <a:gd name="connsiteY3" fmla="*/ 222549 h 485927"/>
                <a:gd name="connsiteX4" fmla="*/ 416172 w 416172"/>
                <a:gd name="connsiteY4" fmla="*/ 485927 h 485927"/>
                <a:gd name="connsiteX5" fmla="*/ 0 w 416172"/>
                <a:gd name="connsiteY5" fmla="*/ 485927 h 485927"/>
                <a:gd name="connsiteX6" fmla="*/ 112166 w 416172"/>
                <a:gd name="connsiteY6" fmla="*/ 219870 h 485927"/>
                <a:gd name="connsiteX7" fmla="*/ 122329 w 416172"/>
                <a:gd name="connsiteY7" fmla="*/ 157551 h 485927"/>
                <a:gd name="connsiteX8" fmla="*/ 31183 w 416172"/>
                <a:gd name="connsiteY8" fmla="*/ 157551 h 485927"/>
                <a:gd name="connsiteX9" fmla="*/ 202633 w 416172"/>
                <a:gd name="connsiteY9" fmla="*/ 0 h 485927"/>
                <a:gd name="connsiteX0-1" fmla="*/ 202633 w 416172"/>
                <a:gd name="connsiteY0-2" fmla="*/ 0 h 485927"/>
                <a:gd name="connsiteX1-3" fmla="*/ 374083 w 416172"/>
                <a:gd name="connsiteY1-4" fmla="*/ 157551 h 485927"/>
                <a:gd name="connsiteX2-5" fmla="*/ 294275 w 416172"/>
                <a:gd name="connsiteY2-6" fmla="*/ 157551 h 485927"/>
                <a:gd name="connsiteX3-7" fmla="*/ 306015 w 416172"/>
                <a:gd name="connsiteY3-8" fmla="*/ 222549 h 485927"/>
                <a:gd name="connsiteX4-9" fmla="*/ 416172 w 416172"/>
                <a:gd name="connsiteY4-10" fmla="*/ 485927 h 485927"/>
                <a:gd name="connsiteX5-11" fmla="*/ 0 w 416172"/>
                <a:gd name="connsiteY5-12" fmla="*/ 485927 h 485927"/>
                <a:gd name="connsiteX6-13" fmla="*/ 112166 w 416172"/>
                <a:gd name="connsiteY6-14" fmla="*/ 219870 h 485927"/>
                <a:gd name="connsiteX7-15" fmla="*/ 122329 w 416172"/>
                <a:gd name="connsiteY7-16" fmla="*/ 157551 h 485927"/>
                <a:gd name="connsiteX8-17" fmla="*/ 58023 w 416172"/>
                <a:gd name="connsiteY8-18" fmla="*/ 160421 h 485927"/>
                <a:gd name="connsiteX9-19" fmla="*/ 202633 w 416172"/>
                <a:gd name="connsiteY9-20" fmla="*/ 0 h 485927"/>
                <a:gd name="connsiteX0-21" fmla="*/ 202633 w 416172"/>
                <a:gd name="connsiteY0-22" fmla="*/ 0 h 485927"/>
                <a:gd name="connsiteX1-23" fmla="*/ 374083 w 416172"/>
                <a:gd name="connsiteY1-24" fmla="*/ 157551 h 485927"/>
                <a:gd name="connsiteX2-25" fmla="*/ 294275 w 416172"/>
                <a:gd name="connsiteY2-26" fmla="*/ 157551 h 485927"/>
                <a:gd name="connsiteX3-27" fmla="*/ 306015 w 416172"/>
                <a:gd name="connsiteY3-28" fmla="*/ 222549 h 485927"/>
                <a:gd name="connsiteX4-29" fmla="*/ 416172 w 416172"/>
                <a:gd name="connsiteY4-30" fmla="*/ 485927 h 485927"/>
                <a:gd name="connsiteX5-31" fmla="*/ 0 w 416172"/>
                <a:gd name="connsiteY5-32" fmla="*/ 485927 h 485927"/>
                <a:gd name="connsiteX6-33" fmla="*/ 112166 w 416172"/>
                <a:gd name="connsiteY6-34" fmla="*/ 219870 h 485927"/>
                <a:gd name="connsiteX7-35" fmla="*/ 122329 w 416172"/>
                <a:gd name="connsiteY7-36" fmla="*/ 157551 h 485927"/>
                <a:gd name="connsiteX8-37" fmla="*/ 58023 w 416172"/>
                <a:gd name="connsiteY8-38" fmla="*/ 160421 h 485927"/>
                <a:gd name="connsiteX9-39" fmla="*/ 202633 w 416172"/>
                <a:gd name="connsiteY9-40" fmla="*/ 0 h 485927"/>
                <a:gd name="connsiteX0-41" fmla="*/ 202633 w 416172"/>
                <a:gd name="connsiteY0-42" fmla="*/ 0 h 485927"/>
                <a:gd name="connsiteX1-43" fmla="*/ 348858 w 416172"/>
                <a:gd name="connsiteY1-44" fmla="*/ 157551 h 485927"/>
                <a:gd name="connsiteX2-45" fmla="*/ 294275 w 416172"/>
                <a:gd name="connsiteY2-46" fmla="*/ 157551 h 485927"/>
                <a:gd name="connsiteX3-47" fmla="*/ 306015 w 416172"/>
                <a:gd name="connsiteY3-48" fmla="*/ 222549 h 485927"/>
                <a:gd name="connsiteX4-49" fmla="*/ 416172 w 416172"/>
                <a:gd name="connsiteY4-50" fmla="*/ 485927 h 485927"/>
                <a:gd name="connsiteX5-51" fmla="*/ 0 w 416172"/>
                <a:gd name="connsiteY5-52" fmla="*/ 485927 h 485927"/>
                <a:gd name="connsiteX6-53" fmla="*/ 112166 w 416172"/>
                <a:gd name="connsiteY6-54" fmla="*/ 219870 h 485927"/>
                <a:gd name="connsiteX7-55" fmla="*/ 122329 w 416172"/>
                <a:gd name="connsiteY7-56" fmla="*/ 157551 h 485927"/>
                <a:gd name="connsiteX8-57" fmla="*/ 58023 w 416172"/>
                <a:gd name="connsiteY8-58" fmla="*/ 160421 h 485927"/>
                <a:gd name="connsiteX9-59" fmla="*/ 202633 w 416172"/>
                <a:gd name="connsiteY9-60" fmla="*/ 0 h 485927"/>
                <a:gd name="connsiteX0-61" fmla="*/ 202633 w 416172"/>
                <a:gd name="connsiteY0-62" fmla="*/ 0 h 485927"/>
                <a:gd name="connsiteX1-63" fmla="*/ 348858 w 416172"/>
                <a:gd name="connsiteY1-64" fmla="*/ 157551 h 485927"/>
                <a:gd name="connsiteX2-65" fmla="*/ 294275 w 416172"/>
                <a:gd name="connsiteY2-66" fmla="*/ 157551 h 485927"/>
                <a:gd name="connsiteX3-67" fmla="*/ 306015 w 416172"/>
                <a:gd name="connsiteY3-68" fmla="*/ 222549 h 485927"/>
                <a:gd name="connsiteX4-69" fmla="*/ 416172 w 416172"/>
                <a:gd name="connsiteY4-70" fmla="*/ 485927 h 485927"/>
                <a:gd name="connsiteX5-71" fmla="*/ 0 w 416172"/>
                <a:gd name="connsiteY5-72" fmla="*/ 485927 h 485927"/>
                <a:gd name="connsiteX6-73" fmla="*/ 112166 w 416172"/>
                <a:gd name="connsiteY6-74" fmla="*/ 219870 h 485927"/>
                <a:gd name="connsiteX7-75" fmla="*/ 122329 w 416172"/>
                <a:gd name="connsiteY7-76" fmla="*/ 157551 h 485927"/>
                <a:gd name="connsiteX8-77" fmla="*/ 58023 w 416172"/>
                <a:gd name="connsiteY8-78" fmla="*/ 160421 h 485927"/>
                <a:gd name="connsiteX9-79" fmla="*/ 202633 w 416172"/>
                <a:gd name="connsiteY9-80" fmla="*/ 0 h 485927"/>
                <a:gd name="connsiteX0-81" fmla="*/ 202633 w 416172"/>
                <a:gd name="connsiteY0-82" fmla="*/ 0 h 485927"/>
                <a:gd name="connsiteX1-83" fmla="*/ 348858 w 416172"/>
                <a:gd name="connsiteY1-84" fmla="*/ 157551 h 485927"/>
                <a:gd name="connsiteX2-85" fmla="*/ 294275 w 416172"/>
                <a:gd name="connsiteY2-86" fmla="*/ 157551 h 485927"/>
                <a:gd name="connsiteX3-87" fmla="*/ 306015 w 416172"/>
                <a:gd name="connsiteY3-88" fmla="*/ 222549 h 485927"/>
                <a:gd name="connsiteX4-89" fmla="*/ 416172 w 416172"/>
                <a:gd name="connsiteY4-90" fmla="*/ 485927 h 485927"/>
                <a:gd name="connsiteX5-91" fmla="*/ 0 w 416172"/>
                <a:gd name="connsiteY5-92" fmla="*/ 485927 h 485927"/>
                <a:gd name="connsiteX6-93" fmla="*/ 112166 w 416172"/>
                <a:gd name="connsiteY6-94" fmla="*/ 219870 h 485927"/>
                <a:gd name="connsiteX7-95" fmla="*/ 122329 w 416172"/>
                <a:gd name="connsiteY7-96" fmla="*/ 157551 h 485927"/>
                <a:gd name="connsiteX8-97" fmla="*/ 71717 w 416172"/>
                <a:gd name="connsiteY8-98" fmla="*/ 159265 h 485927"/>
                <a:gd name="connsiteX9-99" fmla="*/ 202633 w 416172"/>
                <a:gd name="connsiteY9-100" fmla="*/ 0 h 485927"/>
                <a:gd name="connsiteX0-101" fmla="*/ 202633 w 416172"/>
                <a:gd name="connsiteY0-102" fmla="*/ 0 h 485927"/>
                <a:gd name="connsiteX1-103" fmla="*/ 348858 w 416172"/>
                <a:gd name="connsiteY1-104" fmla="*/ 157551 h 485927"/>
                <a:gd name="connsiteX2-105" fmla="*/ 294275 w 416172"/>
                <a:gd name="connsiteY2-106" fmla="*/ 157551 h 485927"/>
                <a:gd name="connsiteX3-107" fmla="*/ 306015 w 416172"/>
                <a:gd name="connsiteY3-108" fmla="*/ 222549 h 485927"/>
                <a:gd name="connsiteX4-109" fmla="*/ 416172 w 416172"/>
                <a:gd name="connsiteY4-110" fmla="*/ 485927 h 485927"/>
                <a:gd name="connsiteX5-111" fmla="*/ 0 w 416172"/>
                <a:gd name="connsiteY5-112" fmla="*/ 485927 h 485927"/>
                <a:gd name="connsiteX6-113" fmla="*/ 112166 w 416172"/>
                <a:gd name="connsiteY6-114" fmla="*/ 219870 h 485927"/>
                <a:gd name="connsiteX7-115" fmla="*/ 122329 w 416172"/>
                <a:gd name="connsiteY7-116" fmla="*/ 157551 h 485927"/>
                <a:gd name="connsiteX8-117" fmla="*/ 71717 w 416172"/>
                <a:gd name="connsiteY8-118" fmla="*/ 159265 h 485927"/>
                <a:gd name="connsiteX9-119" fmla="*/ 202633 w 416172"/>
                <a:gd name="connsiteY9-120" fmla="*/ 0 h 485927"/>
                <a:gd name="connsiteX0-121" fmla="*/ 202633 w 416172"/>
                <a:gd name="connsiteY0-122" fmla="*/ 0 h 485927"/>
                <a:gd name="connsiteX1-123" fmla="*/ 348858 w 416172"/>
                <a:gd name="connsiteY1-124" fmla="*/ 157551 h 485927"/>
                <a:gd name="connsiteX2-125" fmla="*/ 294275 w 416172"/>
                <a:gd name="connsiteY2-126" fmla="*/ 157551 h 485927"/>
                <a:gd name="connsiteX3-127" fmla="*/ 306015 w 416172"/>
                <a:gd name="connsiteY3-128" fmla="*/ 222549 h 485927"/>
                <a:gd name="connsiteX4-129" fmla="*/ 416172 w 416172"/>
                <a:gd name="connsiteY4-130" fmla="*/ 485927 h 485927"/>
                <a:gd name="connsiteX5-131" fmla="*/ 0 w 416172"/>
                <a:gd name="connsiteY5-132" fmla="*/ 485927 h 485927"/>
                <a:gd name="connsiteX6-133" fmla="*/ 112166 w 416172"/>
                <a:gd name="connsiteY6-134" fmla="*/ 219870 h 485927"/>
                <a:gd name="connsiteX7-135" fmla="*/ 122329 w 416172"/>
                <a:gd name="connsiteY7-136" fmla="*/ 157551 h 485927"/>
                <a:gd name="connsiteX8-137" fmla="*/ 71717 w 416172"/>
                <a:gd name="connsiteY8-138" fmla="*/ 159265 h 485927"/>
                <a:gd name="connsiteX9-139" fmla="*/ 202633 w 416172"/>
                <a:gd name="connsiteY9-140" fmla="*/ 0 h 485927"/>
                <a:gd name="connsiteX0-141" fmla="*/ 202633 w 416172"/>
                <a:gd name="connsiteY0-142" fmla="*/ 0 h 485927"/>
                <a:gd name="connsiteX1-143" fmla="*/ 348858 w 416172"/>
                <a:gd name="connsiteY1-144" fmla="*/ 157551 h 485927"/>
                <a:gd name="connsiteX2-145" fmla="*/ 294275 w 416172"/>
                <a:gd name="connsiteY2-146" fmla="*/ 157551 h 485927"/>
                <a:gd name="connsiteX3-147" fmla="*/ 306015 w 416172"/>
                <a:gd name="connsiteY3-148" fmla="*/ 222549 h 485927"/>
                <a:gd name="connsiteX4-149" fmla="*/ 416172 w 416172"/>
                <a:gd name="connsiteY4-150" fmla="*/ 485927 h 485927"/>
                <a:gd name="connsiteX5-151" fmla="*/ 0 w 416172"/>
                <a:gd name="connsiteY5-152" fmla="*/ 485927 h 485927"/>
                <a:gd name="connsiteX6-153" fmla="*/ 112166 w 416172"/>
                <a:gd name="connsiteY6-154" fmla="*/ 219870 h 485927"/>
                <a:gd name="connsiteX7-155" fmla="*/ 122329 w 416172"/>
                <a:gd name="connsiteY7-156" fmla="*/ 157551 h 485927"/>
                <a:gd name="connsiteX8-157" fmla="*/ 71717 w 416172"/>
                <a:gd name="connsiteY8-158" fmla="*/ 159265 h 485927"/>
                <a:gd name="connsiteX9-159" fmla="*/ 202633 w 416172"/>
                <a:gd name="connsiteY9-160" fmla="*/ 0 h 485927"/>
                <a:gd name="connsiteX0-161" fmla="*/ 202633 w 416172"/>
                <a:gd name="connsiteY0-162" fmla="*/ 0 h 485927"/>
                <a:gd name="connsiteX1-163" fmla="*/ 348858 w 416172"/>
                <a:gd name="connsiteY1-164" fmla="*/ 157551 h 485927"/>
                <a:gd name="connsiteX2-165" fmla="*/ 294275 w 416172"/>
                <a:gd name="connsiteY2-166" fmla="*/ 157551 h 485927"/>
                <a:gd name="connsiteX3-167" fmla="*/ 306015 w 416172"/>
                <a:gd name="connsiteY3-168" fmla="*/ 222549 h 485927"/>
                <a:gd name="connsiteX4-169" fmla="*/ 416172 w 416172"/>
                <a:gd name="connsiteY4-170" fmla="*/ 485927 h 485927"/>
                <a:gd name="connsiteX5-171" fmla="*/ 0 w 416172"/>
                <a:gd name="connsiteY5-172" fmla="*/ 485927 h 485927"/>
                <a:gd name="connsiteX6-173" fmla="*/ 112166 w 416172"/>
                <a:gd name="connsiteY6-174" fmla="*/ 219870 h 485927"/>
                <a:gd name="connsiteX7-175" fmla="*/ 122329 w 416172"/>
                <a:gd name="connsiteY7-176" fmla="*/ 157551 h 485927"/>
                <a:gd name="connsiteX8-177" fmla="*/ 71717 w 416172"/>
                <a:gd name="connsiteY8-178" fmla="*/ 159265 h 485927"/>
                <a:gd name="connsiteX9-179" fmla="*/ 202633 w 416172"/>
                <a:gd name="connsiteY9-180" fmla="*/ 0 h 485927"/>
                <a:gd name="connsiteX0-181" fmla="*/ 202633 w 416172"/>
                <a:gd name="connsiteY0-182" fmla="*/ 0 h 485927"/>
                <a:gd name="connsiteX1-183" fmla="*/ 348858 w 416172"/>
                <a:gd name="connsiteY1-184" fmla="*/ 157551 h 485927"/>
                <a:gd name="connsiteX2-185" fmla="*/ 294275 w 416172"/>
                <a:gd name="connsiteY2-186" fmla="*/ 157551 h 485927"/>
                <a:gd name="connsiteX3-187" fmla="*/ 306015 w 416172"/>
                <a:gd name="connsiteY3-188" fmla="*/ 222549 h 485927"/>
                <a:gd name="connsiteX4-189" fmla="*/ 416172 w 416172"/>
                <a:gd name="connsiteY4-190" fmla="*/ 485927 h 485927"/>
                <a:gd name="connsiteX5-191" fmla="*/ 0 w 416172"/>
                <a:gd name="connsiteY5-192" fmla="*/ 485927 h 485927"/>
                <a:gd name="connsiteX6-193" fmla="*/ 112166 w 416172"/>
                <a:gd name="connsiteY6-194" fmla="*/ 219870 h 485927"/>
                <a:gd name="connsiteX7-195" fmla="*/ 122329 w 416172"/>
                <a:gd name="connsiteY7-196" fmla="*/ 157551 h 485927"/>
                <a:gd name="connsiteX8-197" fmla="*/ 71717 w 416172"/>
                <a:gd name="connsiteY8-198" fmla="*/ 159265 h 485927"/>
                <a:gd name="connsiteX9-199" fmla="*/ 202633 w 416172"/>
                <a:gd name="connsiteY9-200" fmla="*/ 0 h 485927"/>
                <a:gd name="connsiteX0-201" fmla="*/ 202633 w 416172"/>
                <a:gd name="connsiteY0-202" fmla="*/ 0 h 485927"/>
                <a:gd name="connsiteX1-203" fmla="*/ 348858 w 416172"/>
                <a:gd name="connsiteY1-204" fmla="*/ 157551 h 485927"/>
                <a:gd name="connsiteX2-205" fmla="*/ 294275 w 416172"/>
                <a:gd name="connsiteY2-206" fmla="*/ 157551 h 485927"/>
                <a:gd name="connsiteX3-207" fmla="*/ 306015 w 416172"/>
                <a:gd name="connsiteY3-208" fmla="*/ 222549 h 485927"/>
                <a:gd name="connsiteX4-209" fmla="*/ 416172 w 416172"/>
                <a:gd name="connsiteY4-210" fmla="*/ 485927 h 485927"/>
                <a:gd name="connsiteX5-211" fmla="*/ 0 w 416172"/>
                <a:gd name="connsiteY5-212" fmla="*/ 485927 h 485927"/>
                <a:gd name="connsiteX6-213" fmla="*/ 112166 w 416172"/>
                <a:gd name="connsiteY6-214" fmla="*/ 219870 h 485927"/>
                <a:gd name="connsiteX7-215" fmla="*/ 122329 w 416172"/>
                <a:gd name="connsiteY7-216" fmla="*/ 157551 h 485927"/>
                <a:gd name="connsiteX8-217" fmla="*/ 71717 w 416172"/>
                <a:gd name="connsiteY8-218" fmla="*/ 159265 h 485927"/>
                <a:gd name="connsiteX9-219" fmla="*/ 202633 w 416172"/>
                <a:gd name="connsiteY9-220" fmla="*/ 0 h 485927"/>
                <a:gd name="csX0" fmla="*/ 205405 w 416172"/>
                <a:gd name="csY0" fmla="*/ 0 h 485573"/>
                <a:gd name="csX1" fmla="*/ 348858 w 416172"/>
                <a:gd name="csY1" fmla="*/ 157197 h 485573"/>
                <a:gd name="csX2" fmla="*/ 294275 w 416172"/>
                <a:gd name="csY2" fmla="*/ 157197 h 485573"/>
                <a:gd name="csX3" fmla="*/ 306015 w 416172"/>
                <a:gd name="csY3" fmla="*/ 222195 h 485573"/>
                <a:gd name="csX4" fmla="*/ 416172 w 416172"/>
                <a:gd name="csY4" fmla="*/ 485573 h 485573"/>
                <a:gd name="csX5" fmla="*/ 0 w 416172"/>
                <a:gd name="csY5" fmla="*/ 485573 h 485573"/>
                <a:gd name="csX6" fmla="*/ 112166 w 416172"/>
                <a:gd name="csY6" fmla="*/ 219516 h 485573"/>
                <a:gd name="csX7" fmla="*/ 122329 w 416172"/>
                <a:gd name="csY7" fmla="*/ 157197 h 485573"/>
                <a:gd name="csX8" fmla="*/ 71717 w 416172"/>
                <a:gd name="csY8" fmla="*/ 158911 h 485573"/>
                <a:gd name="csX9" fmla="*/ 205405 w 416172"/>
                <a:gd name="csY9" fmla="*/ 0 h 485573"/>
                <a:gd name="csX0-1" fmla="*/ 205405 w 416172"/>
                <a:gd name="csY0-2" fmla="*/ 0 h 485573"/>
                <a:gd name="csX1-3" fmla="*/ 348858 w 416172"/>
                <a:gd name="csY1-4" fmla="*/ 157197 h 485573"/>
                <a:gd name="csX2-5" fmla="*/ 294275 w 416172"/>
                <a:gd name="csY2-6" fmla="*/ 157197 h 485573"/>
                <a:gd name="csX3-7" fmla="*/ 306015 w 416172"/>
                <a:gd name="csY3-8" fmla="*/ 222195 h 485573"/>
                <a:gd name="csX4-9" fmla="*/ 416172 w 416172"/>
                <a:gd name="csY4-10" fmla="*/ 485573 h 485573"/>
                <a:gd name="csX5-11" fmla="*/ 0 w 416172"/>
                <a:gd name="csY5-12" fmla="*/ 485573 h 485573"/>
                <a:gd name="csX6-13" fmla="*/ 112166 w 416172"/>
                <a:gd name="csY6-14" fmla="*/ 219516 h 485573"/>
                <a:gd name="csX7-15" fmla="*/ 122329 w 416172"/>
                <a:gd name="csY7-16" fmla="*/ 157197 h 485573"/>
                <a:gd name="csX8-17" fmla="*/ 71717 w 416172"/>
                <a:gd name="csY8-18" fmla="*/ 158911 h 485573"/>
                <a:gd name="csX9-19" fmla="*/ 205405 w 416172"/>
                <a:gd name="csY9-20" fmla="*/ 0 h 485573"/>
                <a:gd name="csX0-21" fmla="*/ 205405 w 416172"/>
                <a:gd name="csY0-22" fmla="*/ 0 h 485573"/>
                <a:gd name="csX1-23" fmla="*/ 348858 w 416172"/>
                <a:gd name="csY1-24" fmla="*/ 157197 h 485573"/>
                <a:gd name="csX2-25" fmla="*/ 294275 w 416172"/>
                <a:gd name="csY2-26" fmla="*/ 157197 h 485573"/>
                <a:gd name="csX3-27" fmla="*/ 306015 w 416172"/>
                <a:gd name="csY3-28" fmla="*/ 222195 h 485573"/>
                <a:gd name="csX4-29" fmla="*/ 416172 w 416172"/>
                <a:gd name="csY4-30" fmla="*/ 485573 h 485573"/>
                <a:gd name="csX5-31" fmla="*/ 0 w 416172"/>
                <a:gd name="csY5-32" fmla="*/ 485573 h 485573"/>
                <a:gd name="csX6-33" fmla="*/ 112166 w 416172"/>
                <a:gd name="csY6-34" fmla="*/ 219516 h 485573"/>
                <a:gd name="csX7-35" fmla="*/ 122329 w 416172"/>
                <a:gd name="csY7-36" fmla="*/ 157197 h 485573"/>
                <a:gd name="csX8-37" fmla="*/ 71717 w 416172"/>
                <a:gd name="csY8-38" fmla="*/ 158911 h 485573"/>
                <a:gd name="csX9-39" fmla="*/ 205405 w 416172"/>
                <a:gd name="csY9-40" fmla="*/ 0 h 485573"/>
                <a:gd name="csX0-41" fmla="*/ 205405 w 416172"/>
                <a:gd name="csY0-42" fmla="*/ 0 h 485573"/>
                <a:gd name="csX1-43" fmla="*/ 348858 w 416172"/>
                <a:gd name="csY1-44" fmla="*/ 157197 h 485573"/>
                <a:gd name="csX2-45" fmla="*/ 294275 w 416172"/>
                <a:gd name="csY2-46" fmla="*/ 157197 h 485573"/>
                <a:gd name="csX3-47" fmla="*/ 306015 w 416172"/>
                <a:gd name="csY3-48" fmla="*/ 222195 h 485573"/>
                <a:gd name="csX4-49" fmla="*/ 416172 w 416172"/>
                <a:gd name="csY4-50" fmla="*/ 485573 h 485573"/>
                <a:gd name="csX5-51" fmla="*/ 0 w 416172"/>
                <a:gd name="csY5-52" fmla="*/ 485573 h 485573"/>
                <a:gd name="csX6-53" fmla="*/ 112166 w 416172"/>
                <a:gd name="csY6-54" fmla="*/ 219516 h 485573"/>
                <a:gd name="csX7-55" fmla="*/ 122329 w 416172"/>
                <a:gd name="csY7-56" fmla="*/ 157197 h 485573"/>
                <a:gd name="csX8-57" fmla="*/ 71717 w 416172"/>
                <a:gd name="csY8-58" fmla="*/ 158911 h 485573"/>
                <a:gd name="csX9-59" fmla="*/ 205405 w 416172"/>
                <a:gd name="csY9-60" fmla="*/ 0 h 485573"/>
                <a:gd name="csX0-61" fmla="*/ 214727 w 425494"/>
                <a:gd name="csY0-62" fmla="*/ 0 h 485573"/>
                <a:gd name="csX1-63" fmla="*/ 358180 w 425494"/>
                <a:gd name="csY1-64" fmla="*/ 157197 h 485573"/>
                <a:gd name="csX2-65" fmla="*/ 303597 w 425494"/>
                <a:gd name="csY2-66" fmla="*/ 157197 h 485573"/>
                <a:gd name="csX3-67" fmla="*/ 315337 w 425494"/>
                <a:gd name="csY3-68" fmla="*/ 222195 h 485573"/>
                <a:gd name="csX4-69" fmla="*/ 425494 w 425494"/>
                <a:gd name="csY4-70" fmla="*/ 485573 h 485573"/>
                <a:gd name="csX5-71" fmla="*/ 9322 w 425494"/>
                <a:gd name="csY5-72" fmla="*/ 485573 h 485573"/>
                <a:gd name="csX6-73" fmla="*/ 131651 w 425494"/>
                <a:gd name="csY6-74" fmla="*/ 157197 h 485573"/>
                <a:gd name="csX7-75" fmla="*/ 81039 w 425494"/>
                <a:gd name="csY7-76" fmla="*/ 158911 h 485573"/>
                <a:gd name="csX8-77" fmla="*/ 214727 w 425494"/>
                <a:gd name="csY8-78" fmla="*/ 0 h 485573"/>
                <a:gd name="csX0-79" fmla="*/ 205405 w 416172"/>
                <a:gd name="csY0-80" fmla="*/ 0 h 485573"/>
                <a:gd name="csX1-81" fmla="*/ 348858 w 416172"/>
                <a:gd name="csY1-82" fmla="*/ 157197 h 485573"/>
                <a:gd name="csX2-83" fmla="*/ 294275 w 416172"/>
                <a:gd name="csY2-84" fmla="*/ 157197 h 485573"/>
                <a:gd name="csX3-85" fmla="*/ 306015 w 416172"/>
                <a:gd name="csY3-86" fmla="*/ 222195 h 485573"/>
                <a:gd name="csX4-87" fmla="*/ 416172 w 416172"/>
                <a:gd name="csY4-88" fmla="*/ 485573 h 485573"/>
                <a:gd name="csX5-89" fmla="*/ 0 w 416172"/>
                <a:gd name="csY5-90" fmla="*/ 485573 h 485573"/>
                <a:gd name="csX6-91" fmla="*/ 122329 w 416172"/>
                <a:gd name="csY6-92" fmla="*/ 157197 h 485573"/>
                <a:gd name="csX7-93" fmla="*/ 71717 w 416172"/>
                <a:gd name="csY7-94" fmla="*/ 158911 h 485573"/>
                <a:gd name="csX8-95" fmla="*/ 205405 w 416172"/>
                <a:gd name="csY8-96" fmla="*/ 0 h 485573"/>
                <a:gd name="csX0-97" fmla="*/ 205405 w 416172"/>
                <a:gd name="csY0-98" fmla="*/ 0 h 485573"/>
                <a:gd name="csX1-99" fmla="*/ 348858 w 416172"/>
                <a:gd name="csY1-100" fmla="*/ 157197 h 485573"/>
                <a:gd name="csX2-101" fmla="*/ 294275 w 416172"/>
                <a:gd name="csY2-102" fmla="*/ 157197 h 485573"/>
                <a:gd name="csX3-103" fmla="*/ 416172 w 416172"/>
                <a:gd name="csY3-104" fmla="*/ 485573 h 485573"/>
                <a:gd name="csX4-105" fmla="*/ 0 w 416172"/>
                <a:gd name="csY4-106" fmla="*/ 485573 h 485573"/>
                <a:gd name="csX5-107" fmla="*/ 122329 w 416172"/>
                <a:gd name="csY5-108" fmla="*/ 157197 h 485573"/>
                <a:gd name="csX6-109" fmla="*/ 71717 w 416172"/>
                <a:gd name="csY6-110" fmla="*/ 158911 h 485573"/>
                <a:gd name="csX7-111" fmla="*/ 205405 w 416172"/>
                <a:gd name="csY7-112" fmla="*/ 0 h 485573"/>
                <a:gd name="csX0-113" fmla="*/ 205405 w 416172"/>
                <a:gd name="csY0-114" fmla="*/ 0 h 485573"/>
                <a:gd name="csX1-115" fmla="*/ 348858 w 416172"/>
                <a:gd name="csY1-116" fmla="*/ 157197 h 485573"/>
                <a:gd name="csX2-117" fmla="*/ 294275 w 416172"/>
                <a:gd name="csY2-118" fmla="*/ 157197 h 485573"/>
                <a:gd name="csX3-119" fmla="*/ 416172 w 416172"/>
                <a:gd name="csY3-120" fmla="*/ 485573 h 485573"/>
                <a:gd name="csX4-121" fmla="*/ 0 w 416172"/>
                <a:gd name="csY4-122" fmla="*/ 485573 h 485573"/>
                <a:gd name="csX5-123" fmla="*/ 122329 w 416172"/>
                <a:gd name="csY5-124" fmla="*/ 157197 h 485573"/>
                <a:gd name="csX6-125" fmla="*/ 71717 w 416172"/>
                <a:gd name="csY6-126" fmla="*/ 158911 h 485573"/>
                <a:gd name="csX7-127" fmla="*/ 205405 w 416172"/>
                <a:gd name="csY7-128" fmla="*/ 0 h 485573"/>
                <a:gd name="csX0-129" fmla="*/ 205405 w 416172"/>
                <a:gd name="csY0-130" fmla="*/ 0 h 485573"/>
                <a:gd name="csX1-131" fmla="*/ 348858 w 416172"/>
                <a:gd name="csY1-132" fmla="*/ 157197 h 485573"/>
                <a:gd name="csX2-133" fmla="*/ 294275 w 416172"/>
                <a:gd name="csY2-134" fmla="*/ 157197 h 485573"/>
                <a:gd name="csX3-135" fmla="*/ 416172 w 416172"/>
                <a:gd name="csY3-136" fmla="*/ 485573 h 485573"/>
                <a:gd name="csX4-137" fmla="*/ 0 w 416172"/>
                <a:gd name="csY4-138" fmla="*/ 485573 h 485573"/>
                <a:gd name="csX5-139" fmla="*/ 122329 w 416172"/>
                <a:gd name="csY5-140" fmla="*/ 157197 h 485573"/>
                <a:gd name="csX6-141" fmla="*/ 71717 w 416172"/>
                <a:gd name="csY6-142" fmla="*/ 158911 h 485573"/>
                <a:gd name="csX7-143" fmla="*/ 205405 w 416172"/>
                <a:gd name="csY7-144" fmla="*/ 0 h 485573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</a:cxnLst>
              <a:rect l="l" t="t" r="r" b="b"/>
              <a:pathLst>
                <a:path w="416172" h="485573">
                  <a:moveTo>
                    <a:pt x="205405" y="0"/>
                  </a:moveTo>
                  <a:cubicBezTo>
                    <a:pt x="244007" y="53881"/>
                    <a:pt x="293715" y="111596"/>
                    <a:pt x="348858" y="157197"/>
                  </a:cubicBezTo>
                  <a:lnTo>
                    <a:pt x="294275" y="157197"/>
                  </a:lnTo>
                  <a:cubicBezTo>
                    <a:pt x="319788" y="271753"/>
                    <a:pt x="361026" y="410941"/>
                    <a:pt x="416172" y="485573"/>
                  </a:cubicBezTo>
                  <a:lnTo>
                    <a:pt x="0" y="485573"/>
                  </a:lnTo>
                  <a:cubicBezTo>
                    <a:pt x="38110" y="434242"/>
                    <a:pt x="110376" y="211641"/>
                    <a:pt x="122329" y="157197"/>
                  </a:cubicBezTo>
                  <a:cubicBezTo>
                    <a:pt x="91947" y="157197"/>
                    <a:pt x="102099" y="158911"/>
                    <a:pt x="71717" y="158911"/>
                  </a:cubicBezTo>
                  <a:cubicBezTo>
                    <a:pt x="116033" y="120609"/>
                    <a:pt x="176767" y="43061"/>
                    <a:pt x="205405" y="0"/>
                  </a:cubicBezTo>
                  <a:close/>
                </a:path>
              </a:pathLst>
            </a:custGeom>
            <a:gradFill>
              <a:gsLst>
                <a:gs pos="57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  <a:gs pos="2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0"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思源宋体 CN Medium" panose="02020500000000000000" charset="-122"/>
              </a:endParaRPr>
            </a:p>
          </p:txBody>
        </p:sp>
      </p:grpSp>
      <p:sp>
        <p:nvSpPr>
          <p:cNvPr id="28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401169" cy="368300"/>
          </a:xfrm>
        </p:spPr>
        <p:txBody>
          <a:bodyPr/>
          <a:lstStyle/>
          <a:p>
            <a:pPr defTabSz="266700"/>
            <a:r>
              <a:rPr>
                <a:cs typeface="微软雅黑" panose="020B0503020204020204" pitchFamily="34" charset="-122"/>
                <a:sym typeface="+mn-ea"/>
              </a:rPr>
              <a:t>先让数据说</a:t>
            </a:r>
            <a:r>
              <a:rPr lang="en-US" altLang="zh-CN">
                <a:cs typeface="微软雅黑" panose="020B0503020204020204" pitchFamily="34" charset="-122"/>
                <a:sym typeface="+mn-ea"/>
              </a:rPr>
              <a:t>“</a:t>
            </a:r>
            <a:r>
              <a:rPr>
                <a:cs typeface="微软雅黑" panose="020B0503020204020204" pitchFamily="34" charset="-122"/>
                <a:sym typeface="+mn-ea"/>
              </a:rPr>
              <a:t>同一种语言</a:t>
            </a:r>
            <a:r>
              <a:rPr lang="en-US" altLang="zh-CN">
                <a:cs typeface="微软雅黑" panose="020B0503020204020204" pitchFamily="34" charset="-122"/>
                <a:sym typeface="+mn-ea"/>
              </a:rPr>
              <a:t>”</a:t>
            </a:r>
            <a:r>
              <a:rPr>
                <a:cs typeface="微软雅黑" panose="020B0503020204020204" pitchFamily="34" charset="-122"/>
                <a:sym typeface="+mn-ea"/>
              </a:rPr>
              <a:t>，再让模型“懂汽车、会推理”，最后让系统“可交互、可协同”。</a:t>
            </a:r>
            <a:endParaRPr dirty="0"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2915" y="1259205"/>
            <a:ext cx="11330305" cy="1892300"/>
            <a:chOff x="729" y="1983"/>
            <a:chExt cx="17843" cy="2980"/>
          </a:xfrm>
        </p:grpSpPr>
        <p:sp>
          <p:nvSpPr>
            <p:cNvPr id="40" name="矩形 39"/>
            <p:cNvSpPr/>
            <p:nvPr/>
          </p:nvSpPr>
          <p:spPr>
            <a:xfrm>
              <a:off x="729" y="1983"/>
              <a:ext cx="1204" cy="293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据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底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座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505" y="4307"/>
              <a:ext cx="15831" cy="628"/>
              <a:chOff x="2505" y="2579"/>
              <a:chExt cx="15831" cy="628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2505" y="2579"/>
                <a:ext cx="4952" cy="62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用户“画像-需求-评价”标签数据集</a:t>
                </a:r>
                <a:endParaRPr kumimoji="0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7946" y="2579"/>
                <a:ext cx="4951" cy="62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BOM级成本工程高质量数据集</a:t>
                </a:r>
                <a:endParaRPr kumimoji="0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3386" y="2579"/>
                <a:ext cx="4951" cy="62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汽车通信融合高质量数据集</a:t>
                </a:r>
                <a:endParaRPr kumimoji="0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2509" y="2726"/>
              <a:ext cx="15827" cy="422"/>
              <a:chOff x="2509" y="4436"/>
              <a:chExt cx="15433" cy="422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2509" y="4450"/>
                <a:ext cx="7311" cy="40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结构化数据：</a:t>
                </a:r>
                <a:r>
                  <a:rPr kumimoji="0" 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市场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+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配置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+BOM+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通信数据等</a:t>
                </a:r>
                <a:endPara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0254" y="4436"/>
                <a:ext cx="7689" cy="40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none" rtlCol="0" anchor="ctr"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非结构化数据：</a:t>
                </a:r>
                <a:r>
                  <a:rPr kumimoji="0" 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用户访谈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+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口碑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+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声量</a:t>
                </a: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+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CN Normal" panose="020B0400000000000000" charset="-122"/>
                  </a:rPr>
                  <a:t>论坛评价</a:t>
                </a:r>
                <a:endPara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2209" y="2009"/>
              <a:ext cx="16363" cy="295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509" y="3579"/>
              <a:ext cx="15817" cy="40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none"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知识图谱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+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向量数据库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+ 隐私计算 + BERT+UIE语义解析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69" name="燕尾形 68"/>
            <p:cNvSpPr/>
            <p:nvPr/>
          </p:nvSpPr>
          <p:spPr>
            <a:xfrm rot="5400000" flipV="1">
              <a:off x="5981" y="2869"/>
              <a:ext cx="200" cy="1013"/>
            </a:xfrm>
            <a:prstGeom prst="chevro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燕尾形 69"/>
            <p:cNvSpPr/>
            <p:nvPr/>
          </p:nvSpPr>
          <p:spPr>
            <a:xfrm rot="5400000" flipV="1">
              <a:off x="13759" y="2827"/>
              <a:ext cx="200" cy="1013"/>
            </a:xfrm>
            <a:prstGeom prst="chevro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燕尾形 70"/>
            <p:cNvSpPr/>
            <p:nvPr/>
          </p:nvSpPr>
          <p:spPr>
            <a:xfrm rot="5400000" flipV="1">
              <a:off x="4880" y="3651"/>
              <a:ext cx="200" cy="1013"/>
            </a:xfrm>
            <a:prstGeom prst="chevro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燕尾形 71"/>
            <p:cNvSpPr/>
            <p:nvPr/>
          </p:nvSpPr>
          <p:spPr>
            <a:xfrm rot="5400000" flipV="1">
              <a:off x="15804" y="3606"/>
              <a:ext cx="200" cy="1013"/>
            </a:xfrm>
            <a:prstGeom prst="chevro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燕尾形 72"/>
            <p:cNvSpPr/>
            <p:nvPr/>
          </p:nvSpPr>
          <p:spPr>
            <a:xfrm rot="5400000" flipV="1">
              <a:off x="10342" y="3606"/>
              <a:ext cx="200" cy="1013"/>
            </a:xfrm>
            <a:prstGeom prst="chevro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2591" y="2068"/>
              <a:ext cx="1598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zh-CN" altLang="en-US" b="1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研究内容一：跨模态汽车产业数据语义对齐与高质量语料库构建</a:t>
              </a:r>
              <a:endParaRPr lang="zh-CN" altLang="en-US" b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2915" y="3310890"/>
            <a:ext cx="11340465" cy="1247140"/>
            <a:chOff x="730" y="5059"/>
            <a:chExt cx="17859" cy="1964"/>
          </a:xfrm>
        </p:grpSpPr>
        <p:sp>
          <p:nvSpPr>
            <p:cNvPr id="6" name="矩形 5"/>
            <p:cNvSpPr/>
            <p:nvPr/>
          </p:nvSpPr>
          <p:spPr>
            <a:xfrm>
              <a:off x="730" y="5059"/>
              <a:ext cx="1204" cy="1964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垂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直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模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型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25" y="5059"/>
              <a:ext cx="1598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研究内容二：数据驱动的汽车产业垂直领域专用模型研发</a:t>
              </a:r>
              <a:endParaRPr lang="zh-CN" altLang="en-US" b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226" y="5059"/>
              <a:ext cx="16363" cy="195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526" y="5621"/>
              <a:ext cx="15770" cy="1232"/>
              <a:chOff x="2226" y="5816"/>
              <a:chExt cx="15770" cy="1232"/>
            </a:xfrm>
            <a:solidFill>
              <a:srgbClr val="EDF7FD"/>
            </a:solidFill>
          </p:grpSpPr>
          <p:sp>
            <p:nvSpPr>
              <p:cNvPr id="20" name="矩形: 圆角 14"/>
              <p:cNvSpPr/>
              <p:nvPr/>
            </p:nvSpPr>
            <p:spPr>
              <a:xfrm>
                <a:off x="2226" y="5816"/>
                <a:ext cx="3507" cy="1232"/>
              </a:xfrm>
              <a:prstGeom prst="flowChartInputOutput">
                <a:avLst/>
              </a:pr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lang="zh-CN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周度智能分析与问答模型</a:t>
                </a:r>
                <a:endPara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5292" y="5816"/>
                <a:ext cx="3507" cy="1232"/>
              </a:xfrm>
              <a:prstGeom prst="flowChartInputOutput">
                <a:avLst/>
              </a:pr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市场机会识别与产品投放决策模型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8358" y="5816"/>
                <a:ext cx="3507" cy="1232"/>
              </a:xfrm>
              <a:prstGeom prst="flowChartInputOutput">
                <a:avLst/>
              </a:pr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用户洞察与配置选择决策模型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424" y="5816"/>
                <a:ext cx="3507" cy="1232"/>
              </a:xfrm>
              <a:prstGeom prst="flowChartInputOutput">
                <a:avLst/>
              </a:pr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产品竞争力评价模型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4490" y="5816"/>
                <a:ext cx="3507" cy="1232"/>
              </a:xfrm>
              <a:prstGeom prst="flowChartInputOutput">
                <a:avLst/>
              </a:prstGeom>
              <a:grpFill/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汽车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通信保客运营决策模型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462915" y="4717415"/>
            <a:ext cx="11330305" cy="1817370"/>
            <a:chOff x="746" y="2010"/>
            <a:chExt cx="17843" cy="2862"/>
          </a:xfrm>
        </p:grpSpPr>
        <p:sp>
          <p:nvSpPr>
            <p:cNvPr id="7" name="矩形 6"/>
            <p:cNvSpPr/>
            <p:nvPr/>
          </p:nvSpPr>
          <p:spPr>
            <a:xfrm>
              <a:off x="746" y="2042"/>
              <a:ext cx="1204" cy="2829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决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策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智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能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体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25" y="2010"/>
              <a:ext cx="15981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研究内容三：汽车决策智能体平台及专用模型工具链开发</a:t>
              </a:r>
              <a:endPara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226" y="2043"/>
              <a:ext cx="16363" cy="282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 rot="0">
              <a:off x="13370" y="2495"/>
              <a:ext cx="4837" cy="1768"/>
              <a:chOff x="13370" y="1538"/>
              <a:chExt cx="5136" cy="3007"/>
            </a:xfrm>
          </p:grpSpPr>
          <p:sp>
            <p:nvSpPr>
              <p:cNvPr id="24" name="矩形: 圆角 14"/>
              <p:cNvSpPr/>
              <p:nvPr/>
            </p:nvSpPr>
            <p:spPr>
              <a:xfrm>
                <a:off x="13370" y="1538"/>
                <a:ext cx="5102" cy="567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lang="zh-CN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周度数据交付工具</a:t>
                </a:r>
                <a:endParaRPr lang="zh-CN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: 圆角 38"/>
              <p:cNvSpPr/>
              <p:nvPr/>
            </p:nvSpPr>
            <p:spPr>
              <a:xfrm>
                <a:off x="13404" y="2149"/>
                <a:ext cx="5102" cy="56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市场战略性机会决策</a:t>
                </a:r>
                <a:r>
                  <a:rPr 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</a:t>
                </a:r>
                <a:endParaRPr 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矩形: 圆角 41"/>
              <p:cNvSpPr/>
              <p:nvPr/>
            </p:nvSpPr>
            <p:spPr>
              <a:xfrm>
                <a:off x="13370" y="3369"/>
                <a:ext cx="5102" cy="56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产品与降本决策</a:t>
                </a:r>
                <a:r>
                  <a:rPr 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</a:t>
                </a:r>
                <a:endParaRPr 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: 圆角 42"/>
              <p:cNvSpPr/>
              <p:nvPr/>
            </p:nvSpPr>
            <p:spPr>
              <a:xfrm>
                <a:off x="13371" y="2759"/>
                <a:ext cx="5102" cy="56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用户洞察与配置决策</a:t>
                </a:r>
                <a:r>
                  <a:rPr 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</a:t>
                </a:r>
                <a:endParaRPr 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: 圆角 43"/>
              <p:cNvSpPr/>
              <p:nvPr/>
            </p:nvSpPr>
            <p:spPr>
              <a:xfrm>
                <a:off x="13401" y="3979"/>
                <a:ext cx="5102" cy="56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defRPr/>
                </a:pPr>
                <a:r>
                  <a:rPr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汽车通讯营销决策运营</a:t>
                </a:r>
                <a:r>
                  <a:rPr 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</a:t>
                </a:r>
                <a:endParaRPr 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2404" y="2637"/>
              <a:ext cx="536" cy="159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2720" y="2637"/>
              <a:ext cx="536" cy="159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推理层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: 圆角 14"/>
            <p:cNvSpPr/>
            <p:nvPr/>
          </p:nvSpPr>
          <p:spPr>
            <a:xfrm>
              <a:off x="3111" y="2650"/>
              <a:ext cx="3572" cy="31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理解意图</a:t>
              </a:r>
              <a:endParaRPr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14"/>
            <p:cNvSpPr/>
            <p:nvPr/>
          </p:nvSpPr>
          <p:spPr>
            <a:xfrm>
              <a:off x="3111" y="3833"/>
              <a:ext cx="3572" cy="31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生成回复</a:t>
              </a:r>
              <a:endParaRPr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7729" y="2650"/>
              <a:ext cx="536" cy="159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调度层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矩形: 圆角 14"/>
            <p:cNvSpPr/>
            <p:nvPr/>
          </p:nvSpPr>
          <p:spPr>
            <a:xfrm>
              <a:off x="3111" y="3241"/>
              <a:ext cx="3572" cy="31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lvl="0" algn="ctr">
                <a:defRPr/>
              </a:pP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拆解任务</a:t>
              </a:r>
              <a:endParaRPr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: 圆角 14"/>
            <p:cNvSpPr/>
            <p:nvPr/>
          </p:nvSpPr>
          <p:spPr>
            <a:xfrm>
              <a:off x="8441" y="3800"/>
              <a:ext cx="3134" cy="31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lvl="0" algn="ctr">
                <a:defRPr/>
              </a:pP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汇总推理结果</a:t>
              </a:r>
              <a:endParaRPr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: 圆角 14"/>
            <p:cNvSpPr/>
            <p:nvPr/>
          </p:nvSpPr>
          <p:spPr>
            <a:xfrm>
              <a:off x="8441" y="2794"/>
              <a:ext cx="3134" cy="31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lvl="0" algn="ctr">
                <a:defRPr/>
              </a:pP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调用垂直模型</a:t>
              </a:r>
              <a:endParaRPr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 rot="0">
              <a:off x="6941" y="3212"/>
              <a:ext cx="468" cy="235"/>
              <a:chOff x="6941" y="3312"/>
              <a:chExt cx="468" cy="276"/>
            </a:xfrm>
          </p:grpSpPr>
          <p:cxnSp>
            <p:nvCxnSpPr>
              <p:cNvPr id="55" name="直接箭头连接符 54"/>
              <p:cNvCxnSpPr/>
              <p:nvPr/>
            </p:nvCxnSpPr>
            <p:spPr>
              <a:xfrm>
                <a:off x="6941" y="3312"/>
                <a:ext cx="469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/>
              <p:nvPr/>
            </p:nvCxnSpPr>
            <p:spPr>
              <a:xfrm flipH="1">
                <a:off x="6941" y="3588"/>
                <a:ext cx="469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/>
            <p:cNvGrpSpPr/>
            <p:nvPr/>
          </p:nvGrpSpPr>
          <p:grpSpPr>
            <a:xfrm rot="0">
              <a:off x="11819" y="3322"/>
              <a:ext cx="468" cy="235"/>
              <a:chOff x="6941" y="3312"/>
              <a:chExt cx="468" cy="276"/>
            </a:xfrm>
          </p:grpSpPr>
          <p:cxnSp>
            <p:nvCxnSpPr>
              <p:cNvPr id="60" name="直接箭头连接符 59"/>
              <p:cNvCxnSpPr/>
              <p:nvPr/>
            </p:nvCxnSpPr>
            <p:spPr>
              <a:xfrm>
                <a:off x="6941" y="3312"/>
                <a:ext cx="469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/>
            </p:nvCxnSpPr>
            <p:spPr>
              <a:xfrm flipH="1">
                <a:off x="6941" y="3588"/>
                <a:ext cx="469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/>
            <p:cNvSpPr txBox="1"/>
            <p:nvPr/>
          </p:nvSpPr>
          <p:spPr>
            <a:xfrm>
              <a:off x="2608" y="4315"/>
              <a:ext cx="9680" cy="414"/>
            </a:xfrm>
            <a:prstGeom prst="leftRightArrow">
              <a:avLst>
                <a:gd name="adj1" fmla="val 10000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通用大模型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2477" y="4342"/>
              <a:ext cx="5697" cy="414"/>
            </a:xfrm>
            <a:prstGeom prst="leftRightArrow">
              <a:avLst>
                <a:gd name="adj1" fmla="val 10000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垂直领域模型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190" y="401955"/>
            <a:ext cx="9415780" cy="400685"/>
          </a:xfrm>
        </p:spPr>
        <p:txBody>
          <a:bodyPr/>
          <a:lstStyle/>
          <a:p>
            <a:r>
              <a:t>研究路线：数据底座→垂直模型→决策智能体三层递进</a:t>
            </a:r>
          </a:p>
        </p:txBody>
      </p:sp>
      <p:sp>
        <p:nvSpPr>
          <p:cNvPr id="50" name="0"/>
          <p:cNvSpPr/>
          <p:nvPr/>
        </p:nvSpPr>
        <p:spPr>
          <a:xfrm flipV="1">
            <a:off x="4509278" y="4429244"/>
            <a:ext cx="4001932" cy="28800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02633 w 416172"/>
              <a:gd name="connsiteY0-2" fmla="*/ 0 h 485927"/>
              <a:gd name="connsiteX1-3" fmla="*/ 374083 w 416172"/>
              <a:gd name="connsiteY1-4" fmla="*/ 157551 h 485927"/>
              <a:gd name="connsiteX2-5" fmla="*/ 294275 w 416172"/>
              <a:gd name="connsiteY2-6" fmla="*/ 157551 h 485927"/>
              <a:gd name="connsiteX3-7" fmla="*/ 306015 w 416172"/>
              <a:gd name="connsiteY3-8" fmla="*/ 222549 h 485927"/>
              <a:gd name="connsiteX4-9" fmla="*/ 416172 w 416172"/>
              <a:gd name="connsiteY4-10" fmla="*/ 485927 h 485927"/>
              <a:gd name="connsiteX5-11" fmla="*/ 0 w 416172"/>
              <a:gd name="connsiteY5-12" fmla="*/ 485927 h 485927"/>
              <a:gd name="connsiteX6-13" fmla="*/ 112166 w 416172"/>
              <a:gd name="connsiteY6-14" fmla="*/ 219870 h 485927"/>
              <a:gd name="connsiteX7-15" fmla="*/ 122329 w 416172"/>
              <a:gd name="connsiteY7-16" fmla="*/ 157551 h 485927"/>
              <a:gd name="connsiteX8-17" fmla="*/ 58023 w 416172"/>
              <a:gd name="connsiteY8-18" fmla="*/ 160421 h 485927"/>
              <a:gd name="connsiteX9-19" fmla="*/ 202633 w 416172"/>
              <a:gd name="connsiteY9-20" fmla="*/ 0 h 485927"/>
              <a:gd name="connsiteX0-21" fmla="*/ 202633 w 416172"/>
              <a:gd name="connsiteY0-22" fmla="*/ 0 h 485927"/>
              <a:gd name="connsiteX1-23" fmla="*/ 374083 w 416172"/>
              <a:gd name="connsiteY1-24" fmla="*/ 157551 h 485927"/>
              <a:gd name="connsiteX2-25" fmla="*/ 294275 w 416172"/>
              <a:gd name="connsiteY2-26" fmla="*/ 157551 h 485927"/>
              <a:gd name="connsiteX3-27" fmla="*/ 306015 w 416172"/>
              <a:gd name="connsiteY3-28" fmla="*/ 222549 h 485927"/>
              <a:gd name="connsiteX4-29" fmla="*/ 416172 w 416172"/>
              <a:gd name="connsiteY4-30" fmla="*/ 485927 h 485927"/>
              <a:gd name="connsiteX5-31" fmla="*/ 0 w 416172"/>
              <a:gd name="connsiteY5-32" fmla="*/ 485927 h 485927"/>
              <a:gd name="connsiteX6-33" fmla="*/ 112166 w 416172"/>
              <a:gd name="connsiteY6-34" fmla="*/ 219870 h 485927"/>
              <a:gd name="connsiteX7-35" fmla="*/ 122329 w 416172"/>
              <a:gd name="connsiteY7-36" fmla="*/ 157551 h 485927"/>
              <a:gd name="connsiteX8-37" fmla="*/ 58023 w 416172"/>
              <a:gd name="connsiteY8-38" fmla="*/ 160421 h 485927"/>
              <a:gd name="connsiteX9-39" fmla="*/ 202633 w 416172"/>
              <a:gd name="connsiteY9-40" fmla="*/ 0 h 485927"/>
              <a:gd name="connsiteX0-41" fmla="*/ 202633 w 416172"/>
              <a:gd name="connsiteY0-42" fmla="*/ 0 h 485927"/>
              <a:gd name="connsiteX1-43" fmla="*/ 348858 w 416172"/>
              <a:gd name="connsiteY1-44" fmla="*/ 157551 h 485927"/>
              <a:gd name="connsiteX2-45" fmla="*/ 294275 w 416172"/>
              <a:gd name="connsiteY2-46" fmla="*/ 157551 h 485927"/>
              <a:gd name="connsiteX3-47" fmla="*/ 306015 w 416172"/>
              <a:gd name="connsiteY3-48" fmla="*/ 222549 h 485927"/>
              <a:gd name="connsiteX4-49" fmla="*/ 416172 w 416172"/>
              <a:gd name="connsiteY4-50" fmla="*/ 485927 h 485927"/>
              <a:gd name="connsiteX5-51" fmla="*/ 0 w 416172"/>
              <a:gd name="connsiteY5-52" fmla="*/ 485927 h 485927"/>
              <a:gd name="connsiteX6-53" fmla="*/ 112166 w 416172"/>
              <a:gd name="connsiteY6-54" fmla="*/ 219870 h 485927"/>
              <a:gd name="connsiteX7-55" fmla="*/ 122329 w 416172"/>
              <a:gd name="connsiteY7-56" fmla="*/ 157551 h 485927"/>
              <a:gd name="connsiteX8-57" fmla="*/ 58023 w 416172"/>
              <a:gd name="connsiteY8-58" fmla="*/ 160421 h 485927"/>
              <a:gd name="connsiteX9-59" fmla="*/ 202633 w 416172"/>
              <a:gd name="connsiteY9-60" fmla="*/ 0 h 485927"/>
              <a:gd name="connsiteX0-61" fmla="*/ 202633 w 416172"/>
              <a:gd name="connsiteY0-62" fmla="*/ 0 h 485927"/>
              <a:gd name="connsiteX1-63" fmla="*/ 348858 w 416172"/>
              <a:gd name="connsiteY1-64" fmla="*/ 157551 h 485927"/>
              <a:gd name="connsiteX2-65" fmla="*/ 294275 w 416172"/>
              <a:gd name="connsiteY2-66" fmla="*/ 157551 h 485927"/>
              <a:gd name="connsiteX3-67" fmla="*/ 306015 w 416172"/>
              <a:gd name="connsiteY3-68" fmla="*/ 222549 h 485927"/>
              <a:gd name="connsiteX4-69" fmla="*/ 416172 w 416172"/>
              <a:gd name="connsiteY4-70" fmla="*/ 485927 h 485927"/>
              <a:gd name="connsiteX5-71" fmla="*/ 0 w 416172"/>
              <a:gd name="connsiteY5-72" fmla="*/ 485927 h 485927"/>
              <a:gd name="connsiteX6-73" fmla="*/ 112166 w 416172"/>
              <a:gd name="connsiteY6-74" fmla="*/ 219870 h 485927"/>
              <a:gd name="connsiteX7-75" fmla="*/ 122329 w 416172"/>
              <a:gd name="connsiteY7-76" fmla="*/ 157551 h 485927"/>
              <a:gd name="connsiteX8-77" fmla="*/ 58023 w 416172"/>
              <a:gd name="connsiteY8-78" fmla="*/ 160421 h 485927"/>
              <a:gd name="connsiteX9-79" fmla="*/ 202633 w 416172"/>
              <a:gd name="connsiteY9-80" fmla="*/ 0 h 485927"/>
              <a:gd name="connsiteX0-81" fmla="*/ 202633 w 416172"/>
              <a:gd name="connsiteY0-82" fmla="*/ 0 h 485927"/>
              <a:gd name="connsiteX1-83" fmla="*/ 348858 w 416172"/>
              <a:gd name="connsiteY1-84" fmla="*/ 157551 h 485927"/>
              <a:gd name="connsiteX2-85" fmla="*/ 294275 w 416172"/>
              <a:gd name="connsiteY2-86" fmla="*/ 157551 h 485927"/>
              <a:gd name="connsiteX3-87" fmla="*/ 306015 w 416172"/>
              <a:gd name="connsiteY3-88" fmla="*/ 222549 h 485927"/>
              <a:gd name="connsiteX4-89" fmla="*/ 416172 w 416172"/>
              <a:gd name="connsiteY4-90" fmla="*/ 485927 h 485927"/>
              <a:gd name="connsiteX5-91" fmla="*/ 0 w 416172"/>
              <a:gd name="connsiteY5-92" fmla="*/ 485927 h 485927"/>
              <a:gd name="connsiteX6-93" fmla="*/ 112166 w 416172"/>
              <a:gd name="connsiteY6-94" fmla="*/ 219870 h 485927"/>
              <a:gd name="connsiteX7-95" fmla="*/ 122329 w 416172"/>
              <a:gd name="connsiteY7-96" fmla="*/ 157551 h 485927"/>
              <a:gd name="connsiteX8-97" fmla="*/ 71717 w 416172"/>
              <a:gd name="connsiteY8-98" fmla="*/ 159265 h 485927"/>
              <a:gd name="connsiteX9-99" fmla="*/ 202633 w 416172"/>
              <a:gd name="connsiteY9-100" fmla="*/ 0 h 485927"/>
              <a:gd name="connsiteX0-101" fmla="*/ 202633 w 416172"/>
              <a:gd name="connsiteY0-102" fmla="*/ 0 h 485927"/>
              <a:gd name="connsiteX1-103" fmla="*/ 348858 w 416172"/>
              <a:gd name="connsiteY1-104" fmla="*/ 157551 h 485927"/>
              <a:gd name="connsiteX2-105" fmla="*/ 294275 w 416172"/>
              <a:gd name="connsiteY2-106" fmla="*/ 157551 h 485927"/>
              <a:gd name="connsiteX3-107" fmla="*/ 306015 w 416172"/>
              <a:gd name="connsiteY3-108" fmla="*/ 222549 h 485927"/>
              <a:gd name="connsiteX4-109" fmla="*/ 416172 w 416172"/>
              <a:gd name="connsiteY4-110" fmla="*/ 485927 h 485927"/>
              <a:gd name="connsiteX5-111" fmla="*/ 0 w 416172"/>
              <a:gd name="connsiteY5-112" fmla="*/ 485927 h 485927"/>
              <a:gd name="connsiteX6-113" fmla="*/ 112166 w 416172"/>
              <a:gd name="connsiteY6-114" fmla="*/ 219870 h 485927"/>
              <a:gd name="connsiteX7-115" fmla="*/ 122329 w 416172"/>
              <a:gd name="connsiteY7-116" fmla="*/ 157551 h 485927"/>
              <a:gd name="connsiteX8-117" fmla="*/ 71717 w 416172"/>
              <a:gd name="connsiteY8-118" fmla="*/ 159265 h 485927"/>
              <a:gd name="connsiteX9-119" fmla="*/ 202633 w 416172"/>
              <a:gd name="connsiteY9-120" fmla="*/ 0 h 485927"/>
              <a:gd name="connsiteX0-121" fmla="*/ 202633 w 416172"/>
              <a:gd name="connsiteY0-122" fmla="*/ 0 h 485927"/>
              <a:gd name="connsiteX1-123" fmla="*/ 348858 w 416172"/>
              <a:gd name="connsiteY1-124" fmla="*/ 157551 h 485927"/>
              <a:gd name="connsiteX2-125" fmla="*/ 294275 w 416172"/>
              <a:gd name="connsiteY2-126" fmla="*/ 157551 h 485927"/>
              <a:gd name="connsiteX3-127" fmla="*/ 306015 w 416172"/>
              <a:gd name="connsiteY3-128" fmla="*/ 222549 h 485927"/>
              <a:gd name="connsiteX4-129" fmla="*/ 416172 w 416172"/>
              <a:gd name="connsiteY4-130" fmla="*/ 485927 h 485927"/>
              <a:gd name="connsiteX5-131" fmla="*/ 0 w 416172"/>
              <a:gd name="connsiteY5-132" fmla="*/ 485927 h 485927"/>
              <a:gd name="connsiteX6-133" fmla="*/ 112166 w 416172"/>
              <a:gd name="connsiteY6-134" fmla="*/ 219870 h 485927"/>
              <a:gd name="connsiteX7-135" fmla="*/ 122329 w 416172"/>
              <a:gd name="connsiteY7-136" fmla="*/ 157551 h 485927"/>
              <a:gd name="connsiteX8-137" fmla="*/ 71717 w 416172"/>
              <a:gd name="connsiteY8-138" fmla="*/ 159265 h 485927"/>
              <a:gd name="connsiteX9-139" fmla="*/ 202633 w 416172"/>
              <a:gd name="connsiteY9-140" fmla="*/ 0 h 485927"/>
              <a:gd name="connsiteX0-141" fmla="*/ 202633 w 416172"/>
              <a:gd name="connsiteY0-142" fmla="*/ 0 h 485927"/>
              <a:gd name="connsiteX1-143" fmla="*/ 348858 w 416172"/>
              <a:gd name="connsiteY1-144" fmla="*/ 157551 h 485927"/>
              <a:gd name="connsiteX2-145" fmla="*/ 294275 w 416172"/>
              <a:gd name="connsiteY2-146" fmla="*/ 157551 h 485927"/>
              <a:gd name="connsiteX3-147" fmla="*/ 306015 w 416172"/>
              <a:gd name="connsiteY3-148" fmla="*/ 222549 h 485927"/>
              <a:gd name="connsiteX4-149" fmla="*/ 416172 w 416172"/>
              <a:gd name="connsiteY4-150" fmla="*/ 485927 h 485927"/>
              <a:gd name="connsiteX5-151" fmla="*/ 0 w 416172"/>
              <a:gd name="connsiteY5-152" fmla="*/ 485927 h 485927"/>
              <a:gd name="connsiteX6-153" fmla="*/ 112166 w 416172"/>
              <a:gd name="connsiteY6-154" fmla="*/ 219870 h 485927"/>
              <a:gd name="connsiteX7-155" fmla="*/ 122329 w 416172"/>
              <a:gd name="connsiteY7-156" fmla="*/ 157551 h 485927"/>
              <a:gd name="connsiteX8-157" fmla="*/ 71717 w 416172"/>
              <a:gd name="connsiteY8-158" fmla="*/ 159265 h 485927"/>
              <a:gd name="connsiteX9-159" fmla="*/ 202633 w 416172"/>
              <a:gd name="connsiteY9-160" fmla="*/ 0 h 485927"/>
              <a:gd name="connsiteX0-161" fmla="*/ 202633 w 416172"/>
              <a:gd name="connsiteY0-162" fmla="*/ 0 h 485927"/>
              <a:gd name="connsiteX1-163" fmla="*/ 348858 w 416172"/>
              <a:gd name="connsiteY1-164" fmla="*/ 157551 h 485927"/>
              <a:gd name="connsiteX2-165" fmla="*/ 294275 w 416172"/>
              <a:gd name="connsiteY2-166" fmla="*/ 157551 h 485927"/>
              <a:gd name="connsiteX3-167" fmla="*/ 306015 w 416172"/>
              <a:gd name="connsiteY3-168" fmla="*/ 222549 h 485927"/>
              <a:gd name="connsiteX4-169" fmla="*/ 416172 w 416172"/>
              <a:gd name="connsiteY4-170" fmla="*/ 485927 h 485927"/>
              <a:gd name="connsiteX5-171" fmla="*/ 0 w 416172"/>
              <a:gd name="connsiteY5-172" fmla="*/ 485927 h 485927"/>
              <a:gd name="connsiteX6-173" fmla="*/ 112166 w 416172"/>
              <a:gd name="connsiteY6-174" fmla="*/ 219870 h 485927"/>
              <a:gd name="connsiteX7-175" fmla="*/ 122329 w 416172"/>
              <a:gd name="connsiteY7-176" fmla="*/ 157551 h 485927"/>
              <a:gd name="connsiteX8-177" fmla="*/ 71717 w 416172"/>
              <a:gd name="connsiteY8-178" fmla="*/ 159265 h 485927"/>
              <a:gd name="connsiteX9-179" fmla="*/ 202633 w 416172"/>
              <a:gd name="connsiteY9-180" fmla="*/ 0 h 485927"/>
              <a:gd name="connsiteX0-181" fmla="*/ 202633 w 416172"/>
              <a:gd name="connsiteY0-182" fmla="*/ 0 h 485927"/>
              <a:gd name="connsiteX1-183" fmla="*/ 348858 w 416172"/>
              <a:gd name="connsiteY1-184" fmla="*/ 157551 h 485927"/>
              <a:gd name="connsiteX2-185" fmla="*/ 294275 w 416172"/>
              <a:gd name="connsiteY2-186" fmla="*/ 157551 h 485927"/>
              <a:gd name="connsiteX3-187" fmla="*/ 306015 w 416172"/>
              <a:gd name="connsiteY3-188" fmla="*/ 222549 h 485927"/>
              <a:gd name="connsiteX4-189" fmla="*/ 416172 w 416172"/>
              <a:gd name="connsiteY4-190" fmla="*/ 485927 h 485927"/>
              <a:gd name="connsiteX5-191" fmla="*/ 0 w 416172"/>
              <a:gd name="connsiteY5-192" fmla="*/ 485927 h 485927"/>
              <a:gd name="connsiteX6-193" fmla="*/ 112166 w 416172"/>
              <a:gd name="connsiteY6-194" fmla="*/ 219870 h 485927"/>
              <a:gd name="connsiteX7-195" fmla="*/ 122329 w 416172"/>
              <a:gd name="connsiteY7-196" fmla="*/ 157551 h 485927"/>
              <a:gd name="connsiteX8-197" fmla="*/ 71717 w 416172"/>
              <a:gd name="connsiteY8-198" fmla="*/ 159265 h 485927"/>
              <a:gd name="connsiteX9-199" fmla="*/ 202633 w 416172"/>
              <a:gd name="connsiteY9-200" fmla="*/ 0 h 485927"/>
              <a:gd name="connsiteX0-201" fmla="*/ 202633 w 416172"/>
              <a:gd name="connsiteY0-202" fmla="*/ 0 h 485927"/>
              <a:gd name="connsiteX1-203" fmla="*/ 348858 w 416172"/>
              <a:gd name="connsiteY1-204" fmla="*/ 157551 h 485927"/>
              <a:gd name="connsiteX2-205" fmla="*/ 294275 w 416172"/>
              <a:gd name="connsiteY2-206" fmla="*/ 157551 h 485927"/>
              <a:gd name="connsiteX3-207" fmla="*/ 306015 w 416172"/>
              <a:gd name="connsiteY3-208" fmla="*/ 222549 h 485927"/>
              <a:gd name="connsiteX4-209" fmla="*/ 416172 w 416172"/>
              <a:gd name="connsiteY4-210" fmla="*/ 485927 h 485927"/>
              <a:gd name="connsiteX5-211" fmla="*/ 0 w 416172"/>
              <a:gd name="connsiteY5-212" fmla="*/ 485927 h 485927"/>
              <a:gd name="connsiteX6-213" fmla="*/ 112166 w 416172"/>
              <a:gd name="connsiteY6-214" fmla="*/ 219870 h 485927"/>
              <a:gd name="connsiteX7-215" fmla="*/ 122329 w 416172"/>
              <a:gd name="connsiteY7-216" fmla="*/ 157551 h 485927"/>
              <a:gd name="connsiteX8-217" fmla="*/ 71717 w 416172"/>
              <a:gd name="connsiteY8-218" fmla="*/ 159265 h 485927"/>
              <a:gd name="connsiteX9-219" fmla="*/ 202633 w 416172"/>
              <a:gd name="connsiteY9-220" fmla="*/ 0 h 485927"/>
              <a:gd name="csX0" fmla="*/ 205405 w 416172"/>
              <a:gd name="csY0" fmla="*/ 0 h 485573"/>
              <a:gd name="csX1" fmla="*/ 348858 w 416172"/>
              <a:gd name="csY1" fmla="*/ 157197 h 485573"/>
              <a:gd name="csX2" fmla="*/ 294275 w 416172"/>
              <a:gd name="csY2" fmla="*/ 157197 h 485573"/>
              <a:gd name="csX3" fmla="*/ 306015 w 416172"/>
              <a:gd name="csY3" fmla="*/ 222195 h 485573"/>
              <a:gd name="csX4" fmla="*/ 416172 w 416172"/>
              <a:gd name="csY4" fmla="*/ 485573 h 485573"/>
              <a:gd name="csX5" fmla="*/ 0 w 416172"/>
              <a:gd name="csY5" fmla="*/ 485573 h 485573"/>
              <a:gd name="csX6" fmla="*/ 112166 w 416172"/>
              <a:gd name="csY6" fmla="*/ 219516 h 485573"/>
              <a:gd name="csX7" fmla="*/ 122329 w 416172"/>
              <a:gd name="csY7" fmla="*/ 157197 h 485573"/>
              <a:gd name="csX8" fmla="*/ 71717 w 416172"/>
              <a:gd name="csY8" fmla="*/ 158911 h 485573"/>
              <a:gd name="csX9" fmla="*/ 205405 w 416172"/>
              <a:gd name="csY9" fmla="*/ 0 h 485573"/>
              <a:gd name="csX0-1" fmla="*/ 205405 w 416172"/>
              <a:gd name="csY0-2" fmla="*/ 0 h 485573"/>
              <a:gd name="csX1-3" fmla="*/ 348858 w 416172"/>
              <a:gd name="csY1-4" fmla="*/ 157197 h 485573"/>
              <a:gd name="csX2-5" fmla="*/ 294275 w 416172"/>
              <a:gd name="csY2-6" fmla="*/ 157197 h 485573"/>
              <a:gd name="csX3-7" fmla="*/ 306015 w 416172"/>
              <a:gd name="csY3-8" fmla="*/ 222195 h 485573"/>
              <a:gd name="csX4-9" fmla="*/ 416172 w 416172"/>
              <a:gd name="csY4-10" fmla="*/ 485573 h 485573"/>
              <a:gd name="csX5-11" fmla="*/ 0 w 416172"/>
              <a:gd name="csY5-12" fmla="*/ 485573 h 485573"/>
              <a:gd name="csX6-13" fmla="*/ 112166 w 416172"/>
              <a:gd name="csY6-14" fmla="*/ 219516 h 485573"/>
              <a:gd name="csX7-15" fmla="*/ 122329 w 416172"/>
              <a:gd name="csY7-16" fmla="*/ 157197 h 485573"/>
              <a:gd name="csX8-17" fmla="*/ 71717 w 416172"/>
              <a:gd name="csY8-18" fmla="*/ 158911 h 485573"/>
              <a:gd name="csX9-19" fmla="*/ 205405 w 416172"/>
              <a:gd name="csY9-20" fmla="*/ 0 h 485573"/>
              <a:gd name="csX0-21" fmla="*/ 205405 w 416172"/>
              <a:gd name="csY0-22" fmla="*/ 0 h 485573"/>
              <a:gd name="csX1-23" fmla="*/ 348858 w 416172"/>
              <a:gd name="csY1-24" fmla="*/ 157197 h 485573"/>
              <a:gd name="csX2-25" fmla="*/ 294275 w 416172"/>
              <a:gd name="csY2-26" fmla="*/ 157197 h 485573"/>
              <a:gd name="csX3-27" fmla="*/ 306015 w 416172"/>
              <a:gd name="csY3-28" fmla="*/ 222195 h 485573"/>
              <a:gd name="csX4-29" fmla="*/ 416172 w 416172"/>
              <a:gd name="csY4-30" fmla="*/ 485573 h 485573"/>
              <a:gd name="csX5-31" fmla="*/ 0 w 416172"/>
              <a:gd name="csY5-32" fmla="*/ 485573 h 485573"/>
              <a:gd name="csX6-33" fmla="*/ 112166 w 416172"/>
              <a:gd name="csY6-34" fmla="*/ 219516 h 485573"/>
              <a:gd name="csX7-35" fmla="*/ 122329 w 416172"/>
              <a:gd name="csY7-36" fmla="*/ 157197 h 485573"/>
              <a:gd name="csX8-37" fmla="*/ 71717 w 416172"/>
              <a:gd name="csY8-38" fmla="*/ 158911 h 485573"/>
              <a:gd name="csX9-39" fmla="*/ 205405 w 416172"/>
              <a:gd name="csY9-40" fmla="*/ 0 h 485573"/>
              <a:gd name="csX0-41" fmla="*/ 205405 w 416172"/>
              <a:gd name="csY0-42" fmla="*/ 0 h 485573"/>
              <a:gd name="csX1-43" fmla="*/ 348858 w 416172"/>
              <a:gd name="csY1-44" fmla="*/ 157197 h 485573"/>
              <a:gd name="csX2-45" fmla="*/ 294275 w 416172"/>
              <a:gd name="csY2-46" fmla="*/ 157197 h 485573"/>
              <a:gd name="csX3-47" fmla="*/ 306015 w 416172"/>
              <a:gd name="csY3-48" fmla="*/ 222195 h 485573"/>
              <a:gd name="csX4-49" fmla="*/ 416172 w 416172"/>
              <a:gd name="csY4-50" fmla="*/ 485573 h 485573"/>
              <a:gd name="csX5-51" fmla="*/ 0 w 416172"/>
              <a:gd name="csY5-52" fmla="*/ 485573 h 485573"/>
              <a:gd name="csX6-53" fmla="*/ 112166 w 416172"/>
              <a:gd name="csY6-54" fmla="*/ 219516 h 485573"/>
              <a:gd name="csX7-55" fmla="*/ 122329 w 416172"/>
              <a:gd name="csY7-56" fmla="*/ 157197 h 485573"/>
              <a:gd name="csX8-57" fmla="*/ 71717 w 416172"/>
              <a:gd name="csY8-58" fmla="*/ 158911 h 485573"/>
              <a:gd name="csX9-59" fmla="*/ 205405 w 416172"/>
              <a:gd name="csY9-60" fmla="*/ 0 h 485573"/>
              <a:gd name="csX0-61" fmla="*/ 214727 w 425494"/>
              <a:gd name="csY0-62" fmla="*/ 0 h 485573"/>
              <a:gd name="csX1-63" fmla="*/ 358180 w 425494"/>
              <a:gd name="csY1-64" fmla="*/ 157197 h 485573"/>
              <a:gd name="csX2-65" fmla="*/ 303597 w 425494"/>
              <a:gd name="csY2-66" fmla="*/ 157197 h 485573"/>
              <a:gd name="csX3-67" fmla="*/ 315337 w 425494"/>
              <a:gd name="csY3-68" fmla="*/ 222195 h 485573"/>
              <a:gd name="csX4-69" fmla="*/ 425494 w 425494"/>
              <a:gd name="csY4-70" fmla="*/ 485573 h 485573"/>
              <a:gd name="csX5-71" fmla="*/ 9322 w 425494"/>
              <a:gd name="csY5-72" fmla="*/ 485573 h 485573"/>
              <a:gd name="csX6-73" fmla="*/ 131651 w 425494"/>
              <a:gd name="csY6-74" fmla="*/ 157197 h 485573"/>
              <a:gd name="csX7-75" fmla="*/ 81039 w 425494"/>
              <a:gd name="csY7-76" fmla="*/ 158911 h 485573"/>
              <a:gd name="csX8-77" fmla="*/ 214727 w 425494"/>
              <a:gd name="csY8-78" fmla="*/ 0 h 485573"/>
              <a:gd name="csX0-79" fmla="*/ 205405 w 416172"/>
              <a:gd name="csY0-80" fmla="*/ 0 h 485573"/>
              <a:gd name="csX1-81" fmla="*/ 348858 w 416172"/>
              <a:gd name="csY1-82" fmla="*/ 157197 h 485573"/>
              <a:gd name="csX2-83" fmla="*/ 294275 w 416172"/>
              <a:gd name="csY2-84" fmla="*/ 157197 h 485573"/>
              <a:gd name="csX3-85" fmla="*/ 306015 w 416172"/>
              <a:gd name="csY3-86" fmla="*/ 222195 h 485573"/>
              <a:gd name="csX4-87" fmla="*/ 416172 w 416172"/>
              <a:gd name="csY4-88" fmla="*/ 485573 h 485573"/>
              <a:gd name="csX5-89" fmla="*/ 0 w 416172"/>
              <a:gd name="csY5-90" fmla="*/ 485573 h 485573"/>
              <a:gd name="csX6-91" fmla="*/ 122329 w 416172"/>
              <a:gd name="csY6-92" fmla="*/ 157197 h 485573"/>
              <a:gd name="csX7-93" fmla="*/ 71717 w 416172"/>
              <a:gd name="csY7-94" fmla="*/ 158911 h 485573"/>
              <a:gd name="csX8-95" fmla="*/ 205405 w 416172"/>
              <a:gd name="csY8-96" fmla="*/ 0 h 485573"/>
              <a:gd name="csX0-97" fmla="*/ 205405 w 416172"/>
              <a:gd name="csY0-98" fmla="*/ 0 h 485573"/>
              <a:gd name="csX1-99" fmla="*/ 348858 w 416172"/>
              <a:gd name="csY1-100" fmla="*/ 157197 h 485573"/>
              <a:gd name="csX2-101" fmla="*/ 294275 w 416172"/>
              <a:gd name="csY2-102" fmla="*/ 157197 h 485573"/>
              <a:gd name="csX3-103" fmla="*/ 416172 w 416172"/>
              <a:gd name="csY3-104" fmla="*/ 485573 h 485573"/>
              <a:gd name="csX4-105" fmla="*/ 0 w 416172"/>
              <a:gd name="csY4-106" fmla="*/ 485573 h 485573"/>
              <a:gd name="csX5-107" fmla="*/ 122329 w 416172"/>
              <a:gd name="csY5-108" fmla="*/ 157197 h 485573"/>
              <a:gd name="csX6-109" fmla="*/ 71717 w 416172"/>
              <a:gd name="csY6-110" fmla="*/ 158911 h 485573"/>
              <a:gd name="csX7-111" fmla="*/ 205405 w 416172"/>
              <a:gd name="csY7-112" fmla="*/ 0 h 485573"/>
              <a:gd name="csX0-113" fmla="*/ 205405 w 416172"/>
              <a:gd name="csY0-114" fmla="*/ 0 h 485573"/>
              <a:gd name="csX1-115" fmla="*/ 348858 w 416172"/>
              <a:gd name="csY1-116" fmla="*/ 157197 h 485573"/>
              <a:gd name="csX2-117" fmla="*/ 294275 w 416172"/>
              <a:gd name="csY2-118" fmla="*/ 157197 h 485573"/>
              <a:gd name="csX3-119" fmla="*/ 416172 w 416172"/>
              <a:gd name="csY3-120" fmla="*/ 485573 h 485573"/>
              <a:gd name="csX4-121" fmla="*/ 0 w 416172"/>
              <a:gd name="csY4-122" fmla="*/ 485573 h 485573"/>
              <a:gd name="csX5-123" fmla="*/ 122329 w 416172"/>
              <a:gd name="csY5-124" fmla="*/ 157197 h 485573"/>
              <a:gd name="csX6-125" fmla="*/ 71717 w 416172"/>
              <a:gd name="csY6-126" fmla="*/ 158911 h 485573"/>
              <a:gd name="csX7-127" fmla="*/ 205405 w 416172"/>
              <a:gd name="csY7-128" fmla="*/ 0 h 485573"/>
              <a:gd name="csX0-129" fmla="*/ 205405 w 416172"/>
              <a:gd name="csY0-130" fmla="*/ 0 h 485573"/>
              <a:gd name="csX1-131" fmla="*/ 348858 w 416172"/>
              <a:gd name="csY1-132" fmla="*/ 157197 h 485573"/>
              <a:gd name="csX2-133" fmla="*/ 294275 w 416172"/>
              <a:gd name="csY2-134" fmla="*/ 157197 h 485573"/>
              <a:gd name="csX3-135" fmla="*/ 416172 w 416172"/>
              <a:gd name="csY3-136" fmla="*/ 485573 h 485573"/>
              <a:gd name="csX4-137" fmla="*/ 0 w 416172"/>
              <a:gd name="csY4-138" fmla="*/ 485573 h 485573"/>
              <a:gd name="csX5-139" fmla="*/ 122329 w 416172"/>
              <a:gd name="csY5-140" fmla="*/ 157197 h 485573"/>
              <a:gd name="csX6-141" fmla="*/ 71717 w 416172"/>
              <a:gd name="csY6-142" fmla="*/ 158911 h 485573"/>
              <a:gd name="csX7-143" fmla="*/ 205405 w 416172"/>
              <a:gd name="csY7-144" fmla="*/ 0 h 485573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</a:cxnLst>
            <a:rect l="l" t="t" r="r" b="b"/>
            <a:pathLst>
              <a:path w="416172" h="485573">
                <a:moveTo>
                  <a:pt x="205405" y="0"/>
                </a:moveTo>
                <a:cubicBezTo>
                  <a:pt x="244007" y="53881"/>
                  <a:pt x="293715" y="111596"/>
                  <a:pt x="348858" y="157197"/>
                </a:cubicBezTo>
                <a:lnTo>
                  <a:pt x="294275" y="157197"/>
                </a:lnTo>
                <a:cubicBezTo>
                  <a:pt x="319788" y="271753"/>
                  <a:pt x="361026" y="410941"/>
                  <a:pt x="416172" y="485573"/>
                </a:cubicBezTo>
                <a:lnTo>
                  <a:pt x="0" y="485573"/>
                </a:lnTo>
                <a:cubicBezTo>
                  <a:pt x="38110" y="434242"/>
                  <a:pt x="110376" y="211641"/>
                  <a:pt x="122329" y="157197"/>
                </a:cubicBezTo>
                <a:cubicBezTo>
                  <a:pt x="91947" y="157197"/>
                  <a:pt x="102099" y="158911"/>
                  <a:pt x="71717" y="158911"/>
                </a:cubicBezTo>
                <a:cubicBezTo>
                  <a:pt x="116033" y="120609"/>
                  <a:pt x="176767" y="43061"/>
                  <a:pt x="205405" y="0"/>
                </a:cubicBezTo>
                <a:close/>
              </a:path>
            </a:pathLst>
          </a:custGeom>
          <a:gradFill>
            <a:gsLst>
              <a:gs pos="5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  <a:gs pos="2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思源宋体 CN Medium" panose="02020500000000000000" charset="-122"/>
            </a:endParaRPr>
          </a:p>
        </p:txBody>
      </p:sp>
      <p:sp>
        <p:nvSpPr>
          <p:cNvPr id="30" name="0"/>
          <p:cNvSpPr/>
          <p:nvPr/>
        </p:nvSpPr>
        <p:spPr>
          <a:xfrm flipV="1">
            <a:off x="4509913" y="3001129"/>
            <a:ext cx="4001932" cy="28800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02633 w 416172"/>
              <a:gd name="connsiteY0-2" fmla="*/ 0 h 485927"/>
              <a:gd name="connsiteX1-3" fmla="*/ 374083 w 416172"/>
              <a:gd name="connsiteY1-4" fmla="*/ 157551 h 485927"/>
              <a:gd name="connsiteX2-5" fmla="*/ 294275 w 416172"/>
              <a:gd name="connsiteY2-6" fmla="*/ 157551 h 485927"/>
              <a:gd name="connsiteX3-7" fmla="*/ 306015 w 416172"/>
              <a:gd name="connsiteY3-8" fmla="*/ 222549 h 485927"/>
              <a:gd name="connsiteX4-9" fmla="*/ 416172 w 416172"/>
              <a:gd name="connsiteY4-10" fmla="*/ 485927 h 485927"/>
              <a:gd name="connsiteX5-11" fmla="*/ 0 w 416172"/>
              <a:gd name="connsiteY5-12" fmla="*/ 485927 h 485927"/>
              <a:gd name="connsiteX6-13" fmla="*/ 112166 w 416172"/>
              <a:gd name="connsiteY6-14" fmla="*/ 219870 h 485927"/>
              <a:gd name="connsiteX7-15" fmla="*/ 122329 w 416172"/>
              <a:gd name="connsiteY7-16" fmla="*/ 157551 h 485927"/>
              <a:gd name="connsiteX8-17" fmla="*/ 58023 w 416172"/>
              <a:gd name="connsiteY8-18" fmla="*/ 160421 h 485927"/>
              <a:gd name="connsiteX9-19" fmla="*/ 202633 w 416172"/>
              <a:gd name="connsiteY9-20" fmla="*/ 0 h 485927"/>
              <a:gd name="connsiteX0-21" fmla="*/ 202633 w 416172"/>
              <a:gd name="connsiteY0-22" fmla="*/ 0 h 485927"/>
              <a:gd name="connsiteX1-23" fmla="*/ 374083 w 416172"/>
              <a:gd name="connsiteY1-24" fmla="*/ 157551 h 485927"/>
              <a:gd name="connsiteX2-25" fmla="*/ 294275 w 416172"/>
              <a:gd name="connsiteY2-26" fmla="*/ 157551 h 485927"/>
              <a:gd name="connsiteX3-27" fmla="*/ 306015 w 416172"/>
              <a:gd name="connsiteY3-28" fmla="*/ 222549 h 485927"/>
              <a:gd name="connsiteX4-29" fmla="*/ 416172 w 416172"/>
              <a:gd name="connsiteY4-30" fmla="*/ 485927 h 485927"/>
              <a:gd name="connsiteX5-31" fmla="*/ 0 w 416172"/>
              <a:gd name="connsiteY5-32" fmla="*/ 485927 h 485927"/>
              <a:gd name="connsiteX6-33" fmla="*/ 112166 w 416172"/>
              <a:gd name="connsiteY6-34" fmla="*/ 219870 h 485927"/>
              <a:gd name="connsiteX7-35" fmla="*/ 122329 w 416172"/>
              <a:gd name="connsiteY7-36" fmla="*/ 157551 h 485927"/>
              <a:gd name="connsiteX8-37" fmla="*/ 58023 w 416172"/>
              <a:gd name="connsiteY8-38" fmla="*/ 160421 h 485927"/>
              <a:gd name="connsiteX9-39" fmla="*/ 202633 w 416172"/>
              <a:gd name="connsiteY9-40" fmla="*/ 0 h 485927"/>
              <a:gd name="connsiteX0-41" fmla="*/ 202633 w 416172"/>
              <a:gd name="connsiteY0-42" fmla="*/ 0 h 485927"/>
              <a:gd name="connsiteX1-43" fmla="*/ 348858 w 416172"/>
              <a:gd name="connsiteY1-44" fmla="*/ 157551 h 485927"/>
              <a:gd name="connsiteX2-45" fmla="*/ 294275 w 416172"/>
              <a:gd name="connsiteY2-46" fmla="*/ 157551 h 485927"/>
              <a:gd name="connsiteX3-47" fmla="*/ 306015 w 416172"/>
              <a:gd name="connsiteY3-48" fmla="*/ 222549 h 485927"/>
              <a:gd name="connsiteX4-49" fmla="*/ 416172 w 416172"/>
              <a:gd name="connsiteY4-50" fmla="*/ 485927 h 485927"/>
              <a:gd name="connsiteX5-51" fmla="*/ 0 w 416172"/>
              <a:gd name="connsiteY5-52" fmla="*/ 485927 h 485927"/>
              <a:gd name="connsiteX6-53" fmla="*/ 112166 w 416172"/>
              <a:gd name="connsiteY6-54" fmla="*/ 219870 h 485927"/>
              <a:gd name="connsiteX7-55" fmla="*/ 122329 w 416172"/>
              <a:gd name="connsiteY7-56" fmla="*/ 157551 h 485927"/>
              <a:gd name="connsiteX8-57" fmla="*/ 58023 w 416172"/>
              <a:gd name="connsiteY8-58" fmla="*/ 160421 h 485927"/>
              <a:gd name="connsiteX9-59" fmla="*/ 202633 w 416172"/>
              <a:gd name="connsiteY9-60" fmla="*/ 0 h 485927"/>
              <a:gd name="connsiteX0-61" fmla="*/ 202633 w 416172"/>
              <a:gd name="connsiteY0-62" fmla="*/ 0 h 485927"/>
              <a:gd name="connsiteX1-63" fmla="*/ 348858 w 416172"/>
              <a:gd name="connsiteY1-64" fmla="*/ 157551 h 485927"/>
              <a:gd name="connsiteX2-65" fmla="*/ 294275 w 416172"/>
              <a:gd name="connsiteY2-66" fmla="*/ 157551 h 485927"/>
              <a:gd name="connsiteX3-67" fmla="*/ 306015 w 416172"/>
              <a:gd name="connsiteY3-68" fmla="*/ 222549 h 485927"/>
              <a:gd name="connsiteX4-69" fmla="*/ 416172 w 416172"/>
              <a:gd name="connsiteY4-70" fmla="*/ 485927 h 485927"/>
              <a:gd name="connsiteX5-71" fmla="*/ 0 w 416172"/>
              <a:gd name="connsiteY5-72" fmla="*/ 485927 h 485927"/>
              <a:gd name="connsiteX6-73" fmla="*/ 112166 w 416172"/>
              <a:gd name="connsiteY6-74" fmla="*/ 219870 h 485927"/>
              <a:gd name="connsiteX7-75" fmla="*/ 122329 w 416172"/>
              <a:gd name="connsiteY7-76" fmla="*/ 157551 h 485927"/>
              <a:gd name="connsiteX8-77" fmla="*/ 58023 w 416172"/>
              <a:gd name="connsiteY8-78" fmla="*/ 160421 h 485927"/>
              <a:gd name="connsiteX9-79" fmla="*/ 202633 w 416172"/>
              <a:gd name="connsiteY9-80" fmla="*/ 0 h 485927"/>
              <a:gd name="connsiteX0-81" fmla="*/ 202633 w 416172"/>
              <a:gd name="connsiteY0-82" fmla="*/ 0 h 485927"/>
              <a:gd name="connsiteX1-83" fmla="*/ 348858 w 416172"/>
              <a:gd name="connsiteY1-84" fmla="*/ 157551 h 485927"/>
              <a:gd name="connsiteX2-85" fmla="*/ 294275 w 416172"/>
              <a:gd name="connsiteY2-86" fmla="*/ 157551 h 485927"/>
              <a:gd name="connsiteX3-87" fmla="*/ 306015 w 416172"/>
              <a:gd name="connsiteY3-88" fmla="*/ 222549 h 485927"/>
              <a:gd name="connsiteX4-89" fmla="*/ 416172 w 416172"/>
              <a:gd name="connsiteY4-90" fmla="*/ 485927 h 485927"/>
              <a:gd name="connsiteX5-91" fmla="*/ 0 w 416172"/>
              <a:gd name="connsiteY5-92" fmla="*/ 485927 h 485927"/>
              <a:gd name="connsiteX6-93" fmla="*/ 112166 w 416172"/>
              <a:gd name="connsiteY6-94" fmla="*/ 219870 h 485927"/>
              <a:gd name="connsiteX7-95" fmla="*/ 122329 w 416172"/>
              <a:gd name="connsiteY7-96" fmla="*/ 157551 h 485927"/>
              <a:gd name="connsiteX8-97" fmla="*/ 71717 w 416172"/>
              <a:gd name="connsiteY8-98" fmla="*/ 159265 h 485927"/>
              <a:gd name="connsiteX9-99" fmla="*/ 202633 w 416172"/>
              <a:gd name="connsiteY9-100" fmla="*/ 0 h 485927"/>
              <a:gd name="connsiteX0-101" fmla="*/ 202633 w 416172"/>
              <a:gd name="connsiteY0-102" fmla="*/ 0 h 485927"/>
              <a:gd name="connsiteX1-103" fmla="*/ 348858 w 416172"/>
              <a:gd name="connsiteY1-104" fmla="*/ 157551 h 485927"/>
              <a:gd name="connsiteX2-105" fmla="*/ 294275 w 416172"/>
              <a:gd name="connsiteY2-106" fmla="*/ 157551 h 485927"/>
              <a:gd name="connsiteX3-107" fmla="*/ 306015 w 416172"/>
              <a:gd name="connsiteY3-108" fmla="*/ 222549 h 485927"/>
              <a:gd name="connsiteX4-109" fmla="*/ 416172 w 416172"/>
              <a:gd name="connsiteY4-110" fmla="*/ 485927 h 485927"/>
              <a:gd name="connsiteX5-111" fmla="*/ 0 w 416172"/>
              <a:gd name="connsiteY5-112" fmla="*/ 485927 h 485927"/>
              <a:gd name="connsiteX6-113" fmla="*/ 112166 w 416172"/>
              <a:gd name="connsiteY6-114" fmla="*/ 219870 h 485927"/>
              <a:gd name="connsiteX7-115" fmla="*/ 122329 w 416172"/>
              <a:gd name="connsiteY7-116" fmla="*/ 157551 h 485927"/>
              <a:gd name="connsiteX8-117" fmla="*/ 71717 w 416172"/>
              <a:gd name="connsiteY8-118" fmla="*/ 159265 h 485927"/>
              <a:gd name="connsiteX9-119" fmla="*/ 202633 w 416172"/>
              <a:gd name="connsiteY9-120" fmla="*/ 0 h 485927"/>
              <a:gd name="connsiteX0-121" fmla="*/ 202633 w 416172"/>
              <a:gd name="connsiteY0-122" fmla="*/ 0 h 485927"/>
              <a:gd name="connsiteX1-123" fmla="*/ 348858 w 416172"/>
              <a:gd name="connsiteY1-124" fmla="*/ 157551 h 485927"/>
              <a:gd name="connsiteX2-125" fmla="*/ 294275 w 416172"/>
              <a:gd name="connsiteY2-126" fmla="*/ 157551 h 485927"/>
              <a:gd name="connsiteX3-127" fmla="*/ 306015 w 416172"/>
              <a:gd name="connsiteY3-128" fmla="*/ 222549 h 485927"/>
              <a:gd name="connsiteX4-129" fmla="*/ 416172 w 416172"/>
              <a:gd name="connsiteY4-130" fmla="*/ 485927 h 485927"/>
              <a:gd name="connsiteX5-131" fmla="*/ 0 w 416172"/>
              <a:gd name="connsiteY5-132" fmla="*/ 485927 h 485927"/>
              <a:gd name="connsiteX6-133" fmla="*/ 112166 w 416172"/>
              <a:gd name="connsiteY6-134" fmla="*/ 219870 h 485927"/>
              <a:gd name="connsiteX7-135" fmla="*/ 122329 w 416172"/>
              <a:gd name="connsiteY7-136" fmla="*/ 157551 h 485927"/>
              <a:gd name="connsiteX8-137" fmla="*/ 71717 w 416172"/>
              <a:gd name="connsiteY8-138" fmla="*/ 159265 h 485927"/>
              <a:gd name="connsiteX9-139" fmla="*/ 202633 w 416172"/>
              <a:gd name="connsiteY9-140" fmla="*/ 0 h 485927"/>
              <a:gd name="connsiteX0-141" fmla="*/ 202633 w 416172"/>
              <a:gd name="connsiteY0-142" fmla="*/ 0 h 485927"/>
              <a:gd name="connsiteX1-143" fmla="*/ 348858 w 416172"/>
              <a:gd name="connsiteY1-144" fmla="*/ 157551 h 485927"/>
              <a:gd name="connsiteX2-145" fmla="*/ 294275 w 416172"/>
              <a:gd name="connsiteY2-146" fmla="*/ 157551 h 485927"/>
              <a:gd name="connsiteX3-147" fmla="*/ 306015 w 416172"/>
              <a:gd name="connsiteY3-148" fmla="*/ 222549 h 485927"/>
              <a:gd name="connsiteX4-149" fmla="*/ 416172 w 416172"/>
              <a:gd name="connsiteY4-150" fmla="*/ 485927 h 485927"/>
              <a:gd name="connsiteX5-151" fmla="*/ 0 w 416172"/>
              <a:gd name="connsiteY5-152" fmla="*/ 485927 h 485927"/>
              <a:gd name="connsiteX6-153" fmla="*/ 112166 w 416172"/>
              <a:gd name="connsiteY6-154" fmla="*/ 219870 h 485927"/>
              <a:gd name="connsiteX7-155" fmla="*/ 122329 w 416172"/>
              <a:gd name="connsiteY7-156" fmla="*/ 157551 h 485927"/>
              <a:gd name="connsiteX8-157" fmla="*/ 71717 w 416172"/>
              <a:gd name="connsiteY8-158" fmla="*/ 159265 h 485927"/>
              <a:gd name="connsiteX9-159" fmla="*/ 202633 w 416172"/>
              <a:gd name="connsiteY9-160" fmla="*/ 0 h 485927"/>
              <a:gd name="connsiteX0-161" fmla="*/ 202633 w 416172"/>
              <a:gd name="connsiteY0-162" fmla="*/ 0 h 485927"/>
              <a:gd name="connsiteX1-163" fmla="*/ 348858 w 416172"/>
              <a:gd name="connsiteY1-164" fmla="*/ 157551 h 485927"/>
              <a:gd name="connsiteX2-165" fmla="*/ 294275 w 416172"/>
              <a:gd name="connsiteY2-166" fmla="*/ 157551 h 485927"/>
              <a:gd name="connsiteX3-167" fmla="*/ 306015 w 416172"/>
              <a:gd name="connsiteY3-168" fmla="*/ 222549 h 485927"/>
              <a:gd name="connsiteX4-169" fmla="*/ 416172 w 416172"/>
              <a:gd name="connsiteY4-170" fmla="*/ 485927 h 485927"/>
              <a:gd name="connsiteX5-171" fmla="*/ 0 w 416172"/>
              <a:gd name="connsiteY5-172" fmla="*/ 485927 h 485927"/>
              <a:gd name="connsiteX6-173" fmla="*/ 112166 w 416172"/>
              <a:gd name="connsiteY6-174" fmla="*/ 219870 h 485927"/>
              <a:gd name="connsiteX7-175" fmla="*/ 122329 w 416172"/>
              <a:gd name="connsiteY7-176" fmla="*/ 157551 h 485927"/>
              <a:gd name="connsiteX8-177" fmla="*/ 71717 w 416172"/>
              <a:gd name="connsiteY8-178" fmla="*/ 159265 h 485927"/>
              <a:gd name="connsiteX9-179" fmla="*/ 202633 w 416172"/>
              <a:gd name="connsiteY9-180" fmla="*/ 0 h 485927"/>
              <a:gd name="connsiteX0-181" fmla="*/ 202633 w 416172"/>
              <a:gd name="connsiteY0-182" fmla="*/ 0 h 485927"/>
              <a:gd name="connsiteX1-183" fmla="*/ 348858 w 416172"/>
              <a:gd name="connsiteY1-184" fmla="*/ 157551 h 485927"/>
              <a:gd name="connsiteX2-185" fmla="*/ 294275 w 416172"/>
              <a:gd name="connsiteY2-186" fmla="*/ 157551 h 485927"/>
              <a:gd name="connsiteX3-187" fmla="*/ 306015 w 416172"/>
              <a:gd name="connsiteY3-188" fmla="*/ 222549 h 485927"/>
              <a:gd name="connsiteX4-189" fmla="*/ 416172 w 416172"/>
              <a:gd name="connsiteY4-190" fmla="*/ 485927 h 485927"/>
              <a:gd name="connsiteX5-191" fmla="*/ 0 w 416172"/>
              <a:gd name="connsiteY5-192" fmla="*/ 485927 h 485927"/>
              <a:gd name="connsiteX6-193" fmla="*/ 112166 w 416172"/>
              <a:gd name="connsiteY6-194" fmla="*/ 219870 h 485927"/>
              <a:gd name="connsiteX7-195" fmla="*/ 122329 w 416172"/>
              <a:gd name="connsiteY7-196" fmla="*/ 157551 h 485927"/>
              <a:gd name="connsiteX8-197" fmla="*/ 71717 w 416172"/>
              <a:gd name="connsiteY8-198" fmla="*/ 159265 h 485927"/>
              <a:gd name="connsiteX9-199" fmla="*/ 202633 w 416172"/>
              <a:gd name="connsiteY9-200" fmla="*/ 0 h 485927"/>
              <a:gd name="connsiteX0-201" fmla="*/ 202633 w 416172"/>
              <a:gd name="connsiteY0-202" fmla="*/ 0 h 485927"/>
              <a:gd name="connsiteX1-203" fmla="*/ 348858 w 416172"/>
              <a:gd name="connsiteY1-204" fmla="*/ 157551 h 485927"/>
              <a:gd name="connsiteX2-205" fmla="*/ 294275 w 416172"/>
              <a:gd name="connsiteY2-206" fmla="*/ 157551 h 485927"/>
              <a:gd name="connsiteX3-207" fmla="*/ 306015 w 416172"/>
              <a:gd name="connsiteY3-208" fmla="*/ 222549 h 485927"/>
              <a:gd name="connsiteX4-209" fmla="*/ 416172 w 416172"/>
              <a:gd name="connsiteY4-210" fmla="*/ 485927 h 485927"/>
              <a:gd name="connsiteX5-211" fmla="*/ 0 w 416172"/>
              <a:gd name="connsiteY5-212" fmla="*/ 485927 h 485927"/>
              <a:gd name="connsiteX6-213" fmla="*/ 112166 w 416172"/>
              <a:gd name="connsiteY6-214" fmla="*/ 219870 h 485927"/>
              <a:gd name="connsiteX7-215" fmla="*/ 122329 w 416172"/>
              <a:gd name="connsiteY7-216" fmla="*/ 157551 h 485927"/>
              <a:gd name="connsiteX8-217" fmla="*/ 71717 w 416172"/>
              <a:gd name="connsiteY8-218" fmla="*/ 159265 h 485927"/>
              <a:gd name="connsiteX9-219" fmla="*/ 202633 w 416172"/>
              <a:gd name="connsiteY9-220" fmla="*/ 0 h 485927"/>
              <a:gd name="csX0" fmla="*/ 205405 w 416172"/>
              <a:gd name="csY0" fmla="*/ 0 h 485573"/>
              <a:gd name="csX1" fmla="*/ 348858 w 416172"/>
              <a:gd name="csY1" fmla="*/ 157197 h 485573"/>
              <a:gd name="csX2" fmla="*/ 294275 w 416172"/>
              <a:gd name="csY2" fmla="*/ 157197 h 485573"/>
              <a:gd name="csX3" fmla="*/ 306015 w 416172"/>
              <a:gd name="csY3" fmla="*/ 222195 h 485573"/>
              <a:gd name="csX4" fmla="*/ 416172 w 416172"/>
              <a:gd name="csY4" fmla="*/ 485573 h 485573"/>
              <a:gd name="csX5" fmla="*/ 0 w 416172"/>
              <a:gd name="csY5" fmla="*/ 485573 h 485573"/>
              <a:gd name="csX6" fmla="*/ 112166 w 416172"/>
              <a:gd name="csY6" fmla="*/ 219516 h 485573"/>
              <a:gd name="csX7" fmla="*/ 122329 w 416172"/>
              <a:gd name="csY7" fmla="*/ 157197 h 485573"/>
              <a:gd name="csX8" fmla="*/ 71717 w 416172"/>
              <a:gd name="csY8" fmla="*/ 158911 h 485573"/>
              <a:gd name="csX9" fmla="*/ 205405 w 416172"/>
              <a:gd name="csY9" fmla="*/ 0 h 485573"/>
              <a:gd name="csX0-1" fmla="*/ 205405 w 416172"/>
              <a:gd name="csY0-2" fmla="*/ 0 h 485573"/>
              <a:gd name="csX1-3" fmla="*/ 348858 w 416172"/>
              <a:gd name="csY1-4" fmla="*/ 157197 h 485573"/>
              <a:gd name="csX2-5" fmla="*/ 294275 w 416172"/>
              <a:gd name="csY2-6" fmla="*/ 157197 h 485573"/>
              <a:gd name="csX3-7" fmla="*/ 306015 w 416172"/>
              <a:gd name="csY3-8" fmla="*/ 222195 h 485573"/>
              <a:gd name="csX4-9" fmla="*/ 416172 w 416172"/>
              <a:gd name="csY4-10" fmla="*/ 485573 h 485573"/>
              <a:gd name="csX5-11" fmla="*/ 0 w 416172"/>
              <a:gd name="csY5-12" fmla="*/ 485573 h 485573"/>
              <a:gd name="csX6-13" fmla="*/ 112166 w 416172"/>
              <a:gd name="csY6-14" fmla="*/ 219516 h 485573"/>
              <a:gd name="csX7-15" fmla="*/ 122329 w 416172"/>
              <a:gd name="csY7-16" fmla="*/ 157197 h 485573"/>
              <a:gd name="csX8-17" fmla="*/ 71717 w 416172"/>
              <a:gd name="csY8-18" fmla="*/ 158911 h 485573"/>
              <a:gd name="csX9-19" fmla="*/ 205405 w 416172"/>
              <a:gd name="csY9-20" fmla="*/ 0 h 485573"/>
              <a:gd name="csX0-21" fmla="*/ 205405 w 416172"/>
              <a:gd name="csY0-22" fmla="*/ 0 h 485573"/>
              <a:gd name="csX1-23" fmla="*/ 348858 w 416172"/>
              <a:gd name="csY1-24" fmla="*/ 157197 h 485573"/>
              <a:gd name="csX2-25" fmla="*/ 294275 w 416172"/>
              <a:gd name="csY2-26" fmla="*/ 157197 h 485573"/>
              <a:gd name="csX3-27" fmla="*/ 306015 w 416172"/>
              <a:gd name="csY3-28" fmla="*/ 222195 h 485573"/>
              <a:gd name="csX4-29" fmla="*/ 416172 w 416172"/>
              <a:gd name="csY4-30" fmla="*/ 485573 h 485573"/>
              <a:gd name="csX5-31" fmla="*/ 0 w 416172"/>
              <a:gd name="csY5-32" fmla="*/ 485573 h 485573"/>
              <a:gd name="csX6-33" fmla="*/ 112166 w 416172"/>
              <a:gd name="csY6-34" fmla="*/ 219516 h 485573"/>
              <a:gd name="csX7-35" fmla="*/ 122329 w 416172"/>
              <a:gd name="csY7-36" fmla="*/ 157197 h 485573"/>
              <a:gd name="csX8-37" fmla="*/ 71717 w 416172"/>
              <a:gd name="csY8-38" fmla="*/ 158911 h 485573"/>
              <a:gd name="csX9-39" fmla="*/ 205405 w 416172"/>
              <a:gd name="csY9-40" fmla="*/ 0 h 485573"/>
              <a:gd name="csX0-41" fmla="*/ 205405 w 416172"/>
              <a:gd name="csY0-42" fmla="*/ 0 h 485573"/>
              <a:gd name="csX1-43" fmla="*/ 348858 w 416172"/>
              <a:gd name="csY1-44" fmla="*/ 157197 h 485573"/>
              <a:gd name="csX2-45" fmla="*/ 294275 w 416172"/>
              <a:gd name="csY2-46" fmla="*/ 157197 h 485573"/>
              <a:gd name="csX3-47" fmla="*/ 306015 w 416172"/>
              <a:gd name="csY3-48" fmla="*/ 222195 h 485573"/>
              <a:gd name="csX4-49" fmla="*/ 416172 w 416172"/>
              <a:gd name="csY4-50" fmla="*/ 485573 h 485573"/>
              <a:gd name="csX5-51" fmla="*/ 0 w 416172"/>
              <a:gd name="csY5-52" fmla="*/ 485573 h 485573"/>
              <a:gd name="csX6-53" fmla="*/ 112166 w 416172"/>
              <a:gd name="csY6-54" fmla="*/ 219516 h 485573"/>
              <a:gd name="csX7-55" fmla="*/ 122329 w 416172"/>
              <a:gd name="csY7-56" fmla="*/ 157197 h 485573"/>
              <a:gd name="csX8-57" fmla="*/ 71717 w 416172"/>
              <a:gd name="csY8-58" fmla="*/ 158911 h 485573"/>
              <a:gd name="csX9-59" fmla="*/ 205405 w 416172"/>
              <a:gd name="csY9-60" fmla="*/ 0 h 485573"/>
              <a:gd name="csX0-61" fmla="*/ 214727 w 425494"/>
              <a:gd name="csY0-62" fmla="*/ 0 h 485573"/>
              <a:gd name="csX1-63" fmla="*/ 358180 w 425494"/>
              <a:gd name="csY1-64" fmla="*/ 157197 h 485573"/>
              <a:gd name="csX2-65" fmla="*/ 303597 w 425494"/>
              <a:gd name="csY2-66" fmla="*/ 157197 h 485573"/>
              <a:gd name="csX3-67" fmla="*/ 315337 w 425494"/>
              <a:gd name="csY3-68" fmla="*/ 222195 h 485573"/>
              <a:gd name="csX4-69" fmla="*/ 425494 w 425494"/>
              <a:gd name="csY4-70" fmla="*/ 485573 h 485573"/>
              <a:gd name="csX5-71" fmla="*/ 9322 w 425494"/>
              <a:gd name="csY5-72" fmla="*/ 485573 h 485573"/>
              <a:gd name="csX6-73" fmla="*/ 131651 w 425494"/>
              <a:gd name="csY6-74" fmla="*/ 157197 h 485573"/>
              <a:gd name="csX7-75" fmla="*/ 81039 w 425494"/>
              <a:gd name="csY7-76" fmla="*/ 158911 h 485573"/>
              <a:gd name="csX8-77" fmla="*/ 214727 w 425494"/>
              <a:gd name="csY8-78" fmla="*/ 0 h 485573"/>
              <a:gd name="csX0-79" fmla="*/ 205405 w 416172"/>
              <a:gd name="csY0-80" fmla="*/ 0 h 485573"/>
              <a:gd name="csX1-81" fmla="*/ 348858 w 416172"/>
              <a:gd name="csY1-82" fmla="*/ 157197 h 485573"/>
              <a:gd name="csX2-83" fmla="*/ 294275 w 416172"/>
              <a:gd name="csY2-84" fmla="*/ 157197 h 485573"/>
              <a:gd name="csX3-85" fmla="*/ 306015 w 416172"/>
              <a:gd name="csY3-86" fmla="*/ 222195 h 485573"/>
              <a:gd name="csX4-87" fmla="*/ 416172 w 416172"/>
              <a:gd name="csY4-88" fmla="*/ 485573 h 485573"/>
              <a:gd name="csX5-89" fmla="*/ 0 w 416172"/>
              <a:gd name="csY5-90" fmla="*/ 485573 h 485573"/>
              <a:gd name="csX6-91" fmla="*/ 122329 w 416172"/>
              <a:gd name="csY6-92" fmla="*/ 157197 h 485573"/>
              <a:gd name="csX7-93" fmla="*/ 71717 w 416172"/>
              <a:gd name="csY7-94" fmla="*/ 158911 h 485573"/>
              <a:gd name="csX8-95" fmla="*/ 205405 w 416172"/>
              <a:gd name="csY8-96" fmla="*/ 0 h 485573"/>
              <a:gd name="csX0-97" fmla="*/ 205405 w 416172"/>
              <a:gd name="csY0-98" fmla="*/ 0 h 485573"/>
              <a:gd name="csX1-99" fmla="*/ 348858 w 416172"/>
              <a:gd name="csY1-100" fmla="*/ 157197 h 485573"/>
              <a:gd name="csX2-101" fmla="*/ 294275 w 416172"/>
              <a:gd name="csY2-102" fmla="*/ 157197 h 485573"/>
              <a:gd name="csX3-103" fmla="*/ 416172 w 416172"/>
              <a:gd name="csY3-104" fmla="*/ 485573 h 485573"/>
              <a:gd name="csX4-105" fmla="*/ 0 w 416172"/>
              <a:gd name="csY4-106" fmla="*/ 485573 h 485573"/>
              <a:gd name="csX5-107" fmla="*/ 122329 w 416172"/>
              <a:gd name="csY5-108" fmla="*/ 157197 h 485573"/>
              <a:gd name="csX6-109" fmla="*/ 71717 w 416172"/>
              <a:gd name="csY6-110" fmla="*/ 158911 h 485573"/>
              <a:gd name="csX7-111" fmla="*/ 205405 w 416172"/>
              <a:gd name="csY7-112" fmla="*/ 0 h 485573"/>
              <a:gd name="csX0-113" fmla="*/ 205405 w 416172"/>
              <a:gd name="csY0-114" fmla="*/ 0 h 485573"/>
              <a:gd name="csX1-115" fmla="*/ 348858 w 416172"/>
              <a:gd name="csY1-116" fmla="*/ 157197 h 485573"/>
              <a:gd name="csX2-117" fmla="*/ 294275 w 416172"/>
              <a:gd name="csY2-118" fmla="*/ 157197 h 485573"/>
              <a:gd name="csX3-119" fmla="*/ 416172 w 416172"/>
              <a:gd name="csY3-120" fmla="*/ 485573 h 485573"/>
              <a:gd name="csX4-121" fmla="*/ 0 w 416172"/>
              <a:gd name="csY4-122" fmla="*/ 485573 h 485573"/>
              <a:gd name="csX5-123" fmla="*/ 122329 w 416172"/>
              <a:gd name="csY5-124" fmla="*/ 157197 h 485573"/>
              <a:gd name="csX6-125" fmla="*/ 71717 w 416172"/>
              <a:gd name="csY6-126" fmla="*/ 158911 h 485573"/>
              <a:gd name="csX7-127" fmla="*/ 205405 w 416172"/>
              <a:gd name="csY7-128" fmla="*/ 0 h 485573"/>
              <a:gd name="csX0-129" fmla="*/ 205405 w 416172"/>
              <a:gd name="csY0-130" fmla="*/ 0 h 485573"/>
              <a:gd name="csX1-131" fmla="*/ 348858 w 416172"/>
              <a:gd name="csY1-132" fmla="*/ 157197 h 485573"/>
              <a:gd name="csX2-133" fmla="*/ 294275 w 416172"/>
              <a:gd name="csY2-134" fmla="*/ 157197 h 485573"/>
              <a:gd name="csX3-135" fmla="*/ 416172 w 416172"/>
              <a:gd name="csY3-136" fmla="*/ 485573 h 485573"/>
              <a:gd name="csX4-137" fmla="*/ 0 w 416172"/>
              <a:gd name="csY4-138" fmla="*/ 485573 h 485573"/>
              <a:gd name="csX5-139" fmla="*/ 122329 w 416172"/>
              <a:gd name="csY5-140" fmla="*/ 157197 h 485573"/>
              <a:gd name="csX6-141" fmla="*/ 71717 w 416172"/>
              <a:gd name="csY6-142" fmla="*/ 158911 h 485573"/>
              <a:gd name="csX7-143" fmla="*/ 205405 w 416172"/>
              <a:gd name="csY7-144" fmla="*/ 0 h 485573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</a:cxnLst>
            <a:rect l="l" t="t" r="r" b="b"/>
            <a:pathLst>
              <a:path w="416172" h="485573">
                <a:moveTo>
                  <a:pt x="205405" y="0"/>
                </a:moveTo>
                <a:cubicBezTo>
                  <a:pt x="244007" y="53881"/>
                  <a:pt x="293715" y="111596"/>
                  <a:pt x="348858" y="157197"/>
                </a:cubicBezTo>
                <a:lnTo>
                  <a:pt x="294275" y="157197"/>
                </a:lnTo>
                <a:cubicBezTo>
                  <a:pt x="319788" y="271753"/>
                  <a:pt x="361026" y="410941"/>
                  <a:pt x="416172" y="485573"/>
                </a:cubicBezTo>
                <a:lnTo>
                  <a:pt x="0" y="485573"/>
                </a:lnTo>
                <a:cubicBezTo>
                  <a:pt x="38110" y="434242"/>
                  <a:pt x="110376" y="211641"/>
                  <a:pt x="122329" y="157197"/>
                </a:cubicBezTo>
                <a:cubicBezTo>
                  <a:pt x="91947" y="157197"/>
                  <a:pt x="102099" y="158911"/>
                  <a:pt x="71717" y="158911"/>
                </a:cubicBezTo>
                <a:cubicBezTo>
                  <a:pt x="116033" y="120609"/>
                  <a:pt x="176767" y="43061"/>
                  <a:pt x="205405" y="0"/>
                </a:cubicBezTo>
                <a:close/>
              </a:path>
            </a:pathLst>
          </a:custGeom>
          <a:gradFill>
            <a:gsLst>
              <a:gs pos="5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  <a:gs pos="2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思源宋体 CN Medium" panose="020205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401169" cy="368300"/>
          </a:xfrm>
        </p:spPr>
        <p:txBody>
          <a:bodyPr/>
          <a:p>
            <a:r>
              <a:rPr dirty="0"/>
              <a:t>采用三层递进的技术路线：先构建数据底座，再研发垂直领域模型，最后集成决策智能体。</a:t>
            </a:r>
            <a:endParaRPr dirty="0"/>
          </a:p>
        </p:txBody>
      </p:sp>
      <p:sp>
        <p:nvSpPr>
          <p:cNvPr id="45" name="文本框 44"/>
          <p:cNvSpPr txBox="1"/>
          <p:nvPr/>
        </p:nvSpPr>
        <p:spPr>
          <a:xfrm>
            <a:off x="5349240" y="4462780"/>
            <a:ext cx="22536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solidFill>
                  <a:srgbClr val="FF0000"/>
                </a:solidFill>
              </a:rPr>
              <a:t>提供推理能力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86070" y="3028950"/>
            <a:ext cx="22536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solidFill>
                  <a:srgbClr val="FF0000"/>
                </a:solidFill>
              </a:rPr>
              <a:t>提供数据基础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190" y="401955"/>
            <a:ext cx="9137650" cy="400685"/>
          </a:xfrm>
        </p:spPr>
        <p:txBody>
          <a:bodyPr/>
          <a:lstStyle/>
          <a:p>
            <a:r>
              <a:rPr dirty="0"/>
              <a:t>研究内容一：跨模态汽车产业数据语义对齐与高质量语料库构建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1327150"/>
          </a:xfrm>
        </p:spPr>
        <p:txBody>
          <a:bodyPr/>
          <a:lstStyle/>
          <a:p>
            <a:r>
              <a:rPr dirty="0"/>
              <a:t>关键问题：中汽数据拥有</a:t>
            </a:r>
            <a:r>
              <a:rPr dirty="0">
                <a:solidFill>
                  <a:srgbClr val="C00000"/>
                </a:solidFill>
              </a:rPr>
              <a:t>独家的</a:t>
            </a:r>
            <a:r>
              <a:rPr dirty="0"/>
              <a:t>周度销量、BOM级成本、汽车-通信融合数据，若无法实现对核心数据资产的</a:t>
            </a:r>
            <a:r>
              <a:rPr dirty="0">
                <a:solidFill>
                  <a:srgbClr val="C00000"/>
                </a:solidFill>
              </a:rPr>
              <a:t>有效语义对齐</a:t>
            </a:r>
            <a:r>
              <a:rPr dirty="0"/>
              <a:t>和</a:t>
            </a:r>
            <a:r>
              <a:rPr dirty="0">
                <a:solidFill>
                  <a:srgbClr val="C00000"/>
                </a:solidFill>
              </a:rPr>
              <a:t>避免数据外流</a:t>
            </a:r>
            <a:r>
              <a:rPr dirty="0"/>
              <a:t>的新型调用方式，将无法构建高壁垒的AI决策应用。</a:t>
            </a:r>
            <a:endParaRPr dirty="0"/>
          </a:p>
          <a:p>
            <a:r>
              <a:rPr dirty="0"/>
              <a:t>研究内容：应用基于知识图谱+向量数据库的多源融合、隐私计算、UIE语义解析等技术，打造涵盖</a:t>
            </a:r>
            <a:r>
              <a:rPr>
                <a:sym typeface="+mn-ea"/>
              </a:rPr>
              <a:t>市场、</a:t>
            </a:r>
            <a:r>
              <a:rPr dirty="0"/>
              <a:t>用户和产品的汽车产业高质量数据集，实现多源异构数据语义对齐。</a:t>
            </a:r>
            <a:endParaRPr dirty="0"/>
          </a:p>
        </p:txBody>
      </p:sp>
      <p:sp>
        <p:nvSpPr>
          <p:cNvPr id="16" name="平行四边形 15"/>
          <p:cNvSpPr/>
          <p:nvPr/>
        </p:nvSpPr>
        <p:spPr>
          <a:xfrm>
            <a:off x="7056755" y="2190115"/>
            <a:ext cx="4791075" cy="402590"/>
          </a:xfrm>
          <a:prstGeom prst="parallelogram">
            <a:avLst>
              <a:gd name="adj" fmla="val 7428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打造三大高质量数据集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0"/>
          <p:cNvSpPr/>
          <p:nvPr/>
        </p:nvSpPr>
        <p:spPr>
          <a:xfrm rot="5400000">
            <a:off x="4912162" y="4311452"/>
            <a:ext cx="4001770" cy="396000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  <a:gd name="connsiteX0-1" fmla="*/ 202633 w 416172"/>
              <a:gd name="connsiteY0-2" fmla="*/ 0 h 485927"/>
              <a:gd name="connsiteX1-3" fmla="*/ 374083 w 416172"/>
              <a:gd name="connsiteY1-4" fmla="*/ 157551 h 485927"/>
              <a:gd name="connsiteX2-5" fmla="*/ 294275 w 416172"/>
              <a:gd name="connsiteY2-6" fmla="*/ 157551 h 485927"/>
              <a:gd name="connsiteX3-7" fmla="*/ 306015 w 416172"/>
              <a:gd name="connsiteY3-8" fmla="*/ 222549 h 485927"/>
              <a:gd name="connsiteX4-9" fmla="*/ 416172 w 416172"/>
              <a:gd name="connsiteY4-10" fmla="*/ 485927 h 485927"/>
              <a:gd name="connsiteX5-11" fmla="*/ 0 w 416172"/>
              <a:gd name="connsiteY5-12" fmla="*/ 485927 h 485927"/>
              <a:gd name="connsiteX6-13" fmla="*/ 112166 w 416172"/>
              <a:gd name="connsiteY6-14" fmla="*/ 219870 h 485927"/>
              <a:gd name="connsiteX7-15" fmla="*/ 122329 w 416172"/>
              <a:gd name="connsiteY7-16" fmla="*/ 157551 h 485927"/>
              <a:gd name="connsiteX8-17" fmla="*/ 58023 w 416172"/>
              <a:gd name="connsiteY8-18" fmla="*/ 160421 h 485927"/>
              <a:gd name="connsiteX9-19" fmla="*/ 202633 w 416172"/>
              <a:gd name="connsiteY9-20" fmla="*/ 0 h 485927"/>
              <a:gd name="connsiteX0-21" fmla="*/ 202633 w 416172"/>
              <a:gd name="connsiteY0-22" fmla="*/ 0 h 485927"/>
              <a:gd name="connsiteX1-23" fmla="*/ 374083 w 416172"/>
              <a:gd name="connsiteY1-24" fmla="*/ 157551 h 485927"/>
              <a:gd name="connsiteX2-25" fmla="*/ 294275 w 416172"/>
              <a:gd name="connsiteY2-26" fmla="*/ 157551 h 485927"/>
              <a:gd name="connsiteX3-27" fmla="*/ 306015 w 416172"/>
              <a:gd name="connsiteY3-28" fmla="*/ 222549 h 485927"/>
              <a:gd name="connsiteX4-29" fmla="*/ 416172 w 416172"/>
              <a:gd name="connsiteY4-30" fmla="*/ 485927 h 485927"/>
              <a:gd name="connsiteX5-31" fmla="*/ 0 w 416172"/>
              <a:gd name="connsiteY5-32" fmla="*/ 485927 h 485927"/>
              <a:gd name="connsiteX6-33" fmla="*/ 112166 w 416172"/>
              <a:gd name="connsiteY6-34" fmla="*/ 219870 h 485927"/>
              <a:gd name="connsiteX7-35" fmla="*/ 122329 w 416172"/>
              <a:gd name="connsiteY7-36" fmla="*/ 157551 h 485927"/>
              <a:gd name="connsiteX8-37" fmla="*/ 58023 w 416172"/>
              <a:gd name="connsiteY8-38" fmla="*/ 160421 h 485927"/>
              <a:gd name="connsiteX9-39" fmla="*/ 202633 w 416172"/>
              <a:gd name="connsiteY9-40" fmla="*/ 0 h 485927"/>
              <a:gd name="connsiteX0-41" fmla="*/ 202633 w 416172"/>
              <a:gd name="connsiteY0-42" fmla="*/ 0 h 485927"/>
              <a:gd name="connsiteX1-43" fmla="*/ 348858 w 416172"/>
              <a:gd name="connsiteY1-44" fmla="*/ 157551 h 485927"/>
              <a:gd name="connsiteX2-45" fmla="*/ 294275 w 416172"/>
              <a:gd name="connsiteY2-46" fmla="*/ 157551 h 485927"/>
              <a:gd name="connsiteX3-47" fmla="*/ 306015 w 416172"/>
              <a:gd name="connsiteY3-48" fmla="*/ 222549 h 485927"/>
              <a:gd name="connsiteX4-49" fmla="*/ 416172 w 416172"/>
              <a:gd name="connsiteY4-50" fmla="*/ 485927 h 485927"/>
              <a:gd name="connsiteX5-51" fmla="*/ 0 w 416172"/>
              <a:gd name="connsiteY5-52" fmla="*/ 485927 h 485927"/>
              <a:gd name="connsiteX6-53" fmla="*/ 112166 w 416172"/>
              <a:gd name="connsiteY6-54" fmla="*/ 219870 h 485927"/>
              <a:gd name="connsiteX7-55" fmla="*/ 122329 w 416172"/>
              <a:gd name="connsiteY7-56" fmla="*/ 157551 h 485927"/>
              <a:gd name="connsiteX8-57" fmla="*/ 58023 w 416172"/>
              <a:gd name="connsiteY8-58" fmla="*/ 160421 h 485927"/>
              <a:gd name="connsiteX9-59" fmla="*/ 202633 w 416172"/>
              <a:gd name="connsiteY9-60" fmla="*/ 0 h 485927"/>
              <a:gd name="connsiteX0-61" fmla="*/ 202633 w 416172"/>
              <a:gd name="connsiteY0-62" fmla="*/ 0 h 485927"/>
              <a:gd name="connsiteX1-63" fmla="*/ 348858 w 416172"/>
              <a:gd name="connsiteY1-64" fmla="*/ 157551 h 485927"/>
              <a:gd name="connsiteX2-65" fmla="*/ 294275 w 416172"/>
              <a:gd name="connsiteY2-66" fmla="*/ 157551 h 485927"/>
              <a:gd name="connsiteX3-67" fmla="*/ 306015 w 416172"/>
              <a:gd name="connsiteY3-68" fmla="*/ 222549 h 485927"/>
              <a:gd name="connsiteX4-69" fmla="*/ 416172 w 416172"/>
              <a:gd name="connsiteY4-70" fmla="*/ 485927 h 485927"/>
              <a:gd name="connsiteX5-71" fmla="*/ 0 w 416172"/>
              <a:gd name="connsiteY5-72" fmla="*/ 485927 h 485927"/>
              <a:gd name="connsiteX6-73" fmla="*/ 112166 w 416172"/>
              <a:gd name="connsiteY6-74" fmla="*/ 219870 h 485927"/>
              <a:gd name="connsiteX7-75" fmla="*/ 122329 w 416172"/>
              <a:gd name="connsiteY7-76" fmla="*/ 157551 h 485927"/>
              <a:gd name="connsiteX8-77" fmla="*/ 58023 w 416172"/>
              <a:gd name="connsiteY8-78" fmla="*/ 160421 h 485927"/>
              <a:gd name="connsiteX9-79" fmla="*/ 202633 w 416172"/>
              <a:gd name="connsiteY9-80" fmla="*/ 0 h 485927"/>
              <a:gd name="connsiteX0-81" fmla="*/ 202633 w 416172"/>
              <a:gd name="connsiteY0-82" fmla="*/ 0 h 485927"/>
              <a:gd name="connsiteX1-83" fmla="*/ 348858 w 416172"/>
              <a:gd name="connsiteY1-84" fmla="*/ 157551 h 485927"/>
              <a:gd name="connsiteX2-85" fmla="*/ 294275 w 416172"/>
              <a:gd name="connsiteY2-86" fmla="*/ 157551 h 485927"/>
              <a:gd name="connsiteX3-87" fmla="*/ 306015 w 416172"/>
              <a:gd name="connsiteY3-88" fmla="*/ 222549 h 485927"/>
              <a:gd name="connsiteX4-89" fmla="*/ 416172 w 416172"/>
              <a:gd name="connsiteY4-90" fmla="*/ 485927 h 485927"/>
              <a:gd name="connsiteX5-91" fmla="*/ 0 w 416172"/>
              <a:gd name="connsiteY5-92" fmla="*/ 485927 h 485927"/>
              <a:gd name="connsiteX6-93" fmla="*/ 112166 w 416172"/>
              <a:gd name="connsiteY6-94" fmla="*/ 219870 h 485927"/>
              <a:gd name="connsiteX7-95" fmla="*/ 122329 w 416172"/>
              <a:gd name="connsiteY7-96" fmla="*/ 157551 h 485927"/>
              <a:gd name="connsiteX8-97" fmla="*/ 71717 w 416172"/>
              <a:gd name="connsiteY8-98" fmla="*/ 159265 h 485927"/>
              <a:gd name="connsiteX9-99" fmla="*/ 202633 w 416172"/>
              <a:gd name="connsiteY9-100" fmla="*/ 0 h 485927"/>
              <a:gd name="connsiteX0-101" fmla="*/ 202633 w 416172"/>
              <a:gd name="connsiteY0-102" fmla="*/ 0 h 485927"/>
              <a:gd name="connsiteX1-103" fmla="*/ 348858 w 416172"/>
              <a:gd name="connsiteY1-104" fmla="*/ 157551 h 485927"/>
              <a:gd name="connsiteX2-105" fmla="*/ 294275 w 416172"/>
              <a:gd name="connsiteY2-106" fmla="*/ 157551 h 485927"/>
              <a:gd name="connsiteX3-107" fmla="*/ 306015 w 416172"/>
              <a:gd name="connsiteY3-108" fmla="*/ 222549 h 485927"/>
              <a:gd name="connsiteX4-109" fmla="*/ 416172 w 416172"/>
              <a:gd name="connsiteY4-110" fmla="*/ 485927 h 485927"/>
              <a:gd name="connsiteX5-111" fmla="*/ 0 w 416172"/>
              <a:gd name="connsiteY5-112" fmla="*/ 485927 h 485927"/>
              <a:gd name="connsiteX6-113" fmla="*/ 112166 w 416172"/>
              <a:gd name="connsiteY6-114" fmla="*/ 219870 h 485927"/>
              <a:gd name="connsiteX7-115" fmla="*/ 122329 w 416172"/>
              <a:gd name="connsiteY7-116" fmla="*/ 157551 h 485927"/>
              <a:gd name="connsiteX8-117" fmla="*/ 71717 w 416172"/>
              <a:gd name="connsiteY8-118" fmla="*/ 159265 h 485927"/>
              <a:gd name="connsiteX9-119" fmla="*/ 202633 w 416172"/>
              <a:gd name="connsiteY9-120" fmla="*/ 0 h 485927"/>
              <a:gd name="connsiteX0-121" fmla="*/ 202633 w 416172"/>
              <a:gd name="connsiteY0-122" fmla="*/ 0 h 485927"/>
              <a:gd name="connsiteX1-123" fmla="*/ 348858 w 416172"/>
              <a:gd name="connsiteY1-124" fmla="*/ 157551 h 485927"/>
              <a:gd name="connsiteX2-125" fmla="*/ 294275 w 416172"/>
              <a:gd name="connsiteY2-126" fmla="*/ 157551 h 485927"/>
              <a:gd name="connsiteX3-127" fmla="*/ 306015 w 416172"/>
              <a:gd name="connsiteY3-128" fmla="*/ 222549 h 485927"/>
              <a:gd name="connsiteX4-129" fmla="*/ 416172 w 416172"/>
              <a:gd name="connsiteY4-130" fmla="*/ 485927 h 485927"/>
              <a:gd name="connsiteX5-131" fmla="*/ 0 w 416172"/>
              <a:gd name="connsiteY5-132" fmla="*/ 485927 h 485927"/>
              <a:gd name="connsiteX6-133" fmla="*/ 112166 w 416172"/>
              <a:gd name="connsiteY6-134" fmla="*/ 219870 h 485927"/>
              <a:gd name="connsiteX7-135" fmla="*/ 122329 w 416172"/>
              <a:gd name="connsiteY7-136" fmla="*/ 157551 h 485927"/>
              <a:gd name="connsiteX8-137" fmla="*/ 71717 w 416172"/>
              <a:gd name="connsiteY8-138" fmla="*/ 159265 h 485927"/>
              <a:gd name="connsiteX9-139" fmla="*/ 202633 w 416172"/>
              <a:gd name="connsiteY9-140" fmla="*/ 0 h 485927"/>
              <a:gd name="connsiteX0-141" fmla="*/ 202633 w 416172"/>
              <a:gd name="connsiteY0-142" fmla="*/ 0 h 485927"/>
              <a:gd name="connsiteX1-143" fmla="*/ 348858 w 416172"/>
              <a:gd name="connsiteY1-144" fmla="*/ 157551 h 485927"/>
              <a:gd name="connsiteX2-145" fmla="*/ 294275 w 416172"/>
              <a:gd name="connsiteY2-146" fmla="*/ 157551 h 485927"/>
              <a:gd name="connsiteX3-147" fmla="*/ 306015 w 416172"/>
              <a:gd name="connsiteY3-148" fmla="*/ 222549 h 485927"/>
              <a:gd name="connsiteX4-149" fmla="*/ 416172 w 416172"/>
              <a:gd name="connsiteY4-150" fmla="*/ 485927 h 485927"/>
              <a:gd name="connsiteX5-151" fmla="*/ 0 w 416172"/>
              <a:gd name="connsiteY5-152" fmla="*/ 485927 h 485927"/>
              <a:gd name="connsiteX6-153" fmla="*/ 112166 w 416172"/>
              <a:gd name="connsiteY6-154" fmla="*/ 219870 h 485927"/>
              <a:gd name="connsiteX7-155" fmla="*/ 122329 w 416172"/>
              <a:gd name="connsiteY7-156" fmla="*/ 157551 h 485927"/>
              <a:gd name="connsiteX8-157" fmla="*/ 71717 w 416172"/>
              <a:gd name="connsiteY8-158" fmla="*/ 159265 h 485927"/>
              <a:gd name="connsiteX9-159" fmla="*/ 202633 w 416172"/>
              <a:gd name="connsiteY9-160" fmla="*/ 0 h 485927"/>
              <a:gd name="connsiteX0-161" fmla="*/ 202633 w 416172"/>
              <a:gd name="connsiteY0-162" fmla="*/ 0 h 485927"/>
              <a:gd name="connsiteX1-163" fmla="*/ 348858 w 416172"/>
              <a:gd name="connsiteY1-164" fmla="*/ 157551 h 485927"/>
              <a:gd name="connsiteX2-165" fmla="*/ 294275 w 416172"/>
              <a:gd name="connsiteY2-166" fmla="*/ 157551 h 485927"/>
              <a:gd name="connsiteX3-167" fmla="*/ 306015 w 416172"/>
              <a:gd name="connsiteY3-168" fmla="*/ 222549 h 485927"/>
              <a:gd name="connsiteX4-169" fmla="*/ 416172 w 416172"/>
              <a:gd name="connsiteY4-170" fmla="*/ 485927 h 485927"/>
              <a:gd name="connsiteX5-171" fmla="*/ 0 w 416172"/>
              <a:gd name="connsiteY5-172" fmla="*/ 485927 h 485927"/>
              <a:gd name="connsiteX6-173" fmla="*/ 112166 w 416172"/>
              <a:gd name="connsiteY6-174" fmla="*/ 219870 h 485927"/>
              <a:gd name="connsiteX7-175" fmla="*/ 122329 w 416172"/>
              <a:gd name="connsiteY7-176" fmla="*/ 157551 h 485927"/>
              <a:gd name="connsiteX8-177" fmla="*/ 71717 w 416172"/>
              <a:gd name="connsiteY8-178" fmla="*/ 159265 h 485927"/>
              <a:gd name="connsiteX9-179" fmla="*/ 202633 w 416172"/>
              <a:gd name="connsiteY9-180" fmla="*/ 0 h 485927"/>
              <a:gd name="connsiteX0-181" fmla="*/ 202633 w 416172"/>
              <a:gd name="connsiteY0-182" fmla="*/ 0 h 485927"/>
              <a:gd name="connsiteX1-183" fmla="*/ 348858 w 416172"/>
              <a:gd name="connsiteY1-184" fmla="*/ 157551 h 485927"/>
              <a:gd name="connsiteX2-185" fmla="*/ 294275 w 416172"/>
              <a:gd name="connsiteY2-186" fmla="*/ 157551 h 485927"/>
              <a:gd name="connsiteX3-187" fmla="*/ 306015 w 416172"/>
              <a:gd name="connsiteY3-188" fmla="*/ 222549 h 485927"/>
              <a:gd name="connsiteX4-189" fmla="*/ 416172 w 416172"/>
              <a:gd name="connsiteY4-190" fmla="*/ 485927 h 485927"/>
              <a:gd name="connsiteX5-191" fmla="*/ 0 w 416172"/>
              <a:gd name="connsiteY5-192" fmla="*/ 485927 h 485927"/>
              <a:gd name="connsiteX6-193" fmla="*/ 112166 w 416172"/>
              <a:gd name="connsiteY6-194" fmla="*/ 219870 h 485927"/>
              <a:gd name="connsiteX7-195" fmla="*/ 122329 w 416172"/>
              <a:gd name="connsiteY7-196" fmla="*/ 157551 h 485927"/>
              <a:gd name="connsiteX8-197" fmla="*/ 71717 w 416172"/>
              <a:gd name="connsiteY8-198" fmla="*/ 159265 h 485927"/>
              <a:gd name="connsiteX9-199" fmla="*/ 202633 w 416172"/>
              <a:gd name="connsiteY9-200" fmla="*/ 0 h 485927"/>
              <a:gd name="connsiteX0-201" fmla="*/ 202633 w 416172"/>
              <a:gd name="connsiteY0-202" fmla="*/ 0 h 485927"/>
              <a:gd name="connsiteX1-203" fmla="*/ 348858 w 416172"/>
              <a:gd name="connsiteY1-204" fmla="*/ 157551 h 485927"/>
              <a:gd name="connsiteX2-205" fmla="*/ 294275 w 416172"/>
              <a:gd name="connsiteY2-206" fmla="*/ 157551 h 485927"/>
              <a:gd name="connsiteX3-207" fmla="*/ 306015 w 416172"/>
              <a:gd name="connsiteY3-208" fmla="*/ 222549 h 485927"/>
              <a:gd name="connsiteX4-209" fmla="*/ 416172 w 416172"/>
              <a:gd name="connsiteY4-210" fmla="*/ 485927 h 485927"/>
              <a:gd name="connsiteX5-211" fmla="*/ 0 w 416172"/>
              <a:gd name="connsiteY5-212" fmla="*/ 485927 h 485927"/>
              <a:gd name="connsiteX6-213" fmla="*/ 112166 w 416172"/>
              <a:gd name="connsiteY6-214" fmla="*/ 219870 h 485927"/>
              <a:gd name="connsiteX7-215" fmla="*/ 122329 w 416172"/>
              <a:gd name="connsiteY7-216" fmla="*/ 157551 h 485927"/>
              <a:gd name="connsiteX8-217" fmla="*/ 71717 w 416172"/>
              <a:gd name="connsiteY8-218" fmla="*/ 159265 h 485927"/>
              <a:gd name="connsiteX9-219" fmla="*/ 202633 w 416172"/>
              <a:gd name="connsiteY9-220" fmla="*/ 0 h 485927"/>
              <a:gd name="csX0" fmla="*/ 205405 w 416172"/>
              <a:gd name="csY0" fmla="*/ 0 h 485573"/>
              <a:gd name="csX1" fmla="*/ 348858 w 416172"/>
              <a:gd name="csY1" fmla="*/ 157197 h 485573"/>
              <a:gd name="csX2" fmla="*/ 294275 w 416172"/>
              <a:gd name="csY2" fmla="*/ 157197 h 485573"/>
              <a:gd name="csX3" fmla="*/ 306015 w 416172"/>
              <a:gd name="csY3" fmla="*/ 222195 h 485573"/>
              <a:gd name="csX4" fmla="*/ 416172 w 416172"/>
              <a:gd name="csY4" fmla="*/ 485573 h 485573"/>
              <a:gd name="csX5" fmla="*/ 0 w 416172"/>
              <a:gd name="csY5" fmla="*/ 485573 h 485573"/>
              <a:gd name="csX6" fmla="*/ 112166 w 416172"/>
              <a:gd name="csY6" fmla="*/ 219516 h 485573"/>
              <a:gd name="csX7" fmla="*/ 122329 w 416172"/>
              <a:gd name="csY7" fmla="*/ 157197 h 485573"/>
              <a:gd name="csX8" fmla="*/ 71717 w 416172"/>
              <a:gd name="csY8" fmla="*/ 158911 h 485573"/>
              <a:gd name="csX9" fmla="*/ 205405 w 416172"/>
              <a:gd name="csY9" fmla="*/ 0 h 485573"/>
              <a:gd name="csX0-1" fmla="*/ 205405 w 416172"/>
              <a:gd name="csY0-2" fmla="*/ 0 h 485573"/>
              <a:gd name="csX1-3" fmla="*/ 348858 w 416172"/>
              <a:gd name="csY1-4" fmla="*/ 157197 h 485573"/>
              <a:gd name="csX2-5" fmla="*/ 294275 w 416172"/>
              <a:gd name="csY2-6" fmla="*/ 157197 h 485573"/>
              <a:gd name="csX3-7" fmla="*/ 306015 w 416172"/>
              <a:gd name="csY3-8" fmla="*/ 222195 h 485573"/>
              <a:gd name="csX4-9" fmla="*/ 416172 w 416172"/>
              <a:gd name="csY4-10" fmla="*/ 485573 h 485573"/>
              <a:gd name="csX5-11" fmla="*/ 0 w 416172"/>
              <a:gd name="csY5-12" fmla="*/ 485573 h 485573"/>
              <a:gd name="csX6-13" fmla="*/ 112166 w 416172"/>
              <a:gd name="csY6-14" fmla="*/ 219516 h 485573"/>
              <a:gd name="csX7-15" fmla="*/ 122329 w 416172"/>
              <a:gd name="csY7-16" fmla="*/ 157197 h 485573"/>
              <a:gd name="csX8-17" fmla="*/ 71717 w 416172"/>
              <a:gd name="csY8-18" fmla="*/ 158911 h 485573"/>
              <a:gd name="csX9-19" fmla="*/ 205405 w 416172"/>
              <a:gd name="csY9-20" fmla="*/ 0 h 485573"/>
              <a:gd name="csX0-21" fmla="*/ 205405 w 416172"/>
              <a:gd name="csY0-22" fmla="*/ 0 h 485573"/>
              <a:gd name="csX1-23" fmla="*/ 348858 w 416172"/>
              <a:gd name="csY1-24" fmla="*/ 157197 h 485573"/>
              <a:gd name="csX2-25" fmla="*/ 294275 w 416172"/>
              <a:gd name="csY2-26" fmla="*/ 157197 h 485573"/>
              <a:gd name="csX3-27" fmla="*/ 306015 w 416172"/>
              <a:gd name="csY3-28" fmla="*/ 222195 h 485573"/>
              <a:gd name="csX4-29" fmla="*/ 416172 w 416172"/>
              <a:gd name="csY4-30" fmla="*/ 485573 h 485573"/>
              <a:gd name="csX5-31" fmla="*/ 0 w 416172"/>
              <a:gd name="csY5-32" fmla="*/ 485573 h 485573"/>
              <a:gd name="csX6-33" fmla="*/ 112166 w 416172"/>
              <a:gd name="csY6-34" fmla="*/ 219516 h 485573"/>
              <a:gd name="csX7-35" fmla="*/ 122329 w 416172"/>
              <a:gd name="csY7-36" fmla="*/ 157197 h 485573"/>
              <a:gd name="csX8-37" fmla="*/ 71717 w 416172"/>
              <a:gd name="csY8-38" fmla="*/ 158911 h 485573"/>
              <a:gd name="csX9-39" fmla="*/ 205405 w 416172"/>
              <a:gd name="csY9-40" fmla="*/ 0 h 485573"/>
              <a:gd name="csX0-41" fmla="*/ 205405 w 416172"/>
              <a:gd name="csY0-42" fmla="*/ 0 h 485573"/>
              <a:gd name="csX1-43" fmla="*/ 348858 w 416172"/>
              <a:gd name="csY1-44" fmla="*/ 157197 h 485573"/>
              <a:gd name="csX2-45" fmla="*/ 294275 w 416172"/>
              <a:gd name="csY2-46" fmla="*/ 157197 h 485573"/>
              <a:gd name="csX3-47" fmla="*/ 306015 w 416172"/>
              <a:gd name="csY3-48" fmla="*/ 222195 h 485573"/>
              <a:gd name="csX4-49" fmla="*/ 416172 w 416172"/>
              <a:gd name="csY4-50" fmla="*/ 485573 h 485573"/>
              <a:gd name="csX5-51" fmla="*/ 0 w 416172"/>
              <a:gd name="csY5-52" fmla="*/ 485573 h 485573"/>
              <a:gd name="csX6-53" fmla="*/ 112166 w 416172"/>
              <a:gd name="csY6-54" fmla="*/ 219516 h 485573"/>
              <a:gd name="csX7-55" fmla="*/ 122329 w 416172"/>
              <a:gd name="csY7-56" fmla="*/ 157197 h 485573"/>
              <a:gd name="csX8-57" fmla="*/ 71717 w 416172"/>
              <a:gd name="csY8-58" fmla="*/ 158911 h 485573"/>
              <a:gd name="csX9-59" fmla="*/ 205405 w 416172"/>
              <a:gd name="csY9-60" fmla="*/ 0 h 485573"/>
              <a:gd name="csX0-61" fmla="*/ 214727 w 425494"/>
              <a:gd name="csY0-62" fmla="*/ 0 h 485573"/>
              <a:gd name="csX1-63" fmla="*/ 358180 w 425494"/>
              <a:gd name="csY1-64" fmla="*/ 157197 h 485573"/>
              <a:gd name="csX2-65" fmla="*/ 303597 w 425494"/>
              <a:gd name="csY2-66" fmla="*/ 157197 h 485573"/>
              <a:gd name="csX3-67" fmla="*/ 315337 w 425494"/>
              <a:gd name="csY3-68" fmla="*/ 222195 h 485573"/>
              <a:gd name="csX4-69" fmla="*/ 425494 w 425494"/>
              <a:gd name="csY4-70" fmla="*/ 485573 h 485573"/>
              <a:gd name="csX5-71" fmla="*/ 9322 w 425494"/>
              <a:gd name="csY5-72" fmla="*/ 485573 h 485573"/>
              <a:gd name="csX6-73" fmla="*/ 131651 w 425494"/>
              <a:gd name="csY6-74" fmla="*/ 157197 h 485573"/>
              <a:gd name="csX7-75" fmla="*/ 81039 w 425494"/>
              <a:gd name="csY7-76" fmla="*/ 158911 h 485573"/>
              <a:gd name="csX8-77" fmla="*/ 214727 w 425494"/>
              <a:gd name="csY8-78" fmla="*/ 0 h 485573"/>
              <a:gd name="csX0-79" fmla="*/ 205405 w 416172"/>
              <a:gd name="csY0-80" fmla="*/ 0 h 485573"/>
              <a:gd name="csX1-81" fmla="*/ 348858 w 416172"/>
              <a:gd name="csY1-82" fmla="*/ 157197 h 485573"/>
              <a:gd name="csX2-83" fmla="*/ 294275 w 416172"/>
              <a:gd name="csY2-84" fmla="*/ 157197 h 485573"/>
              <a:gd name="csX3-85" fmla="*/ 306015 w 416172"/>
              <a:gd name="csY3-86" fmla="*/ 222195 h 485573"/>
              <a:gd name="csX4-87" fmla="*/ 416172 w 416172"/>
              <a:gd name="csY4-88" fmla="*/ 485573 h 485573"/>
              <a:gd name="csX5-89" fmla="*/ 0 w 416172"/>
              <a:gd name="csY5-90" fmla="*/ 485573 h 485573"/>
              <a:gd name="csX6-91" fmla="*/ 122329 w 416172"/>
              <a:gd name="csY6-92" fmla="*/ 157197 h 485573"/>
              <a:gd name="csX7-93" fmla="*/ 71717 w 416172"/>
              <a:gd name="csY7-94" fmla="*/ 158911 h 485573"/>
              <a:gd name="csX8-95" fmla="*/ 205405 w 416172"/>
              <a:gd name="csY8-96" fmla="*/ 0 h 485573"/>
              <a:gd name="csX0-97" fmla="*/ 205405 w 416172"/>
              <a:gd name="csY0-98" fmla="*/ 0 h 485573"/>
              <a:gd name="csX1-99" fmla="*/ 348858 w 416172"/>
              <a:gd name="csY1-100" fmla="*/ 157197 h 485573"/>
              <a:gd name="csX2-101" fmla="*/ 294275 w 416172"/>
              <a:gd name="csY2-102" fmla="*/ 157197 h 485573"/>
              <a:gd name="csX3-103" fmla="*/ 416172 w 416172"/>
              <a:gd name="csY3-104" fmla="*/ 485573 h 485573"/>
              <a:gd name="csX4-105" fmla="*/ 0 w 416172"/>
              <a:gd name="csY4-106" fmla="*/ 485573 h 485573"/>
              <a:gd name="csX5-107" fmla="*/ 122329 w 416172"/>
              <a:gd name="csY5-108" fmla="*/ 157197 h 485573"/>
              <a:gd name="csX6-109" fmla="*/ 71717 w 416172"/>
              <a:gd name="csY6-110" fmla="*/ 158911 h 485573"/>
              <a:gd name="csX7-111" fmla="*/ 205405 w 416172"/>
              <a:gd name="csY7-112" fmla="*/ 0 h 485573"/>
              <a:gd name="csX0-113" fmla="*/ 205405 w 416172"/>
              <a:gd name="csY0-114" fmla="*/ 0 h 485573"/>
              <a:gd name="csX1-115" fmla="*/ 348858 w 416172"/>
              <a:gd name="csY1-116" fmla="*/ 157197 h 485573"/>
              <a:gd name="csX2-117" fmla="*/ 294275 w 416172"/>
              <a:gd name="csY2-118" fmla="*/ 157197 h 485573"/>
              <a:gd name="csX3-119" fmla="*/ 416172 w 416172"/>
              <a:gd name="csY3-120" fmla="*/ 485573 h 485573"/>
              <a:gd name="csX4-121" fmla="*/ 0 w 416172"/>
              <a:gd name="csY4-122" fmla="*/ 485573 h 485573"/>
              <a:gd name="csX5-123" fmla="*/ 122329 w 416172"/>
              <a:gd name="csY5-124" fmla="*/ 157197 h 485573"/>
              <a:gd name="csX6-125" fmla="*/ 71717 w 416172"/>
              <a:gd name="csY6-126" fmla="*/ 158911 h 485573"/>
              <a:gd name="csX7-127" fmla="*/ 205405 w 416172"/>
              <a:gd name="csY7-128" fmla="*/ 0 h 485573"/>
              <a:gd name="csX0-129" fmla="*/ 205405 w 416172"/>
              <a:gd name="csY0-130" fmla="*/ 0 h 485573"/>
              <a:gd name="csX1-131" fmla="*/ 348858 w 416172"/>
              <a:gd name="csY1-132" fmla="*/ 157197 h 485573"/>
              <a:gd name="csX2-133" fmla="*/ 294275 w 416172"/>
              <a:gd name="csY2-134" fmla="*/ 157197 h 485573"/>
              <a:gd name="csX3-135" fmla="*/ 416172 w 416172"/>
              <a:gd name="csY3-136" fmla="*/ 485573 h 485573"/>
              <a:gd name="csX4-137" fmla="*/ 0 w 416172"/>
              <a:gd name="csY4-138" fmla="*/ 485573 h 485573"/>
              <a:gd name="csX5-139" fmla="*/ 122329 w 416172"/>
              <a:gd name="csY5-140" fmla="*/ 157197 h 485573"/>
              <a:gd name="csX6-141" fmla="*/ 71717 w 416172"/>
              <a:gd name="csY6-142" fmla="*/ 158911 h 485573"/>
              <a:gd name="csX7-143" fmla="*/ 205405 w 416172"/>
              <a:gd name="csY7-144" fmla="*/ 0 h 485573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</a:cxnLst>
            <a:rect l="l" t="t" r="r" b="b"/>
            <a:pathLst>
              <a:path w="416172" h="485573">
                <a:moveTo>
                  <a:pt x="205405" y="0"/>
                </a:moveTo>
                <a:cubicBezTo>
                  <a:pt x="244007" y="53881"/>
                  <a:pt x="293715" y="111596"/>
                  <a:pt x="348858" y="157197"/>
                </a:cubicBezTo>
                <a:lnTo>
                  <a:pt x="294275" y="157197"/>
                </a:lnTo>
                <a:cubicBezTo>
                  <a:pt x="319788" y="271753"/>
                  <a:pt x="361026" y="410941"/>
                  <a:pt x="416172" y="485573"/>
                </a:cubicBezTo>
                <a:lnTo>
                  <a:pt x="0" y="485573"/>
                </a:lnTo>
                <a:cubicBezTo>
                  <a:pt x="38110" y="434242"/>
                  <a:pt x="110376" y="211641"/>
                  <a:pt x="122329" y="157197"/>
                </a:cubicBezTo>
                <a:cubicBezTo>
                  <a:pt x="91947" y="157197"/>
                  <a:pt x="102099" y="158911"/>
                  <a:pt x="71717" y="158911"/>
                </a:cubicBezTo>
                <a:cubicBezTo>
                  <a:pt x="116033" y="120609"/>
                  <a:pt x="176767" y="43061"/>
                  <a:pt x="205405" y="0"/>
                </a:cubicBezTo>
                <a:close/>
              </a:path>
            </a:pathLst>
          </a:custGeom>
          <a:gradFill>
            <a:gsLst>
              <a:gs pos="5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  <a:gs pos="2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400">
              <a:latin typeface="+mj-ea"/>
              <a:ea typeface="+mj-ea"/>
              <a:cs typeface="思源宋体 CN Medium" panose="02020500000000000000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089140" y="2638425"/>
          <a:ext cx="4758690" cy="370332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089660"/>
                <a:gridCol w="1338580"/>
                <a:gridCol w="2330450"/>
              </a:tblGrid>
              <a:tr h="569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数据集名称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核心内容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目标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11017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用户</a:t>
                      </a:r>
                      <a:r>
                        <a:rPr lang="zh-CN" altLang="en-US" sz="1200" b="1"/>
                        <a:t>“画像-需求-评价”标签高质量数据集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用户分群、需求标签、满意度指数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融合静态画像、动态需求与主观评价，通过语义对齐，形成立体的用户全息档案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929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BOM级成本工程高质量数据集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核心部件、供应商、用量、制造成本、材料成本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实现产品配置</a:t>
                      </a:r>
                      <a:r>
                        <a:rPr lang="en-US" altLang="zh-CN" sz="1200"/>
                        <a:t>-</a:t>
                      </a:r>
                      <a:r>
                        <a:rPr lang="zh-CN" altLang="en-US" sz="1200"/>
                        <a:t>材料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零部件用量</a:t>
                      </a:r>
                      <a:r>
                        <a:rPr lang="en-US" altLang="zh-CN" sz="1200"/>
                        <a:t>-</a:t>
                      </a:r>
                      <a:r>
                        <a:rPr lang="zh-CN" altLang="en-US" sz="1200"/>
                        <a:t>制造工艺等成本影响因素的映射闭环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1102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汽车</a:t>
                      </a:r>
                      <a:r>
                        <a:rPr lang="en-US" altLang="zh-CN" sz="1200" b="1"/>
                        <a:t>-</a:t>
                      </a:r>
                      <a:r>
                        <a:rPr lang="zh-CN" altLang="en-US" sz="1200" b="1"/>
                        <a:t>通信</a:t>
                      </a:r>
                      <a:endParaRPr lang="zh-CN" altLang="en-US" sz="1200" b="1"/>
                    </a:p>
                    <a:p>
                      <a:pPr algn="ctr">
                        <a:buNone/>
                      </a:pPr>
                      <a:r>
                        <a:rPr lang="zh-CN" altLang="en-US" sz="1200" b="1"/>
                        <a:t>融合高质量数据集</a:t>
                      </a:r>
                      <a:endParaRPr lang="zh-CN" altLang="en-US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基本信息、家庭标签、消费特征、出行特征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实现汽车购买决策与用户多维标签的融合打通。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平行四边形 5"/>
          <p:cNvSpPr/>
          <p:nvPr/>
        </p:nvSpPr>
        <p:spPr>
          <a:xfrm>
            <a:off x="504190" y="2190115"/>
            <a:ext cx="6210300" cy="402590"/>
          </a:xfrm>
          <a:prstGeom prst="parallelogram">
            <a:avLst>
              <a:gd name="adj" fmla="val 7428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多源异构数据语义对齐技术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424815" y="2638425"/>
          <a:ext cx="6210300" cy="37642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552575"/>
                <a:gridCol w="1552575"/>
                <a:gridCol w="1552575"/>
                <a:gridCol w="1552575"/>
              </a:tblGrid>
              <a:tr h="560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数据资源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类型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对齐目标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关键技术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市场流通数据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结构化数据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市场态势标签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时序特征抽取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产品配置数据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结构化数据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配置特征向量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知识图谱实体对齐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7848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BOM</a:t>
                      </a:r>
                      <a:r>
                        <a:rPr lang="zh-CN" altLang="en-US" sz="1200"/>
                        <a:t>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结构化数据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成本要素标签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树结构向量化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598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用户数据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非结构化文本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标准化画像</a:t>
                      </a:r>
                      <a:r>
                        <a:rPr lang="en-US" altLang="zh-CN" sz="1200"/>
                        <a:t>-</a:t>
                      </a:r>
                      <a:r>
                        <a:rPr lang="zh-CN" altLang="en-US" sz="1200"/>
                        <a:t>需求</a:t>
                      </a:r>
                      <a:r>
                        <a:rPr lang="en-US" altLang="zh-CN" sz="1200"/>
                        <a:t>-</a:t>
                      </a:r>
                      <a:r>
                        <a:rPr lang="zh-CN" altLang="en-US" sz="1200"/>
                        <a:t>评价标签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BERT+UIE语义解析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598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汽车</a:t>
                      </a:r>
                      <a:r>
                        <a:rPr lang="en-US" altLang="zh-CN" sz="1200"/>
                        <a:t>-</a:t>
                      </a:r>
                      <a:r>
                        <a:rPr lang="zh-CN" altLang="en-US" sz="1200"/>
                        <a:t>通信数据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跨域结构化数据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数据融通及标签化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隐私计算</a:t>
                      </a:r>
                      <a:r>
                        <a:rPr lang="en-US" altLang="zh-CN" sz="1200"/>
                        <a:t>+</a:t>
                      </a:r>
                      <a:r>
                        <a:rPr lang="zh-CN" altLang="en-US" sz="1200"/>
                        <a:t>UIE语义解析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056755" y="6402705"/>
            <a:ext cx="4672330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</a:rPr>
              <a:t>独家数据资源内化</a:t>
            </a:r>
            <a:r>
              <a:rPr lang="zh-CN" altLang="en-US" sz="2000" b="1"/>
              <a:t>为AI时代核心竞争力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think-cell data - do not delete" hidden="1"/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5080" imgH="5080" progId="TCLayout.ActiveDocument.1">
                  <p:embed/>
                </p:oleObj>
              </mc:Choice>
              <mc:Fallback>
                <p:oleObj name="think-cell 幻灯片" r:id="rId2" imgW="5080" imgH="508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t>研究内容二</a:t>
            </a:r>
            <a:r>
              <a:rPr lang="zh-CN" altLang="en-US"/>
              <a:t>：</a:t>
            </a:r>
            <a:r>
              <a:rPr>
                <a:sym typeface="+mn-ea"/>
              </a:rPr>
              <a:t>研发</a:t>
            </a:r>
            <a:r>
              <a:rPr lang="zh-CN" altLang="en-US"/>
              <a:t>数据驱动的汽车产业垂直领域专用模型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522074" cy="645160"/>
          </a:xfrm>
        </p:spPr>
        <p:txBody>
          <a:bodyPr/>
          <a:lstStyle/>
          <a:p>
            <a:r>
              <a:t>应用因果推理框架+专家知识图谱技术，研发五大场景汽车产业垂直领域专用模型，实现汽车领域知识嵌入与可解释推理。</a:t>
            </a:r>
          </a:p>
        </p:txBody>
      </p:sp>
      <p:sp>
        <p:nvSpPr>
          <p:cNvPr id="5" name="旁门左道出品"/>
          <p:cNvSpPr/>
          <p:nvPr/>
        </p:nvSpPr>
        <p:spPr>
          <a:xfrm>
            <a:off x="335280" y="5650865"/>
            <a:ext cx="11522075" cy="605790"/>
          </a:xfrm>
          <a:prstGeom prst="ellipse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4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 w="12700">
            <a:gradFill>
              <a:gsLst>
                <a:gs pos="42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6" name="旁门左道出品"/>
          <p:cNvSpPr/>
          <p:nvPr/>
        </p:nvSpPr>
        <p:spPr>
          <a:xfrm>
            <a:off x="747709" y="1824808"/>
            <a:ext cx="10696584" cy="1077085"/>
          </a:xfrm>
          <a:prstGeom prst="ellipse">
            <a:avLst/>
          </a:prstGeom>
          <a:gradFill>
            <a:gsLst>
              <a:gs pos="66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2466" y="1928454"/>
            <a:ext cx="1898372" cy="628772"/>
            <a:chOff x="762562" y="7774085"/>
            <a:chExt cx="2085942" cy="628772"/>
          </a:xfrm>
        </p:grpSpPr>
        <p:grpSp>
          <p:nvGrpSpPr>
            <p:cNvPr id="8" name="组合 7"/>
            <p:cNvGrpSpPr/>
            <p:nvPr/>
          </p:nvGrpSpPr>
          <p:grpSpPr>
            <a:xfrm>
              <a:off x="762562" y="8111292"/>
              <a:ext cx="2085942" cy="291565"/>
              <a:chOff x="1036158" y="1570894"/>
              <a:chExt cx="1723872" cy="195788"/>
            </a:xfrm>
          </p:grpSpPr>
          <p:sp>
            <p:nvSpPr>
              <p:cNvPr id="10" name="旁门左道出品"/>
              <p:cNvSpPr/>
              <p:nvPr/>
            </p:nvSpPr>
            <p:spPr>
              <a:xfrm>
                <a:off x="1036158" y="1570894"/>
                <a:ext cx="1723872" cy="130525"/>
              </a:xfrm>
              <a:prstGeom prst="ellipse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34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243395" y="1683491"/>
                <a:ext cx="1309397" cy="83191"/>
              </a:xfrm>
              <a:prstGeom prst="ellipse">
                <a:avLst/>
              </a:prstGeom>
              <a:noFill/>
              <a:ln w="6350">
                <a:gradFill>
                  <a:gsLst>
                    <a:gs pos="23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21747" y="7774085"/>
              <a:ext cx="1367574" cy="4305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周度智能分析与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问答模型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11587" y="2069130"/>
            <a:ext cx="1898372" cy="628772"/>
            <a:chOff x="3061313" y="7774085"/>
            <a:chExt cx="2085942" cy="628772"/>
          </a:xfrm>
        </p:grpSpPr>
        <p:grpSp>
          <p:nvGrpSpPr>
            <p:cNvPr id="13" name="组合 12"/>
            <p:cNvGrpSpPr/>
            <p:nvPr/>
          </p:nvGrpSpPr>
          <p:grpSpPr>
            <a:xfrm>
              <a:off x="3061313" y="8111292"/>
              <a:ext cx="2085942" cy="291565"/>
              <a:chOff x="1036158" y="1570894"/>
              <a:chExt cx="1723872" cy="195788"/>
            </a:xfrm>
          </p:grpSpPr>
          <p:sp>
            <p:nvSpPr>
              <p:cNvPr id="15" name="旁门左道出品"/>
              <p:cNvSpPr/>
              <p:nvPr/>
            </p:nvSpPr>
            <p:spPr>
              <a:xfrm>
                <a:off x="1036158" y="1570894"/>
                <a:ext cx="1723872" cy="130525"/>
              </a:xfrm>
              <a:prstGeom prst="ellipse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34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243395" y="1683491"/>
                <a:ext cx="1309397" cy="83191"/>
              </a:xfrm>
              <a:prstGeom prst="ellipse">
                <a:avLst/>
              </a:prstGeom>
              <a:noFill/>
              <a:ln w="6350">
                <a:gradFill>
                  <a:gsLst>
                    <a:gs pos="23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3420496" y="7774085"/>
              <a:ext cx="1367574" cy="4305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accent1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市场</a:t>
              </a:r>
              <a:r>
                <a:rPr kumimoji="0" 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战略性机会</a:t>
              </a:r>
              <a:endParaRPr kumimoji="0" lang="zh-CN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决策模型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146814" y="2209807"/>
            <a:ext cx="1898372" cy="628772"/>
            <a:chOff x="5360064" y="7774085"/>
            <a:chExt cx="2085942" cy="628772"/>
          </a:xfrm>
        </p:grpSpPr>
        <p:grpSp>
          <p:nvGrpSpPr>
            <p:cNvPr id="18" name="组合 17"/>
            <p:cNvGrpSpPr/>
            <p:nvPr/>
          </p:nvGrpSpPr>
          <p:grpSpPr>
            <a:xfrm>
              <a:off x="5360064" y="8111292"/>
              <a:ext cx="2085942" cy="291565"/>
              <a:chOff x="1036158" y="1570894"/>
              <a:chExt cx="1723872" cy="195788"/>
            </a:xfrm>
          </p:grpSpPr>
          <p:sp>
            <p:nvSpPr>
              <p:cNvPr id="21" name="旁门左道出品"/>
              <p:cNvSpPr/>
              <p:nvPr/>
            </p:nvSpPr>
            <p:spPr>
              <a:xfrm>
                <a:off x="1036158" y="1570894"/>
                <a:ext cx="1723872" cy="130525"/>
              </a:xfrm>
              <a:prstGeom prst="ellipse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34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1243395" y="1683491"/>
                <a:ext cx="1309397" cy="83191"/>
              </a:xfrm>
              <a:prstGeom prst="ellipse">
                <a:avLst/>
              </a:prstGeom>
              <a:noFill/>
              <a:ln w="6350">
                <a:gradFill>
                  <a:gsLst>
                    <a:gs pos="23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5719248" y="7774085"/>
              <a:ext cx="1367574" cy="4305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accent1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用户洞察与配置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选择决策模型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333740" y="2069130"/>
            <a:ext cx="1898372" cy="628772"/>
            <a:chOff x="7658815" y="7774085"/>
            <a:chExt cx="2085942" cy="628772"/>
          </a:xfrm>
        </p:grpSpPr>
        <p:grpSp>
          <p:nvGrpSpPr>
            <p:cNvPr id="26" name="组合 25"/>
            <p:cNvGrpSpPr/>
            <p:nvPr/>
          </p:nvGrpSpPr>
          <p:grpSpPr>
            <a:xfrm>
              <a:off x="7658815" y="8111292"/>
              <a:ext cx="2085942" cy="291565"/>
              <a:chOff x="1036158" y="1570894"/>
              <a:chExt cx="1723872" cy="195788"/>
            </a:xfrm>
          </p:grpSpPr>
          <p:sp>
            <p:nvSpPr>
              <p:cNvPr id="28" name="旁门左道出品"/>
              <p:cNvSpPr/>
              <p:nvPr/>
            </p:nvSpPr>
            <p:spPr>
              <a:xfrm>
                <a:off x="1036158" y="1570894"/>
                <a:ext cx="1723872" cy="130525"/>
              </a:xfrm>
              <a:prstGeom prst="ellipse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34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1243395" y="1683491"/>
                <a:ext cx="1309397" cy="83191"/>
              </a:xfrm>
              <a:prstGeom prst="ellipse">
                <a:avLst/>
              </a:prstGeom>
              <a:noFill/>
              <a:ln w="6350">
                <a:gradFill>
                  <a:gsLst>
                    <a:gs pos="23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8017995" y="7774085"/>
              <a:ext cx="1367574" cy="4305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accent1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产品成本竞争力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评价模型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512839" y="1928454"/>
            <a:ext cx="1898372" cy="628772"/>
            <a:chOff x="9957566" y="7774085"/>
            <a:chExt cx="2085942" cy="628772"/>
          </a:xfrm>
        </p:grpSpPr>
        <p:grpSp>
          <p:nvGrpSpPr>
            <p:cNvPr id="31" name="组合 30"/>
            <p:cNvGrpSpPr/>
            <p:nvPr/>
          </p:nvGrpSpPr>
          <p:grpSpPr>
            <a:xfrm>
              <a:off x="9957566" y="8111292"/>
              <a:ext cx="2085942" cy="291565"/>
              <a:chOff x="1036158" y="1570894"/>
              <a:chExt cx="1723872" cy="195788"/>
            </a:xfrm>
          </p:grpSpPr>
          <p:sp>
            <p:nvSpPr>
              <p:cNvPr id="33" name="旁门左道出品"/>
              <p:cNvSpPr/>
              <p:nvPr/>
            </p:nvSpPr>
            <p:spPr>
              <a:xfrm>
                <a:off x="1036158" y="1570894"/>
                <a:ext cx="1723872" cy="130525"/>
              </a:xfrm>
              <a:prstGeom prst="ellipse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34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12700">
                <a:gradFill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289893" y="1683491"/>
                <a:ext cx="1309397" cy="83191"/>
              </a:xfrm>
              <a:prstGeom prst="ellipse">
                <a:avLst/>
              </a:prstGeom>
              <a:noFill/>
              <a:ln w="6350">
                <a:gradFill>
                  <a:gsLst>
                    <a:gs pos="23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/>
                  <a:ea typeface="思源黑体 CN Normal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0371876" y="7774085"/>
              <a:ext cx="1257330" cy="4305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accent1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汽车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-</a:t>
              </a: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通信保客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运营决策模型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5" name="任意多边形: 形状 34"/>
          <p:cNvSpPr/>
          <p:nvPr/>
        </p:nvSpPr>
        <p:spPr>
          <a:xfrm>
            <a:off x="1712752" y="2429796"/>
            <a:ext cx="79276" cy="79276"/>
          </a:xfrm>
          <a:custGeom>
            <a:avLst/>
            <a:gdLst>
              <a:gd name="connsiteX0" fmla="*/ 0 w 1262062"/>
              <a:gd name="connsiteY0" fmla="*/ 631031 h 1262062"/>
              <a:gd name="connsiteX1" fmla="*/ 631031 w 1262062"/>
              <a:gd name="connsiteY1" fmla="*/ 0 h 1262062"/>
              <a:gd name="connsiteX2" fmla="*/ 1262062 w 1262062"/>
              <a:gd name="connsiteY2" fmla="*/ 631031 h 1262062"/>
              <a:gd name="connsiteX3" fmla="*/ 631031 w 1262062"/>
              <a:gd name="connsiteY3" fmla="*/ 1262062 h 1262062"/>
              <a:gd name="connsiteX4" fmla="*/ 0 w 1262062"/>
              <a:gd name="connsiteY4" fmla="*/ 631031 h 126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062" h="1262062">
                <a:moveTo>
                  <a:pt x="0" y="631031"/>
                </a:moveTo>
                <a:cubicBezTo>
                  <a:pt x="0" y="282522"/>
                  <a:pt x="282522" y="0"/>
                  <a:pt x="631031" y="0"/>
                </a:cubicBezTo>
                <a:cubicBezTo>
                  <a:pt x="979540" y="0"/>
                  <a:pt x="1262062" y="282522"/>
                  <a:pt x="1262062" y="631031"/>
                </a:cubicBezTo>
                <a:cubicBezTo>
                  <a:pt x="1262062" y="979540"/>
                  <a:pt x="979540" y="1262062"/>
                  <a:pt x="631031" y="1262062"/>
                </a:cubicBezTo>
                <a:cubicBezTo>
                  <a:pt x="282522" y="1262062"/>
                  <a:pt x="0" y="979540"/>
                  <a:pt x="0" y="631031"/>
                </a:cubicBezTo>
                <a:close/>
              </a:path>
            </a:pathLst>
          </a:custGeom>
          <a:gradFill flip="none" rotWithShape="1">
            <a:gsLst>
              <a:gs pos="86000">
                <a:schemeClr val="accent1"/>
              </a:gs>
              <a:gs pos="49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23114">
            <a:gradFill flip="none" rotWithShape="1">
              <a:gsLst>
                <a:gs pos="18000">
                  <a:schemeClr val="bg1">
                    <a:alpha val="27000"/>
                  </a:schemeClr>
                </a:gs>
                <a:gs pos="88000">
                  <a:schemeClr val="bg1"/>
                </a:gs>
              </a:gsLst>
              <a:lin ang="2700000" scaled="1"/>
              <a:tileRect/>
            </a:gradFill>
          </a:ln>
          <a:effectLst>
            <a:outerShdw blurRad="80899" dist="80899" dir="5400000" sx="92000" sy="92000" algn="t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/>
              <a:ea typeface="思源黑体 CN Bold"/>
              <a:cs typeface="思源黑体 CN Normal" panose="020B0400000000000000" charset="-122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3906622" y="2517979"/>
            <a:ext cx="79276" cy="79276"/>
          </a:xfrm>
          <a:custGeom>
            <a:avLst/>
            <a:gdLst>
              <a:gd name="connsiteX0" fmla="*/ 0 w 1262062"/>
              <a:gd name="connsiteY0" fmla="*/ 631031 h 1262062"/>
              <a:gd name="connsiteX1" fmla="*/ 631031 w 1262062"/>
              <a:gd name="connsiteY1" fmla="*/ 0 h 1262062"/>
              <a:gd name="connsiteX2" fmla="*/ 1262062 w 1262062"/>
              <a:gd name="connsiteY2" fmla="*/ 631031 h 1262062"/>
              <a:gd name="connsiteX3" fmla="*/ 631031 w 1262062"/>
              <a:gd name="connsiteY3" fmla="*/ 1262062 h 1262062"/>
              <a:gd name="connsiteX4" fmla="*/ 0 w 1262062"/>
              <a:gd name="connsiteY4" fmla="*/ 631031 h 126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062" h="1262062">
                <a:moveTo>
                  <a:pt x="0" y="631031"/>
                </a:moveTo>
                <a:cubicBezTo>
                  <a:pt x="0" y="282522"/>
                  <a:pt x="282522" y="0"/>
                  <a:pt x="631031" y="0"/>
                </a:cubicBezTo>
                <a:cubicBezTo>
                  <a:pt x="979540" y="0"/>
                  <a:pt x="1262062" y="282522"/>
                  <a:pt x="1262062" y="631031"/>
                </a:cubicBezTo>
                <a:cubicBezTo>
                  <a:pt x="1262062" y="979540"/>
                  <a:pt x="979540" y="1262062"/>
                  <a:pt x="631031" y="1262062"/>
                </a:cubicBezTo>
                <a:cubicBezTo>
                  <a:pt x="282522" y="1262062"/>
                  <a:pt x="0" y="979540"/>
                  <a:pt x="0" y="631031"/>
                </a:cubicBezTo>
                <a:close/>
              </a:path>
            </a:pathLst>
          </a:custGeom>
          <a:gradFill flip="none" rotWithShape="1">
            <a:gsLst>
              <a:gs pos="86000">
                <a:schemeClr val="accent1"/>
              </a:gs>
              <a:gs pos="49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23114">
            <a:gradFill flip="none" rotWithShape="1">
              <a:gsLst>
                <a:gs pos="18000">
                  <a:schemeClr val="bg1">
                    <a:alpha val="27000"/>
                  </a:schemeClr>
                </a:gs>
                <a:gs pos="88000">
                  <a:schemeClr val="bg1"/>
                </a:gs>
              </a:gsLst>
              <a:lin ang="2700000" scaled="1"/>
              <a:tileRect/>
            </a:gradFill>
          </a:ln>
          <a:effectLst>
            <a:outerShdw blurRad="80899" dist="80899" dir="5400000" sx="92000" sy="92000" algn="t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/>
              <a:ea typeface="思源黑体 CN Bold"/>
              <a:cs typeface="思源黑体 CN Normal" panose="020B0400000000000000" charset="-122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6027337" y="2635520"/>
            <a:ext cx="79276" cy="79276"/>
          </a:xfrm>
          <a:custGeom>
            <a:avLst/>
            <a:gdLst>
              <a:gd name="connsiteX0" fmla="*/ 0 w 1262062"/>
              <a:gd name="connsiteY0" fmla="*/ 631031 h 1262062"/>
              <a:gd name="connsiteX1" fmla="*/ 631031 w 1262062"/>
              <a:gd name="connsiteY1" fmla="*/ 0 h 1262062"/>
              <a:gd name="connsiteX2" fmla="*/ 1262062 w 1262062"/>
              <a:gd name="connsiteY2" fmla="*/ 631031 h 1262062"/>
              <a:gd name="connsiteX3" fmla="*/ 631031 w 1262062"/>
              <a:gd name="connsiteY3" fmla="*/ 1262062 h 1262062"/>
              <a:gd name="connsiteX4" fmla="*/ 0 w 1262062"/>
              <a:gd name="connsiteY4" fmla="*/ 631031 h 126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062" h="1262062">
                <a:moveTo>
                  <a:pt x="0" y="631031"/>
                </a:moveTo>
                <a:cubicBezTo>
                  <a:pt x="0" y="282522"/>
                  <a:pt x="282522" y="0"/>
                  <a:pt x="631031" y="0"/>
                </a:cubicBezTo>
                <a:cubicBezTo>
                  <a:pt x="979540" y="0"/>
                  <a:pt x="1262062" y="282522"/>
                  <a:pt x="1262062" y="631031"/>
                </a:cubicBezTo>
                <a:cubicBezTo>
                  <a:pt x="1262062" y="979540"/>
                  <a:pt x="979540" y="1262062"/>
                  <a:pt x="631031" y="1262062"/>
                </a:cubicBezTo>
                <a:cubicBezTo>
                  <a:pt x="282522" y="1262062"/>
                  <a:pt x="0" y="979540"/>
                  <a:pt x="0" y="631031"/>
                </a:cubicBezTo>
                <a:close/>
              </a:path>
            </a:pathLst>
          </a:custGeom>
          <a:gradFill flip="none" rotWithShape="1">
            <a:gsLst>
              <a:gs pos="86000">
                <a:schemeClr val="accent1"/>
              </a:gs>
              <a:gs pos="49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23114">
            <a:gradFill flip="none" rotWithShape="1">
              <a:gsLst>
                <a:gs pos="18000">
                  <a:schemeClr val="bg1">
                    <a:alpha val="27000"/>
                  </a:schemeClr>
                </a:gs>
                <a:gs pos="88000">
                  <a:schemeClr val="bg1"/>
                </a:gs>
              </a:gsLst>
              <a:lin ang="2700000" scaled="1"/>
              <a:tileRect/>
            </a:gradFill>
          </a:ln>
          <a:effectLst>
            <a:outerShdw blurRad="80899" dist="80899" dir="5400000" sx="92000" sy="92000" algn="t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/>
              <a:ea typeface="思源黑体 CN Bold"/>
              <a:cs typeface="思源黑体 CN Normal" panose="020B0400000000000000" charset="-122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8155366" y="2517979"/>
            <a:ext cx="79276" cy="79276"/>
          </a:xfrm>
          <a:custGeom>
            <a:avLst/>
            <a:gdLst>
              <a:gd name="connsiteX0" fmla="*/ 0 w 1262062"/>
              <a:gd name="connsiteY0" fmla="*/ 631031 h 1262062"/>
              <a:gd name="connsiteX1" fmla="*/ 631031 w 1262062"/>
              <a:gd name="connsiteY1" fmla="*/ 0 h 1262062"/>
              <a:gd name="connsiteX2" fmla="*/ 1262062 w 1262062"/>
              <a:gd name="connsiteY2" fmla="*/ 631031 h 1262062"/>
              <a:gd name="connsiteX3" fmla="*/ 631031 w 1262062"/>
              <a:gd name="connsiteY3" fmla="*/ 1262062 h 1262062"/>
              <a:gd name="connsiteX4" fmla="*/ 0 w 1262062"/>
              <a:gd name="connsiteY4" fmla="*/ 631031 h 126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062" h="1262062">
                <a:moveTo>
                  <a:pt x="0" y="631031"/>
                </a:moveTo>
                <a:cubicBezTo>
                  <a:pt x="0" y="282522"/>
                  <a:pt x="282522" y="0"/>
                  <a:pt x="631031" y="0"/>
                </a:cubicBezTo>
                <a:cubicBezTo>
                  <a:pt x="979540" y="0"/>
                  <a:pt x="1262062" y="282522"/>
                  <a:pt x="1262062" y="631031"/>
                </a:cubicBezTo>
                <a:cubicBezTo>
                  <a:pt x="1262062" y="979540"/>
                  <a:pt x="979540" y="1262062"/>
                  <a:pt x="631031" y="1262062"/>
                </a:cubicBezTo>
                <a:cubicBezTo>
                  <a:pt x="282522" y="1262062"/>
                  <a:pt x="0" y="979540"/>
                  <a:pt x="0" y="631031"/>
                </a:cubicBezTo>
                <a:close/>
              </a:path>
            </a:pathLst>
          </a:custGeom>
          <a:gradFill flip="none" rotWithShape="1">
            <a:gsLst>
              <a:gs pos="86000">
                <a:schemeClr val="accent1"/>
              </a:gs>
              <a:gs pos="49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23114">
            <a:gradFill flip="none" rotWithShape="1">
              <a:gsLst>
                <a:gs pos="18000">
                  <a:schemeClr val="bg1">
                    <a:alpha val="27000"/>
                  </a:schemeClr>
                </a:gs>
                <a:gs pos="88000">
                  <a:schemeClr val="bg1"/>
                </a:gs>
              </a:gsLst>
              <a:lin ang="2700000" scaled="1"/>
              <a:tileRect/>
            </a:gradFill>
          </a:ln>
          <a:effectLst>
            <a:outerShdw blurRad="80899" dist="80899" dir="5400000" sx="92000" sy="92000" algn="t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/>
              <a:ea typeface="思源黑体 CN Bold"/>
              <a:cs typeface="思源黑体 CN Normal" panose="020B0400000000000000" charset="-122"/>
            </a:endParaRPr>
          </a:p>
        </p:txBody>
      </p:sp>
      <p:sp>
        <p:nvSpPr>
          <p:cNvPr id="39" name="任意多边形: 形状 38"/>
          <p:cNvSpPr/>
          <p:nvPr/>
        </p:nvSpPr>
        <p:spPr>
          <a:xfrm>
            <a:off x="10495540" y="2429796"/>
            <a:ext cx="79276" cy="79276"/>
          </a:xfrm>
          <a:custGeom>
            <a:avLst/>
            <a:gdLst>
              <a:gd name="connsiteX0" fmla="*/ 0 w 1262062"/>
              <a:gd name="connsiteY0" fmla="*/ 631031 h 1262062"/>
              <a:gd name="connsiteX1" fmla="*/ 631031 w 1262062"/>
              <a:gd name="connsiteY1" fmla="*/ 0 h 1262062"/>
              <a:gd name="connsiteX2" fmla="*/ 1262062 w 1262062"/>
              <a:gd name="connsiteY2" fmla="*/ 631031 h 1262062"/>
              <a:gd name="connsiteX3" fmla="*/ 631031 w 1262062"/>
              <a:gd name="connsiteY3" fmla="*/ 1262062 h 1262062"/>
              <a:gd name="connsiteX4" fmla="*/ 0 w 1262062"/>
              <a:gd name="connsiteY4" fmla="*/ 631031 h 126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062" h="1262062">
                <a:moveTo>
                  <a:pt x="0" y="631031"/>
                </a:moveTo>
                <a:cubicBezTo>
                  <a:pt x="0" y="282522"/>
                  <a:pt x="282522" y="0"/>
                  <a:pt x="631031" y="0"/>
                </a:cubicBezTo>
                <a:cubicBezTo>
                  <a:pt x="979540" y="0"/>
                  <a:pt x="1262062" y="282522"/>
                  <a:pt x="1262062" y="631031"/>
                </a:cubicBezTo>
                <a:cubicBezTo>
                  <a:pt x="1262062" y="979540"/>
                  <a:pt x="979540" y="1262062"/>
                  <a:pt x="631031" y="1262062"/>
                </a:cubicBezTo>
                <a:cubicBezTo>
                  <a:pt x="282522" y="1262062"/>
                  <a:pt x="0" y="979540"/>
                  <a:pt x="0" y="631031"/>
                </a:cubicBezTo>
                <a:close/>
              </a:path>
            </a:pathLst>
          </a:custGeom>
          <a:gradFill flip="none" rotWithShape="1">
            <a:gsLst>
              <a:gs pos="86000">
                <a:schemeClr val="accent1"/>
              </a:gs>
              <a:gs pos="49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23114">
            <a:gradFill flip="none" rotWithShape="1">
              <a:gsLst>
                <a:gs pos="18000">
                  <a:schemeClr val="bg1">
                    <a:alpha val="27000"/>
                  </a:schemeClr>
                </a:gs>
                <a:gs pos="88000">
                  <a:schemeClr val="bg1"/>
                </a:gs>
              </a:gsLst>
              <a:lin ang="2700000" scaled="1"/>
              <a:tileRect/>
            </a:gradFill>
          </a:ln>
          <a:effectLst>
            <a:outerShdw blurRad="80899" dist="80899" dir="5400000" sx="92000" sy="92000" algn="t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9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/>
              <a:ea typeface="思源黑体 CN Bold"/>
              <a:cs typeface="思源黑体 CN Normal" panose="020B0400000000000000" charset="-122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722907" y="1439442"/>
            <a:ext cx="2746188" cy="80683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95604" y="1572343"/>
            <a:ext cx="64008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研发“懂汽车、会推理“</a:t>
            </a:r>
            <a:r>
              <a:rPr kumimoji="0" lang="zh-CN" altLang="en-US" sz="1800" b="1" i="0" u="none" strike="noStrike" kern="1200" cap="none" spc="30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的汽车</a:t>
            </a:r>
            <a:r>
              <a:rPr lang="zh-CN" altLang="en-US" b="1" spc="3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产业垂直领域专用</a:t>
            </a:r>
            <a:r>
              <a:rPr kumimoji="0" lang="zh-CN" altLang="en-US" sz="1800" b="1" i="0" u="none" strike="noStrike" kern="1200" cap="none" spc="30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模型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42" name="旁门左道出品"/>
          <p:cNvSpPr/>
          <p:nvPr/>
        </p:nvSpPr>
        <p:spPr>
          <a:xfrm flipV="1">
            <a:off x="334964" y="2546756"/>
            <a:ext cx="11522074" cy="1373324"/>
          </a:xfrm>
          <a:prstGeom prst="arc">
            <a:avLst>
              <a:gd name="adj1" fmla="val 68019"/>
              <a:gd name="adj2" fmla="val 10710979"/>
            </a:avLst>
          </a:prstGeom>
          <a:noFill/>
          <a:ln w="12700">
            <a:gradFill flip="none" rotWithShape="1">
              <a:gsLst>
                <a:gs pos="30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44" name="矩形 20"/>
          <p:cNvSpPr/>
          <p:nvPr/>
        </p:nvSpPr>
        <p:spPr>
          <a:xfrm>
            <a:off x="832466" y="2727329"/>
            <a:ext cx="1898372" cy="2779405"/>
          </a:xfrm>
          <a:prstGeom prst="roundRect">
            <a:avLst>
              <a:gd name="adj" fmla="val 7442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思源黑体 CN Normal" panose="020B0400000000000000" charset="-122"/>
            </a:endParaRPr>
          </a:p>
        </p:txBody>
      </p:sp>
      <p:sp>
        <p:nvSpPr>
          <p:cNvPr id="54" name="矩形 20"/>
          <p:cNvSpPr/>
          <p:nvPr/>
        </p:nvSpPr>
        <p:spPr>
          <a:xfrm>
            <a:off x="3011587" y="2914927"/>
            <a:ext cx="1898372" cy="2925892"/>
          </a:xfrm>
          <a:prstGeom prst="roundRect">
            <a:avLst>
              <a:gd name="adj" fmla="val 7442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思源黑体 CN Normal" panose="020B0400000000000000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5146814" y="2998909"/>
            <a:ext cx="1898372" cy="3125444"/>
            <a:chOff x="3363191" y="4353955"/>
            <a:chExt cx="1040828" cy="3017975"/>
          </a:xfrm>
        </p:grpSpPr>
        <p:sp>
          <p:nvSpPr>
            <p:cNvPr id="68" name="矩形 20"/>
            <p:cNvSpPr/>
            <p:nvPr/>
          </p:nvSpPr>
          <p:spPr>
            <a:xfrm>
              <a:off x="3363191" y="4353955"/>
              <a:ext cx="1040828" cy="3017975"/>
            </a:xfrm>
            <a:prstGeom prst="roundRect">
              <a:avLst>
                <a:gd name="adj" fmla="val 7442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思源黑体 CN Normal" panose="020B0400000000000000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412455" y="4429935"/>
              <a:ext cx="942301" cy="821275"/>
            </a:xfrm>
            <a:prstGeom prst="roundRect">
              <a:avLst>
                <a:gd name="adj" fmla="val 856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14300" dist="38100" dir="5400000" algn="t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0" rIns="36000" bIns="0" rtlCol="0" anchor="ctr"/>
            <a:lstStyle>
              <a:defPPr>
                <a:defRPr lang="en-US"/>
              </a:defPPr>
              <a:lvl1pPr algn="ctr">
                <a:defRPr sz="1050"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用户需求词云及评价分类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深度聚类算法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333740" y="2914924"/>
            <a:ext cx="1898372" cy="2925892"/>
            <a:chOff x="3363191" y="4468521"/>
            <a:chExt cx="1040828" cy="2694602"/>
          </a:xfrm>
        </p:grpSpPr>
        <p:sp>
          <p:nvSpPr>
            <p:cNvPr id="80" name="矩形 20"/>
            <p:cNvSpPr/>
            <p:nvPr/>
          </p:nvSpPr>
          <p:spPr>
            <a:xfrm>
              <a:off x="3363191" y="4468521"/>
              <a:ext cx="1040828" cy="2694602"/>
            </a:xfrm>
            <a:prstGeom prst="roundRect">
              <a:avLst>
                <a:gd name="adj" fmla="val 7442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3399278" y="4533764"/>
              <a:ext cx="967511" cy="1055152"/>
            </a:xfrm>
            <a:prstGeom prst="roundRect">
              <a:avLst>
                <a:gd name="adj" fmla="val 856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14300" dist="38100" dir="5400000" algn="t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0" rIns="36000" bIns="0" rtlCol="0" anchor="ctr"/>
            <a:lstStyle>
              <a:defPPr>
                <a:defRPr lang="en-US"/>
              </a:defPPr>
              <a:lvl1pPr algn="ctr">
                <a:defRPr sz="1050"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BOM</a:t>
              </a: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成本工程数据库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材料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/</a:t>
              </a: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工艺</a:t>
              </a: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/</a:t>
              </a: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规模因子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成本核算模型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9512839" y="2798451"/>
            <a:ext cx="1898372" cy="2708283"/>
            <a:chOff x="3363191" y="4353955"/>
            <a:chExt cx="1040828" cy="2708283"/>
          </a:xfrm>
        </p:grpSpPr>
        <p:sp>
          <p:nvSpPr>
            <p:cNvPr id="91" name="矩形 20"/>
            <p:cNvSpPr/>
            <p:nvPr/>
          </p:nvSpPr>
          <p:spPr>
            <a:xfrm>
              <a:off x="3363191" y="4353955"/>
              <a:ext cx="1040828" cy="2708283"/>
            </a:xfrm>
            <a:prstGeom prst="roundRect">
              <a:avLst>
                <a:gd name="adj" fmla="val 7442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思源黑体 CN Normal" panose="020B0400000000000000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3412455" y="4459495"/>
              <a:ext cx="942301" cy="1468703"/>
            </a:xfrm>
            <a:prstGeom prst="roundRect">
              <a:avLst>
                <a:gd name="adj" fmla="val 856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14300" dist="38100" dir="5400000" algn="t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0" rIns="36000" bIns="0" rtlCol="0" anchor="ctr"/>
            <a:lstStyle>
              <a:defPPr>
                <a:defRPr lang="en-US"/>
              </a:defPPr>
              <a:lvl1pPr algn="ctr">
                <a:defRPr sz="1050"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车辆动静态数据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用户行为预测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用户流失</a:t>
              </a: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预警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用户价值分层模型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活跃度变化分析模型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922319" y="2867737"/>
            <a:ext cx="1718668" cy="1743384"/>
          </a:xfrm>
          <a:prstGeom prst="roundRect">
            <a:avLst>
              <a:gd name="adj" fmla="val 856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114300" dist="38100" dir="5400000" algn="t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>
            <a:defPPr>
              <a:defRPr lang="en-US"/>
            </a:defPPr>
            <a:lvl1pPr algn="ctr"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周度数据解读维度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(</a:t>
            </a:r>
            <a:r>
              <a:rPr lang="zh-CN" altLang="en-US" sz="11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同比、环比、份额等</a:t>
            </a:r>
            <a:r>
              <a:rPr lang="en-US" altLang="zh-CN" sz="11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)</a:t>
            </a:r>
            <a:endParaRPr lang="en-US" altLang="zh-CN" sz="11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时间序列预测模型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周度销量约束条件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竞品趋势及归因分析</a:t>
            </a:r>
            <a:endParaRPr lang="zh-CN" altLang="en-US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116061" y="2985769"/>
            <a:ext cx="1696722" cy="849675"/>
          </a:xfrm>
          <a:prstGeom prst="roundRect">
            <a:avLst>
              <a:gd name="adj" fmla="val 856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114300" dist="38100" dir="5400000" algn="t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>
            <a:defPPr>
              <a:defRPr lang="en-US"/>
            </a:defPPr>
            <a:lvl1pPr algn="ctr"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ARIMA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时序预测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多元</a:t>
            </a:r>
            <a:r>
              <a:rPr lang="en-US" altLang="zh-CN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Logit</a:t>
            </a: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细分市场预测模型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94" name="箭头: 右 93"/>
          <p:cNvSpPr/>
          <p:nvPr/>
        </p:nvSpPr>
        <p:spPr>
          <a:xfrm rot="5400000">
            <a:off x="1710718" y="4710236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931420" y="5065226"/>
            <a:ext cx="1700463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3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市场变化及归因分析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箭头: 右 100"/>
          <p:cNvSpPr/>
          <p:nvPr/>
        </p:nvSpPr>
        <p:spPr>
          <a:xfrm rot="5400000">
            <a:off x="3895359" y="3856107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3116061" y="4111860"/>
            <a:ext cx="1700463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细分市场容量预判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3112411" y="4549763"/>
            <a:ext cx="1696722" cy="604054"/>
          </a:xfrm>
          <a:prstGeom prst="roundRect">
            <a:avLst>
              <a:gd name="adj" fmla="val 856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114300" dist="38100" dir="5400000" algn="t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>
            <a:defPPr>
              <a:defRPr lang="en-US"/>
            </a:defPPr>
            <a:lvl1pPr algn="ctr"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产品竞争指数预测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产品风险评分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112411" y="5409009"/>
            <a:ext cx="1718668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产品投放策略分析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箭头: 右 105"/>
          <p:cNvSpPr/>
          <p:nvPr/>
        </p:nvSpPr>
        <p:spPr>
          <a:xfrm rot="5400000">
            <a:off x="3863336" y="5150675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236667" y="4565076"/>
            <a:ext cx="1718668" cy="911963"/>
          </a:xfrm>
          <a:prstGeom prst="roundRect">
            <a:avLst>
              <a:gd name="adj" fmla="val 856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114300" dist="38100" dir="5400000" algn="t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>
            <a:defPPr>
              <a:defRPr lang="en-US"/>
            </a:defPPr>
            <a:lvl1pPr algn="ctr"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lvl="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用户群及配置优先级指标体系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  <a:p>
            <a:pPr marL="171450" lvl="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配置组合评分</a:t>
            </a:r>
            <a:endParaRPr lang="zh-CN" altLang="en-US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108" name="箭头: 右 107"/>
          <p:cNvSpPr/>
          <p:nvPr/>
        </p:nvSpPr>
        <p:spPr>
          <a:xfrm rot="5400000">
            <a:off x="5998201" y="3927551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5247279" y="4151506"/>
            <a:ext cx="1718667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用户分群画像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5281593" y="5715232"/>
            <a:ext cx="1718668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产品配置决策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1" name="箭头: 右 110"/>
          <p:cNvSpPr/>
          <p:nvPr/>
        </p:nvSpPr>
        <p:spPr>
          <a:xfrm rot="5400000">
            <a:off x="6032518" y="5456898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" name="箭头: 右 111"/>
          <p:cNvSpPr/>
          <p:nvPr/>
        </p:nvSpPr>
        <p:spPr>
          <a:xfrm rot="5400000">
            <a:off x="8187962" y="4145618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7420828" y="4438576"/>
            <a:ext cx="1718667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零部件成本核算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7420827" y="4911470"/>
            <a:ext cx="1718666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行业级成本对标评分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7420823" y="5374955"/>
            <a:ext cx="1718666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降本路径规划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箭头: 右 115"/>
          <p:cNvSpPr/>
          <p:nvPr/>
        </p:nvSpPr>
        <p:spPr>
          <a:xfrm rot="5400000">
            <a:off x="10377503" y="4377840"/>
            <a:ext cx="216817" cy="24921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9741054" y="4648651"/>
            <a:ext cx="1428354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高价值用户识别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741054" y="5081819"/>
            <a:ext cx="1428354" cy="322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精准营销方案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箭头: 右 302"/>
          <p:cNvSpPr/>
          <p:nvPr/>
        </p:nvSpPr>
        <p:spPr>
          <a:xfrm rot="16200000" flipV="1">
            <a:off x="1657600" y="2416682"/>
            <a:ext cx="178822" cy="493487"/>
          </a:xfrm>
          <a:custGeom>
            <a:avLst/>
            <a:gdLst>
              <a:gd name="connsiteX0" fmla="*/ 0 w 437541"/>
              <a:gd name="connsiteY0" fmla="*/ 69985 h 279938"/>
              <a:gd name="connsiteX1" fmla="*/ 297572 w 437541"/>
              <a:gd name="connsiteY1" fmla="*/ 69985 h 279938"/>
              <a:gd name="connsiteX2" fmla="*/ 297572 w 437541"/>
              <a:gd name="connsiteY2" fmla="*/ 0 h 279938"/>
              <a:gd name="connsiteX3" fmla="*/ 437541 w 437541"/>
              <a:gd name="connsiteY3" fmla="*/ 139969 h 279938"/>
              <a:gd name="connsiteX4" fmla="*/ 297572 w 437541"/>
              <a:gd name="connsiteY4" fmla="*/ 279938 h 279938"/>
              <a:gd name="connsiteX5" fmla="*/ 297572 w 437541"/>
              <a:gd name="connsiteY5" fmla="*/ 209954 h 279938"/>
              <a:gd name="connsiteX6" fmla="*/ 0 w 437541"/>
              <a:gd name="connsiteY6" fmla="*/ 209954 h 279938"/>
              <a:gd name="connsiteX7" fmla="*/ 0 w 437541"/>
              <a:gd name="connsiteY7" fmla="*/ 69985 h 279938"/>
              <a:gd name="connsiteX0-1" fmla="*/ 0 w 439921"/>
              <a:gd name="connsiteY0-2" fmla="*/ 24741 h 279938"/>
              <a:gd name="connsiteX1-3" fmla="*/ 299952 w 439921"/>
              <a:gd name="connsiteY1-4" fmla="*/ 69985 h 279938"/>
              <a:gd name="connsiteX2-5" fmla="*/ 299952 w 439921"/>
              <a:gd name="connsiteY2-6" fmla="*/ 0 h 279938"/>
              <a:gd name="connsiteX3-7" fmla="*/ 439921 w 439921"/>
              <a:gd name="connsiteY3-8" fmla="*/ 139969 h 279938"/>
              <a:gd name="connsiteX4-9" fmla="*/ 299952 w 439921"/>
              <a:gd name="connsiteY4-10" fmla="*/ 279938 h 279938"/>
              <a:gd name="connsiteX5-11" fmla="*/ 299952 w 439921"/>
              <a:gd name="connsiteY5-12" fmla="*/ 209954 h 279938"/>
              <a:gd name="connsiteX6-13" fmla="*/ 2380 w 439921"/>
              <a:gd name="connsiteY6-14" fmla="*/ 209954 h 279938"/>
              <a:gd name="connsiteX7-15" fmla="*/ 0 w 439921"/>
              <a:gd name="connsiteY7-16" fmla="*/ 24741 h 279938"/>
              <a:gd name="connsiteX0-17" fmla="*/ 0 w 439921"/>
              <a:gd name="connsiteY0-18" fmla="*/ 24741 h 279938"/>
              <a:gd name="connsiteX1-19" fmla="*/ 299952 w 439921"/>
              <a:gd name="connsiteY1-20" fmla="*/ 69985 h 279938"/>
              <a:gd name="connsiteX2-21" fmla="*/ 299952 w 439921"/>
              <a:gd name="connsiteY2-22" fmla="*/ 0 h 279938"/>
              <a:gd name="connsiteX3-23" fmla="*/ 439921 w 439921"/>
              <a:gd name="connsiteY3-24" fmla="*/ 139969 h 279938"/>
              <a:gd name="connsiteX4-25" fmla="*/ 299952 w 439921"/>
              <a:gd name="connsiteY4-26" fmla="*/ 279938 h 279938"/>
              <a:gd name="connsiteX5-27" fmla="*/ 299952 w 439921"/>
              <a:gd name="connsiteY5-28" fmla="*/ 209954 h 279938"/>
              <a:gd name="connsiteX6-29" fmla="*/ 7146 w 439921"/>
              <a:gd name="connsiteY6-30" fmla="*/ 250435 h 279938"/>
              <a:gd name="connsiteX7-31" fmla="*/ 0 w 439921"/>
              <a:gd name="connsiteY7-32" fmla="*/ 24741 h 279938"/>
              <a:gd name="connsiteX0-33" fmla="*/ 0 w 439921"/>
              <a:gd name="connsiteY0-34" fmla="*/ 24741 h 279938"/>
              <a:gd name="connsiteX1-35" fmla="*/ 299952 w 439921"/>
              <a:gd name="connsiteY1-36" fmla="*/ 69985 h 279938"/>
              <a:gd name="connsiteX2-37" fmla="*/ 299952 w 439921"/>
              <a:gd name="connsiteY2-38" fmla="*/ 0 h 279938"/>
              <a:gd name="connsiteX3-39" fmla="*/ 439921 w 439921"/>
              <a:gd name="connsiteY3-40" fmla="*/ 139969 h 279938"/>
              <a:gd name="connsiteX4-41" fmla="*/ 299952 w 439921"/>
              <a:gd name="connsiteY4-42" fmla="*/ 279938 h 279938"/>
              <a:gd name="connsiteX5-43" fmla="*/ 299952 w 439921"/>
              <a:gd name="connsiteY5-44" fmla="*/ 209954 h 279938"/>
              <a:gd name="connsiteX6-45" fmla="*/ 7146 w 439921"/>
              <a:gd name="connsiteY6-46" fmla="*/ 250435 h 279938"/>
              <a:gd name="connsiteX7-47" fmla="*/ 0 w 439921"/>
              <a:gd name="connsiteY7-48" fmla="*/ 24741 h 279938"/>
              <a:gd name="connsiteX0-49" fmla="*/ 0 w 439921"/>
              <a:gd name="connsiteY0-50" fmla="*/ 24741 h 279938"/>
              <a:gd name="connsiteX1-51" fmla="*/ 299952 w 439921"/>
              <a:gd name="connsiteY1-52" fmla="*/ 69985 h 279938"/>
              <a:gd name="connsiteX2-53" fmla="*/ 299952 w 439921"/>
              <a:gd name="connsiteY2-54" fmla="*/ 0 h 279938"/>
              <a:gd name="connsiteX3-55" fmla="*/ 439921 w 439921"/>
              <a:gd name="connsiteY3-56" fmla="*/ 139969 h 279938"/>
              <a:gd name="connsiteX4-57" fmla="*/ 299952 w 439921"/>
              <a:gd name="connsiteY4-58" fmla="*/ 279938 h 279938"/>
              <a:gd name="connsiteX5-59" fmla="*/ 299952 w 439921"/>
              <a:gd name="connsiteY5-60" fmla="*/ 209954 h 279938"/>
              <a:gd name="connsiteX6-61" fmla="*/ 7146 w 439921"/>
              <a:gd name="connsiteY6-62" fmla="*/ 250435 h 279938"/>
              <a:gd name="connsiteX7-63" fmla="*/ 0 w 439921"/>
              <a:gd name="connsiteY7-64" fmla="*/ 24741 h 279938"/>
              <a:gd name="connsiteX0-65" fmla="*/ 0 w 439921"/>
              <a:gd name="connsiteY0-66" fmla="*/ 24741 h 279938"/>
              <a:gd name="connsiteX1-67" fmla="*/ 299952 w 439921"/>
              <a:gd name="connsiteY1-68" fmla="*/ 69985 h 279938"/>
              <a:gd name="connsiteX2-69" fmla="*/ 299952 w 439921"/>
              <a:gd name="connsiteY2-70" fmla="*/ 0 h 279938"/>
              <a:gd name="connsiteX3-71" fmla="*/ 439921 w 439921"/>
              <a:gd name="connsiteY3-72" fmla="*/ 139969 h 279938"/>
              <a:gd name="connsiteX4-73" fmla="*/ 299952 w 439921"/>
              <a:gd name="connsiteY4-74" fmla="*/ 279938 h 279938"/>
              <a:gd name="connsiteX5-75" fmla="*/ 299952 w 439921"/>
              <a:gd name="connsiteY5-76" fmla="*/ 209954 h 279938"/>
              <a:gd name="connsiteX6-77" fmla="*/ 7146 w 439921"/>
              <a:gd name="connsiteY6-78" fmla="*/ 250435 h 279938"/>
              <a:gd name="connsiteX7-79" fmla="*/ 0 w 439921"/>
              <a:gd name="connsiteY7-80" fmla="*/ 24741 h 279938"/>
              <a:gd name="connsiteX0-81" fmla="*/ 0 w 439921"/>
              <a:gd name="connsiteY0-82" fmla="*/ 24741 h 279938"/>
              <a:gd name="connsiteX1-83" fmla="*/ 299952 w 439921"/>
              <a:gd name="connsiteY1-84" fmla="*/ 69985 h 279938"/>
              <a:gd name="connsiteX2-85" fmla="*/ 299952 w 439921"/>
              <a:gd name="connsiteY2-86" fmla="*/ 0 h 279938"/>
              <a:gd name="connsiteX3-87" fmla="*/ 439921 w 439921"/>
              <a:gd name="connsiteY3-88" fmla="*/ 139969 h 279938"/>
              <a:gd name="connsiteX4-89" fmla="*/ 299952 w 439921"/>
              <a:gd name="connsiteY4-90" fmla="*/ 279938 h 279938"/>
              <a:gd name="connsiteX5-91" fmla="*/ 299952 w 439921"/>
              <a:gd name="connsiteY5-92" fmla="*/ 209954 h 279938"/>
              <a:gd name="connsiteX6-93" fmla="*/ 7146 w 439921"/>
              <a:gd name="connsiteY6-94" fmla="*/ 250435 h 279938"/>
              <a:gd name="connsiteX7-95" fmla="*/ 0 w 439921"/>
              <a:gd name="connsiteY7-96" fmla="*/ 24741 h 279938"/>
              <a:gd name="connsiteX0-97" fmla="*/ 0 w 437537"/>
              <a:gd name="connsiteY0-98" fmla="*/ 0 h 340923"/>
              <a:gd name="connsiteX1-99" fmla="*/ 297568 w 437537"/>
              <a:gd name="connsiteY1-100" fmla="*/ 130970 h 340923"/>
              <a:gd name="connsiteX2-101" fmla="*/ 297568 w 437537"/>
              <a:gd name="connsiteY2-102" fmla="*/ 60985 h 340923"/>
              <a:gd name="connsiteX3-103" fmla="*/ 437537 w 437537"/>
              <a:gd name="connsiteY3-104" fmla="*/ 200954 h 340923"/>
              <a:gd name="connsiteX4-105" fmla="*/ 297568 w 437537"/>
              <a:gd name="connsiteY4-106" fmla="*/ 340923 h 340923"/>
              <a:gd name="connsiteX5-107" fmla="*/ 297568 w 437537"/>
              <a:gd name="connsiteY5-108" fmla="*/ 270939 h 340923"/>
              <a:gd name="connsiteX6-109" fmla="*/ 4762 w 437537"/>
              <a:gd name="connsiteY6-110" fmla="*/ 311420 h 340923"/>
              <a:gd name="connsiteX7-111" fmla="*/ 0 w 437537"/>
              <a:gd name="connsiteY7-112" fmla="*/ 0 h 340923"/>
              <a:gd name="connsiteX0-113" fmla="*/ 0 w 437537"/>
              <a:gd name="connsiteY0-114" fmla="*/ 0 h 368570"/>
              <a:gd name="connsiteX1-115" fmla="*/ 297568 w 437537"/>
              <a:gd name="connsiteY1-116" fmla="*/ 130970 h 368570"/>
              <a:gd name="connsiteX2-117" fmla="*/ 297568 w 437537"/>
              <a:gd name="connsiteY2-118" fmla="*/ 60985 h 368570"/>
              <a:gd name="connsiteX3-119" fmla="*/ 437537 w 437537"/>
              <a:gd name="connsiteY3-120" fmla="*/ 200954 h 368570"/>
              <a:gd name="connsiteX4-121" fmla="*/ 297568 w 437537"/>
              <a:gd name="connsiteY4-122" fmla="*/ 340923 h 368570"/>
              <a:gd name="connsiteX5-123" fmla="*/ 297568 w 437537"/>
              <a:gd name="connsiteY5-124" fmla="*/ 270939 h 368570"/>
              <a:gd name="connsiteX6-125" fmla="*/ 9525 w 437537"/>
              <a:gd name="connsiteY6-126" fmla="*/ 368570 h 368570"/>
              <a:gd name="connsiteX7-127" fmla="*/ 0 w 437537"/>
              <a:gd name="connsiteY7-128" fmla="*/ 0 h 368570"/>
              <a:gd name="connsiteX0-129" fmla="*/ 0 w 437537"/>
              <a:gd name="connsiteY0-130" fmla="*/ 0 h 368570"/>
              <a:gd name="connsiteX1-131" fmla="*/ 297568 w 437537"/>
              <a:gd name="connsiteY1-132" fmla="*/ 130970 h 368570"/>
              <a:gd name="connsiteX2-133" fmla="*/ 297568 w 437537"/>
              <a:gd name="connsiteY2-134" fmla="*/ 60985 h 368570"/>
              <a:gd name="connsiteX3-135" fmla="*/ 437537 w 437537"/>
              <a:gd name="connsiteY3-136" fmla="*/ 200954 h 368570"/>
              <a:gd name="connsiteX4-137" fmla="*/ 297568 w 437537"/>
              <a:gd name="connsiteY4-138" fmla="*/ 340923 h 368570"/>
              <a:gd name="connsiteX5-139" fmla="*/ 297568 w 437537"/>
              <a:gd name="connsiteY5-140" fmla="*/ 270939 h 368570"/>
              <a:gd name="connsiteX6-141" fmla="*/ 9525 w 437537"/>
              <a:gd name="connsiteY6-142" fmla="*/ 368570 h 368570"/>
              <a:gd name="connsiteX7-143" fmla="*/ 0 w 437537"/>
              <a:gd name="connsiteY7-144" fmla="*/ 0 h 368570"/>
              <a:gd name="connsiteX0-145" fmla="*/ 0 w 437537"/>
              <a:gd name="connsiteY0-146" fmla="*/ 0 h 368570"/>
              <a:gd name="connsiteX1-147" fmla="*/ 297568 w 437537"/>
              <a:gd name="connsiteY1-148" fmla="*/ 130970 h 368570"/>
              <a:gd name="connsiteX2-149" fmla="*/ 297568 w 437537"/>
              <a:gd name="connsiteY2-150" fmla="*/ 60985 h 368570"/>
              <a:gd name="connsiteX3-151" fmla="*/ 437537 w 437537"/>
              <a:gd name="connsiteY3-152" fmla="*/ 200954 h 368570"/>
              <a:gd name="connsiteX4-153" fmla="*/ 297568 w 437537"/>
              <a:gd name="connsiteY4-154" fmla="*/ 340923 h 368570"/>
              <a:gd name="connsiteX5-155" fmla="*/ 297568 w 437537"/>
              <a:gd name="connsiteY5-156" fmla="*/ 270939 h 368570"/>
              <a:gd name="connsiteX6-157" fmla="*/ 9525 w 437537"/>
              <a:gd name="connsiteY6-158" fmla="*/ 368570 h 368570"/>
              <a:gd name="connsiteX7-159" fmla="*/ 0 w 437537"/>
              <a:gd name="connsiteY7-160" fmla="*/ 0 h 368570"/>
              <a:gd name="connsiteX0-161" fmla="*/ 0 w 437537"/>
              <a:gd name="connsiteY0-162" fmla="*/ 0 h 368570"/>
              <a:gd name="connsiteX1-163" fmla="*/ 297568 w 437537"/>
              <a:gd name="connsiteY1-164" fmla="*/ 130970 h 368570"/>
              <a:gd name="connsiteX2-165" fmla="*/ 297568 w 437537"/>
              <a:gd name="connsiteY2-166" fmla="*/ 60985 h 368570"/>
              <a:gd name="connsiteX3-167" fmla="*/ 437537 w 437537"/>
              <a:gd name="connsiteY3-168" fmla="*/ 200954 h 368570"/>
              <a:gd name="connsiteX4-169" fmla="*/ 297568 w 437537"/>
              <a:gd name="connsiteY4-170" fmla="*/ 340923 h 368570"/>
              <a:gd name="connsiteX5-171" fmla="*/ 297568 w 437537"/>
              <a:gd name="connsiteY5-172" fmla="*/ 270939 h 368570"/>
              <a:gd name="connsiteX6-173" fmla="*/ 9525 w 437537"/>
              <a:gd name="connsiteY6-174" fmla="*/ 368570 h 368570"/>
              <a:gd name="connsiteX7-175" fmla="*/ 0 w 437537"/>
              <a:gd name="connsiteY7-176" fmla="*/ 0 h 368570"/>
              <a:gd name="connsiteX0-177" fmla="*/ 0 w 437537"/>
              <a:gd name="connsiteY0-178" fmla="*/ 0 h 368570"/>
              <a:gd name="connsiteX1-179" fmla="*/ 297568 w 437537"/>
              <a:gd name="connsiteY1-180" fmla="*/ 130970 h 368570"/>
              <a:gd name="connsiteX2-181" fmla="*/ 297568 w 437537"/>
              <a:gd name="connsiteY2-182" fmla="*/ 60985 h 368570"/>
              <a:gd name="connsiteX3-183" fmla="*/ 437537 w 437537"/>
              <a:gd name="connsiteY3-184" fmla="*/ 200954 h 368570"/>
              <a:gd name="connsiteX4-185" fmla="*/ 297568 w 437537"/>
              <a:gd name="connsiteY4-186" fmla="*/ 340923 h 368570"/>
              <a:gd name="connsiteX5-187" fmla="*/ 297568 w 437537"/>
              <a:gd name="connsiteY5-188" fmla="*/ 270939 h 368570"/>
              <a:gd name="connsiteX6-189" fmla="*/ 9525 w 437537"/>
              <a:gd name="connsiteY6-190" fmla="*/ 368570 h 368570"/>
              <a:gd name="connsiteX7-191" fmla="*/ 0 w 437537"/>
              <a:gd name="connsiteY7-192" fmla="*/ 0 h 368570"/>
              <a:gd name="connsiteX0-193" fmla="*/ 0 w 430390"/>
              <a:gd name="connsiteY0-194" fmla="*/ 0 h 361426"/>
              <a:gd name="connsiteX1-195" fmla="*/ 290421 w 430390"/>
              <a:gd name="connsiteY1-196" fmla="*/ 123826 h 361426"/>
              <a:gd name="connsiteX2-197" fmla="*/ 290421 w 430390"/>
              <a:gd name="connsiteY2-198" fmla="*/ 53841 h 361426"/>
              <a:gd name="connsiteX3-199" fmla="*/ 430390 w 430390"/>
              <a:gd name="connsiteY3-200" fmla="*/ 193810 h 361426"/>
              <a:gd name="connsiteX4-201" fmla="*/ 290421 w 430390"/>
              <a:gd name="connsiteY4-202" fmla="*/ 333779 h 361426"/>
              <a:gd name="connsiteX5-203" fmla="*/ 290421 w 430390"/>
              <a:gd name="connsiteY5-204" fmla="*/ 263795 h 361426"/>
              <a:gd name="connsiteX6-205" fmla="*/ 2378 w 430390"/>
              <a:gd name="connsiteY6-206" fmla="*/ 361426 h 361426"/>
              <a:gd name="connsiteX7-207" fmla="*/ 0 w 430390"/>
              <a:gd name="connsiteY7-208" fmla="*/ 0 h 361426"/>
              <a:gd name="connsiteX0-209" fmla="*/ 0 w 430390"/>
              <a:gd name="connsiteY0-210" fmla="*/ 0 h 378095"/>
              <a:gd name="connsiteX1-211" fmla="*/ 290421 w 430390"/>
              <a:gd name="connsiteY1-212" fmla="*/ 123826 h 378095"/>
              <a:gd name="connsiteX2-213" fmla="*/ 290421 w 430390"/>
              <a:gd name="connsiteY2-214" fmla="*/ 53841 h 378095"/>
              <a:gd name="connsiteX3-215" fmla="*/ 430390 w 430390"/>
              <a:gd name="connsiteY3-216" fmla="*/ 193810 h 378095"/>
              <a:gd name="connsiteX4-217" fmla="*/ 290421 w 430390"/>
              <a:gd name="connsiteY4-218" fmla="*/ 333779 h 378095"/>
              <a:gd name="connsiteX5-219" fmla="*/ 290421 w 430390"/>
              <a:gd name="connsiteY5-220" fmla="*/ 263795 h 378095"/>
              <a:gd name="connsiteX6-221" fmla="*/ 2378 w 430390"/>
              <a:gd name="connsiteY6-222" fmla="*/ 378095 h 378095"/>
              <a:gd name="connsiteX7-223" fmla="*/ 0 w 430390"/>
              <a:gd name="connsiteY7-224" fmla="*/ 0 h 378095"/>
              <a:gd name="connsiteX0-225" fmla="*/ 0 w 430387"/>
              <a:gd name="connsiteY0-226" fmla="*/ 0 h 385240"/>
              <a:gd name="connsiteX1-227" fmla="*/ 290418 w 430387"/>
              <a:gd name="connsiteY1-228" fmla="*/ 130971 h 385240"/>
              <a:gd name="connsiteX2-229" fmla="*/ 290418 w 430387"/>
              <a:gd name="connsiteY2-230" fmla="*/ 60986 h 385240"/>
              <a:gd name="connsiteX3-231" fmla="*/ 430387 w 430387"/>
              <a:gd name="connsiteY3-232" fmla="*/ 200955 h 385240"/>
              <a:gd name="connsiteX4-233" fmla="*/ 290418 w 430387"/>
              <a:gd name="connsiteY4-234" fmla="*/ 340924 h 385240"/>
              <a:gd name="connsiteX5-235" fmla="*/ 290418 w 430387"/>
              <a:gd name="connsiteY5-236" fmla="*/ 270940 h 385240"/>
              <a:gd name="connsiteX6-237" fmla="*/ 2375 w 430387"/>
              <a:gd name="connsiteY6-238" fmla="*/ 385240 h 385240"/>
              <a:gd name="connsiteX7-239" fmla="*/ 0 w 430387"/>
              <a:gd name="connsiteY7-240" fmla="*/ 0 h 385240"/>
              <a:gd name="connsiteX0-241" fmla="*/ 0 w 430387"/>
              <a:gd name="connsiteY0-242" fmla="*/ 0 h 392384"/>
              <a:gd name="connsiteX1-243" fmla="*/ 290418 w 430387"/>
              <a:gd name="connsiteY1-244" fmla="*/ 130971 h 392384"/>
              <a:gd name="connsiteX2-245" fmla="*/ 290418 w 430387"/>
              <a:gd name="connsiteY2-246" fmla="*/ 60986 h 392384"/>
              <a:gd name="connsiteX3-247" fmla="*/ 430387 w 430387"/>
              <a:gd name="connsiteY3-248" fmla="*/ 200955 h 392384"/>
              <a:gd name="connsiteX4-249" fmla="*/ 290418 w 430387"/>
              <a:gd name="connsiteY4-250" fmla="*/ 340924 h 392384"/>
              <a:gd name="connsiteX5-251" fmla="*/ 290418 w 430387"/>
              <a:gd name="connsiteY5-252" fmla="*/ 270940 h 392384"/>
              <a:gd name="connsiteX6-253" fmla="*/ 2378 w 430387"/>
              <a:gd name="connsiteY6-254" fmla="*/ 392384 h 392384"/>
              <a:gd name="connsiteX7-255" fmla="*/ 0 w 430387"/>
              <a:gd name="connsiteY7-256" fmla="*/ 0 h 392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30387" h="392384">
                <a:moveTo>
                  <a:pt x="0" y="0"/>
                </a:moveTo>
                <a:cubicBezTo>
                  <a:pt x="88083" y="86518"/>
                  <a:pt x="180914" y="113509"/>
                  <a:pt x="290418" y="130971"/>
                </a:cubicBezTo>
                <a:lnTo>
                  <a:pt x="290418" y="60986"/>
                </a:lnTo>
                <a:lnTo>
                  <a:pt x="430387" y="200955"/>
                </a:lnTo>
                <a:lnTo>
                  <a:pt x="290418" y="340924"/>
                </a:lnTo>
                <a:lnTo>
                  <a:pt x="290418" y="270940"/>
                </a:lnTo>
                <a:cubicBezTo>
                  <a:pt x="180916" y="289196"/>
                  <a:pt x="80936" y="324121"/>
                  <a:pt x="2378" y="392384"/>
                </a:cubicBezTo>
                <a:cubicBezTo>
                  <a:pt x="1585" y="330646"/>
                  <a:pt x="793" y="6173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0" name="箭头: 右 302"/>
          <p:cNvSpPr/>
          <p:nvPr/>
        </p:nvSpPr>
        <p:spPr>
          <a:xfrm rot="16200000" flipV="1">
            <a:off x="3856848" y="2562473"/>
            <a:ext cx="178822" cy="493487"/>
          </a:xfrm>
          <a:custGeom>
            <a:avLst/>
            <a:gdLst>
              <a:gd name="connsiteX0" fmla="*/ 0 w 437541"/>
              <a:gd name="connsiteY0" fmla="*/ 69985 h 279938"/>
              <a:gd name="connsiteX1" fmla="*/ 297572 w 437541"/>
              <a:gd name="connsiteY1" fmla="*/ 69985 h 279938"/>
              <a:gd name="connsiteX2" fmla="*/ 297572 w 437541"/>
              <a:gd name="connsiteY2" fmla="*/ 0 h 279938"/>
              <a:gd name="connsiteX3" fmla="*/ 437541 w 437541"/>
              <a:gd name="connsiteY3" fmla="*/ 139969 h 279938"/>
              <a:gd name="connsiteX4" fmla="*/ 297572 w 437541"/>
              <a:gd name="connsiteY4" fmla="*/ 279938 h 279938"/>
              <a:gd name="connsiteX5" fmla="*/ 297572 w 437541"/>
              <a:gd name="connsiteY5" fmla="*/ 209954 h 279938"/>
              <a:gd name="connsiteX6" fmla="*/ 0 w 437541"/>
              <a:gd name="connsiteY6" fmla="*/ 209954 h 279938"/>
              <a:gd name="connsiteX7" fmla="*/ 0 w 437541"/>
              <a:gd name="connsiteY7" fmla="*/ 69985 h 279938"/>
              <a:gd name="connsiteX0-1" fmla="*/ 0 w 439921"/>
              <a:gd name="connsiteY0-2" fmla="*/ 24741 h 279938"/>
              <a:gd name="connsiteX1-3" fmla="*/ 299952 w 439921"/>
              <a:gd name="connsiteY1-4" fmla="*/ 69985 h 279938"/>
              <a:gd name="connsiteX2-5" fmla="*/ 299952 w 439921"/>
              <a:gd name="connsiteY2-6" fmla="*/ 0 h 279938"/>
              <a:gd name="connsiteX3-7" fmla="*/ 439921 w 439921"/>
              <a:gd name="connsiteY3-8" fmla="*/ 139969 h 279938"/>
              <a:gd name="connsiteX4-9" fmla="*/ 299952 w 439921"/>
              <a:gd name="connsiteY4-10" fmla="*/ 279938 h 279938"/>
              <a:gd name="connsiteX5-11" fmla="*/ 299952 w 439921"/>
              <a:gd name="connsiteY5-12" fmla="*/ 209954 h 279938"/>
              <a:gd name="connsiteX6-13" fmla="*/ 2380 w 439921"/>
              <a:gd name="connsiteY6-14" fmla="*/ 209954 h 279938"/>
              <a:gd name="connsiteX7-15" fmla="*/ 0 w 439921"/>
              <a:gd name="connsiteY7-16" fmla="*/ 24741 h 279938"/>
              <a:gd name="connsiteX0-17" fmla="*/ 0 w 439921"/>
              <a:gd name="connsiteY0-18" fmla="*/ 24741 h 279938"/>
              <a:gd name="connsiteX1-19" fmla="*/ 299952 w 439921"/>
              <a:gd name="connsiteY1-20" fmla="*/ 69985 h 279938"/>
              <a:gd name="connsiteX2-21" fmla="*/ 299952 w 439921"/>
              <a:gd name="connsiteY2-22" fmla="*/ 0 h 279938"/>
              <a:gd name="connsiteX3-23" fmla="*/ 439921 w 439921"/>
              <a:gd name="connsiteY3-24" fmla="*/ 139969 h 279938"/>
              <a:gd name="connsiteX4-25" fmla="*/ 299952 w 439921"/>
              <a:gd name="connsiteY4-26" fmla="*/ 279938 h 279938"/>
              <a:gd name="connsiteX5-27" fmla="*/ 299952 w 439921"/>
              <a:gd name="connsiteY5-28" fmla="*/ 209954 h 279938"/>
              <a:gd name="connsiteX6-29" fmla="*/ 7146 w 439921"/>
              <a:gd name="connsiteY6-30" fmla="*/ 250435 h 279938"/>
              <a:gd name="connsiteX7-31" fmla="*/ 0 w 439921"/>
              <a:gd name="connsiteY7-32" fmla="*/ 24741 h 279938"/>
              <a:gd name="connsiteX0-33" fmla="*/ 0 w 439921"/>
              <a:gd name="connsiteY0-34" fmla="*/ 24741 h 279938"/>
              <a:gd name="connsiteX1-35" fmla="*/ 299952 w 439921"/>
              <a:gd name="connsiteY1-36" fmla="*/ 69985 h 279938"/>
              <a:gd name="connsiteX2-37" fmla="*/ 299952 w 439921"/>
              <a:gd name="connsiteY2-38" fmla="*/ 0 h 279938"/>
              <a:gd name="connsiteX3-39" fmla="*/ 439921 w 439921"/>
              <a:gd name="connsiteY3-40" fmla="*/ 139969 h 279938"/>
              <a:gd name="connsiteX4-41" fmla="*/ 299952 w 439921"/>
              <a:gd name="connsiteY4-42" fmla="*/ 279938 h 279938"/>
              <a:gd name="connsiteX5-43" fmla="*/ 299952 w 439921"/>
              <a:gd name="connsiteY5-44" fmla="*/ 209954 h 279938"/>
              <a:gd name="connsiteX6-45" fmla="*/ 7146 w 439921"/>
              <a:gd name="connsiteY6-46" fmla="*/ 250435 h 279938"/>
              <a:gd name="connsiteX7-47" fmla="*/ 0 w 439921"/>
              <a:gd name="connsiteY7-48" fmla="*/ 24741 h 279938"/>
              <a:gd name="connsiteX0-49" fmla="*/ 0 w 439921"/>
              <a:gd name="connsiteY0-50" fmla="*/ 24741 h 279938"/>
              <a:gd name="connsiteX1-51" fmla="*/ 299952 w 439921"/>
              <a:gd name="connsiteY1-52" fmla="*/ 69985 h 279938"/>
              <a:gd name="connsiteX2-53" fmla="*/ 299952 w 439921"/>
              <a:gd name="connsiteY2-54" fmla="*/ 0 h 279938"/>
              <a:gd name="connsiteX3-55" fmla="*/ 439921 w 439921"/>
              <a:gd name="connsiteY3-56" fmla="*/ 139969 h 279938"/>
              <a:gd name="connsiteX4-57" fmla="*/ 299952 w 439921"/>
              <a:gd name="connsiteY4-58" fmla="*/ 279938 h 279938"/>
              <a:gd name="connsiteX5-59" fmla="*/ 299952 w 439921"/>
              <a:gd name="connsiteY5-60" fmla="*/ 209954 h 279938"/>
              <a:gd name="connsiteX6-61" fmla="*/ 7146 w 439921"/>
              <a:gd name="connsiteY6-62" fmla="*/ 250435 h 279938"/>
              <a:gd name="connsiteX7-63" fmla="*/ 0 w 439921"/>
              <a:gd name="connsiteY7-64" fmla="*/ 24741 h 279938"/>
              <a:gd name="connsiteX0-65" fmla="*/ 0 w 439921"/>
              <a:gd name="connsiteY0-66" fmla="*/ 24741 h 279938"/>
              <a:gd name="connsiteX1-67" fmla="*/ 299952 w 439921"/>
              <a:gd name="connsiteY1-68" fmla="*/ 69985 h 279938"/>
              <a:gd name="connsiteX2-69" fmla="*/ 299952 w 439921"/>
              <a:gd name="connsiteY2-70" fmla="*/ 0 h 279938"/>
              <a:gd name="connsiteX3-71" fmla="*/ 439921 w 439921"/>
              <a:gd name="connsiteY3-72" fmla="*/ 139969 h 279938"/>
              <a:gd name="connsiteX4-73" fmla="*/ 299952 w 439921"/>
              <a:gd name="connsiteY4-74" fmla="*/ 279938 h 279938"/>
              <a:gd name="connsiteX5-75" fmla="*/ 299952 w 439921"/>
              <a:gd name="connsiteY5-76" fmla="*/ 209954 h 279938"/>
              <a:gd name="connsiteX6-77" fmla="*/ 7146 w 439921"/>
              <a:gd name="connsiteY6-78" fmla="*/ 250435 h 279938"/>
              <a:gd name="connsiteX7-79" fmla="*/ 0 w 439921"/>
              <a:gd name="connsiteY7-80" fmla="*/ 24741 h 279938"/>
              <a:gd name="connsiteX0-81" fmla="*/ 0 w 439921"/>
              <a:gd name="connsiteY0-82" fmla="*/ 24741 h 279938"/>
              <a:gd name="connsiteX1-83" fmla="*/ 299952 w 439921"/>
              <a:gd name="connsiteY1-84" fmla="*/ 69985 h 279938"/>
              <a:gd name="connsiteX2-85" fmla="*/ 299952 w 439921"/>
              <a:gd name="connsiteY2-86" fmla="*/ 0 h 279938"/>
              <a:gd name="connsiteX3-87" fmla="*/ 439921 w 439921"/>
              <a:gd name="connsiteY3-88" fmla="*/ 139969 h 279938"/>
              <a:gd name="connsiteX4-89" fmla="*/ 299952 w 439921"/>
              <a:gd name="connsiteY4-90" fmla="*/ 279938 h 279938"/>
              <a:gd name="connsiteX5-91" fmla="*/ 299952 w 439921"/>
              <a:gd name="connsiteY5-92" fmla="*/ 209954 h 279938"/>
              <a:gd name="connsiteX6-93" fmla="*/ 7146 w 439921"/>
              <a:gd name="connsiteY6-94" fmla="*/ 250435 h 279938"/>
              <a:gd name="connsiteX7-95" fmla="*/ 0 w 439921"/>
              <a:gd name="connsiteY7-96" fmla="*/ 24741 h 279938"/>
              <a:gd name="connsiteX0-97" fmla="*/ 0 w 437537"/>
              <a:gd name="connsiteY0-98" fmla="*/ 0 h 340923"/>
              <a:gd name="connsiteX1-99" fmla="*/ 297568 w 437537"/>
              <a:gd name="connsiteY1-100" fmla="*/ 130970 h 340923"/>
              <a:gd name="connsiteX2-101" fmla="*/ 297568 w 437537"/>
              <a:gd name="connsiteY2-102" fmla="*/ 60985 h 340923"/>
              <a:gd name="connsiteX3-103" fmla="*/ 437537 w 437537"/>
              <a:gd name="connsiteY3-104" fmla="*/ 200954 h 340923"/>
              <a:gd name="connsiteX4-105" fmla="*/ 297568 w 437537"/>
              <a:gd name="connsiteY4-106" fmla="*/ 340923 h 340923"/>
              <a:gd name="connsiteX5-107" fmla="*/ 297568 w 437537"/>
              <a:gd name="connsiteY5-108" fmla="*/ 270939 h 340923"/>
              <a:gd name="connsiteX6-109" fmla="*/ 4762 w 437537"/>
              <a:gd name="connsiteY6-110" fmla="*/ 311420 h 340923"/>
              <a:gd name="connsiteX7-111" fmla="*/ 0 w 437537"/>
              <a:gd name="connsiteY7-112" fmla="*/ 0 h 340923"/>
              <a:gd name="connsiteX0-113" fmla="*/ 0 w 437537"/>
              <a:gd name="connsiteY0-114" fmla="*/ 0 h 368570"/>
              <a:gd name="connsiteX1-115" fmla="*/ 297568 w 437537"/>
              <a:gd name="connsiteY1-116" fmla="*/ 130970 h 368570"/>
              <a:gd name="connsiteX2-117" fmla="*/ 297568 w 437537"/>
              <a:gd name="connsiteY2-118" fmla="*/ 60985 h 368570"/>
              <a:gd name="connsiteX3-119" fmla="*/ 437537 w 437537"/>
              <a:gd name="connsiteY3-120" fmla="*/ 200954 h 368570"/>
              <a:gd name="connsiteX4-121" fmla="*/ 297568 w 437537"/>
              <a:gd name="connsiteY4-122" fmla="*/ 340923 h 368570"/>
              <a:gd name="connsiteX5-123" fmla="*/ 297568 w 437537"/>
              <a:gd name="connsiteY5-124" fmla="*/ 270939 h 368570"/>
              <a:gd name="connsiteX6-125" fmla="*/ 9525 w 437537"/>
              <a:gd name="connsiteY6-126" fmla="*/ 368570 h 368570"/>
              <a:gd name="connsiteX7-127" fmla="*/ 0 w 437537"/>
              <a:gd name="connsiteY7-128" fmla="*/ 0 h 368570"/>
              <a:gd name="connsiteX0-129" fmla="*/ 0 w 437537"/>
              <a:gd name="connsiteY0-130" fmla="*/ 0 h 368570"/>
              <a:gd name="connsiteX1-131" fmla="*/ 297568 w 437537"/>
              <a:gd name="connsiteY1-132" fmla="*/ 130970 h 368570"/>
              <a:gd name="connsiteX2-133" fmla="*/ 297568 w 437537"/>
              <a:gd name="connsiteY2-134" fmla="*/ 60985 h 368570"/>
              <a:gd name="connsiteX3-135" fmla="*/ 437537 w 437537"/>
              <a:gd name="connsiteY3-136" fmla="*/ 200954 h 368570"/>
              <a:gd name="connsiteX4-137" fmla="*/ 297568 w 437537"/>
              <a:gd name="connsiteY4-138" fmla="*/ 340923 h 368570"/>
              <a:gd name="connsiteX5-139" fmla="*/ 297568 w 437537"/>
              <a:gd name="connsiteY5-140" fmla="*/ 270939 h 368570"/>
              <a:gd name="connsiteX6-141" fmla="*/ 9525 w 437537"/>
              <a:gd name="connsiteY6-142" fmla="*/ 368570 h 368570"/>
              <a:gd name="connsiteX7-143" fmla="*/ 0 w 437537"/>
              <a:gd name="connsiteY7-144" fmla="*/ 0 h 368570"/>
              <a:gd name="connsiteX0-145" fmla="*/ 0 w 437537"/>
              <a:gd name="connsiteY0-146" fmla="*/ 0 h 368570"/>
              <a:gd name="connsiteX1-147" fmla="*/ 297568 w 437537"/>
              <a:gd name="connsiteY1-148" fmla="*/ 130970 h 368570"/>
              <a:gd name="connsiteX2-149" fmla="*/ 297568 w 437537"/>
              <a:gd name="connsiteY2-150" fmla="*/ 60985 h 368570"/>
              <a:gd name="connsiteX3-151" fmla="*/ 437537 w 437537"/>
              <a:gd name="connsiteY3-152" fmla="*/ 200954 h 368570"/>
              <a:gd name="connsiteX4-153" fmla="*/ 297568 w 437537"/>
              <a:gd name="connsiteY4-154" fmla="*/ 340923 h 368570"/>
              <a:gd name="connsiteX5-155" fmla="*/ 297568 w 437537"/>
              <a:gd name="connsiteY5-156" fmla="*/ 270939 h 368570"/>
              <a:gd name="connsiteX6-157" fmla="*/ 9525 w 437537"/>
              <a:gd name="connsiteY6-158" fmla="*/ 368570 h 368570"/>
              <a:gd name="connsiteX7-159" fmla="*/ 0 w 437537"/>
              <a:gd name="connsiteY7-160" fmla="*/ 0 h 368570"/>
              <a:gd name="connsiteX0-161" fmla="*/ 0 w 437537"/>
              <a:gd name="connsiteY0-162" fmla="*/ 0 h 368570"/>
              <a:gd name="connsiteX1-163" fmla="*/ 297568 w 437537"/>
              <a:gd name="connsiteY1-164" fmla="*/ 130970 h 368570"/>
              <a:gd name="connsiteX2-165" fmla="*/ 297568 w 437537"/>
              <a:gd name="connsiteY2-166" fmla="*/ 60985 h 368570"/>
              <a:gd name="connsiteX3-167" fmla="*/ 437537 w 437537"/>
              <a:gd name="connsiteY3-168" fmla="*/ 200954 h 368570"/>
              <a:gd name="connsiteX4-169" fmla="*/ 297568 w 437537"/>
              <a:gd name="connsiteY4-170" fmla="*/ 340923 h 368570"/>
              <a:gd name="connsiteX5-171" fmla="*/ 297568 w 437537"/>
              <a:gd name="connsiteY5-172" fmla="*/ 270939 h 368570"/>
              <a:gd name="connsiteX6-173" fmla="*/ 9525 w 437537"/>
              <a:gd name="connsiteY6-174" fmla="*/ 368570 h 368570"/>
              <a:gd name="connsiteX7-175" fmla="*/ 0 w 437537"/>
              <a:gd name="connsiteY7-176" fmla="*/ 0 h 368570"/>
              <a:gd name="connsiteX0-177" fmla="*/ 0 w 437537"/>
              <a:gd name="connsiteY0-178" fmla="*/ 0 h 368570"/>
              <a:gd name="connsiteX1-179" fmla="*/ 297568 w 437537"/>
              <a:gd name="connsiteY1-180" fmla="*/ 130970 h 368570"/>
              <a:gd name="connsiteX2-181" fmla="*/ 297568 w 437537"/>
              <a:gd name="connsiteY2-182" fmla="*/ 60985 h 368570"/>
              <a:gd name="connsiteX3-183" fmla="*/ 437537 w 437537"/>
              <a:gd name="connsiteY3-184" fmla="*/ 200954 h 368570"/>
              <a:gd name="connsiteX4-185" fmla="*/ 297568 w 437537"/>
              <a:gd name="connsiteY4-186" fmla="*/ 340923 h 368570"/>
              <a:gd name="connsiteX5-187" fmla="*/ 297568 w 437537"/>
              <a:gd name="connsiteY5-188" fmla="*/ 270939 h 368570"/>
              <a:gd name="connsiteX6-189" fmla="*/ 9525 w 437537"/>
              <a:gd name="connsiteY6-190" fmla="*/ 368570 h 368570"/>
              <a:gd name="connsiteX7-191" fmla="*/ 0 w 437537"/>
              <a:gd name="connsiteY7-192" fmla="*/ 0 h 368570"/>
              <a:gd name="connsiteX0-193" fmla="*/ 0 w 430390"/>
              <a:gd name="connsiteY0-194" fmla="*/ 0 h 361426"/>
              <a:gd name="connsiteX1-195" fmla="*/ 290421 w 430390"/>
              <a:gd name="connsiteY1-196" fmla="*/ 123826 h 361426"/>
              <a:gd name="connsiteX2-197" fmla="*/ 290421 w 430390"/>
              <a:gd name="connsiteY2-198" fmla="*/ 53841 h 361426"/>
              <a:gd name="connsiteX3-199" fmla="*/ 430390 w 430390"/>
              <a:gd name="connsiteY3-200" fmla="*/ 193810 h 361426"/>
              <a:gd name="connsiteX4-201" fmla="*/ 290421 w 430390"/>
              <a:gd name="connsiteY4-202" fmla="*/ 333779 h 361426"/>
              <a:gd name="connsiteX5-203" fmla="*/ 290421 w 430390"/>
              <a:gd name="connsiteY5-204" fmla="*/ 263795 h 361426"/>
              <a:gd name="connsiteX6-205" fmla="*/ 2378 w 430390"/>
              <a:gd name="connsiteY6-206" fmla="*/ 361426 h 361426"/>
              <a:gd name="connsiteX7-207" fmla="*/ 0 w 430390"/>
              <a:gd name="connsiteY7-208" fmla="*/ 0 h 361426"/>
              <a:gd name="connsiteX0-209" fmla="*/ 0 w 430390"/>
              <a:gd name="connsiteY0-210" fmla="*/ 0 h 378095"/>
              <a:gd name="connsiteX1-211" fmla="*/ 290421 w 430390"/>
              <a:gd name="connsiteY1-212" fmla="*/ 123826 h 378095"/>
              <a:gd name="connsiteX2-213" fmla="*/ 290421 w 430390"/>
              <a:gd name="connsiteY2-214" fmla="*/ 53841 h 378095"/>
              <a:gd name="connsiteX3-215" fmla="*/ 430390 w 430390"/>
              <a:gd name="connsiteY3-216" fmla="*/ 193810 h 378095"/>
              <a:gd name="connsiteX4-217" fmla="*/ 290421 w 430390"/>
              <a:gd name="connsiteY4-218" fmla="*/ 333779 h 378095"/>
              <a:gd name="connsiteX5-219" fmla="*/ 290421 w 430390"/>
              <a:gd name="connsiteY5-220" fmla="*/ 263795 h 378095"/>
              <a:gd name="connsiteX6-221" fmla="*/ 2378 w 430390"/>
              <a:gd name="connsiteY6-222" fmla="*/ 378095 h 378095"/>
              <a:gd name="connsiteX7-223" fmla="*/ 0 w 430390"/>
              <a:gd name="connsiteY7-224" fmla="*/ 0 h 378095"/>
              <a:gd name="connsiteX0-225" fmla="*/ 0 w 430387"/>
              <a:gd name="connsiteY0-226" fmla="*/ 0 h 385240"/>
              <a:gd name="connsiteX1-227" fmla="*/ 290418 w 430387"/>
              <a:gd name="connsiteY1-228" fmla="*/ 130971 h 385240"/>
              <a:gd name="connsiteX2-229" fmla="*/ 290418 w 430387"/>
              <a:gd name="connsiteY2-230" fmla="*/ 60986 h 385240"/>
              <a:gd name="connsiteX3-231" fmla="*/ 430387 w 430387"/>
              <a:gd name="connsiteY3-232" fmla="*/ 200955 h 385240"/>
              <a:gd name="connsiteX4-233" fmla="*/ 290418 w 430387"/>
              <a:gd name="connsiteY4-234" fmla="*/ 340924 h 385240"/>
              <a:gd name="connsiteX5-235" fmla="*/ 290418 w 430387"/>
              <a:gd name="connsiteY5-236" fmla="*/ 270940 h 385240"/>
              <a:gd name="connsiteX6-237" fmla="*/ 2375 w 430387"/>
              <a:gd name="connsiteY6-238" fmla="*/ 385240 h 385240"/>
              <a:gd name="connsiteX7-239" fmla="*/ 0 w 430387"/>
              <a:gd name="connsiteY7-240" fmla="*/ 0 h 385240"/>
              <a:gd name="connsiteX0-241" fmla="*/ 0 w 430387"/>
              <a:gd name="connsiteY0-242" fmla="*/ 0 h 392384"/>
              <a:gd name="connsiteX1-243" fmla="*/ 290418 w 430387"/>
              <a:gd name="connsiteY1-244" fmla="*/ 130971 h 392384"/>
              <a:gd name="connsiteX2-245" fmla="*/ 290418 w 430387"/>
              <a:gd name="connsiteY2-246" fmla="*/ 60986 h 392384"/>
              <a:gd name="connsiteX3-247" fmla="*/ 430387 w 430387"/>
              <a:gd name="connsiteY3-248" fmla="*/ 200955 h 392384"/>
              <a:gd name="connsiteX4-249" fmla="*/ 290418 w 430387"/>
              <a:gd name="connsiteY4-250" fmla="*/ 340924 h 392384"/>
              <a:gd name="connsiteX5-251" fmla="*/ 290418 w 430387"/>
              <a:gd name="connsiteY5-252" fmla="*/ 270940 h 392384"/>
              <a:gd name="connsiteX6-253" fmla="*/ 2378 w 430387"/>
              <a:gd name="connsiteY6-254" fmla="*/ 392384 h 392384"/>
              <a:gd name="connsiteX7-255" fmla="*/ 0 w 430387"/>
              <a:gd name="connsiteY7-256" fmla="*/ 0 h 392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30387" h="392384">
                <a:moveTo>
                  <a:pt x="0" y="0"/>
                </a:moveTo>
                <a:cubicBezTo>
                  <a:pt x="88083" y="86518"/>
                  <a:pt x="180914" y="113509"/>
                  <a:pt x="290418" y="130971"/>
                </a:cubicBezTo>
                <a:lnTo>
                  <a:pt x="290418" y="60986"/>
                </a:lnTo>
                <a:lnTo>
                  <a:pt x="430387" y="200955"/>
                </a:lnTo>
                <a:lnTo>
                  <a:pt x="290418" y="340924"/>
                </a:lnTo>
                <a:lnTo>
                  <a:pt x="290418" y="270940"/>
                </a:lnTo>
                <a:cubicBezTo>
                  <a:pt x="180916" y="289196"/>
                  <a:pt x="80936" y="324121"/>
                  <a:pt x="2378" y="392384"/>
                </a:cubicBezTo>
                <a:cubicBezTo>
                  <a:pt x="1585" y="330646"/>
                  <a:pt x="793" y="6173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1" name="箭头: 右 302"/>
          <p:cNvSpPr/>
          <p:nvPr/>
        </p:nvSpPr>
        <p:spPr>
          <a:xfrm rot="16200000" flipV="1">
            <a:off x="5976993" y="2685229"/>
            <a:ext cx="178822" cy="493487"/>
          </a:xfrm>
          <a:custGeom>
            <a:avLst/>
            <a:gdLst>
              <a:gd name="connsiteX0" fmla="*/ 0 w 437541"/>
              <a:gd name="connsiteY0" fmla="*/ 69985 h 279938"/>
              <a:gd name="connsiteX1" fmla="*/ 297572 w 437541"/>
              <a:gd name="connsiteY1" fmla="*/ 69985 h 279938"/>
              <a:gd name="connsiteX2" fmla="*/ 297572 w 437541"/>
              <a:gd name="connsiteY2" fmla="*/ 0 h 279938"/>
              <a:gd name="connsiteX3" fmla="*/ 437541 w 437541"/>
              <a:gd name="connsiteY3" fmla="*/ 139969 h 279938"/>
              <a:gd name="connsiteX4" fmla="*/ 297572 w 437541"/>
              <a:gd name="connsiteY4" fmla="*/ 279938 h 279938"/>
              <a:gd name="connsiteX5" fmla="*/ 297572 w 437541"/>
              <a:gd name="connsiteY5" fmla="*/ 209954 h 279938"/>
              <a:gd name="connsiteX6" fmla="*/ 0 w 437541"/>
              <a:gd name="connsiteY6" fmla="*/ 209954 h 279938"/>
              <a:gd name="connsiteX7" fmla="*/ 0 w 437541"/>
              <a:gd name="connsiteY7" fmla="*/ 69985 h 279938"/>
              <a:gd name="connsiteX0-1" fmla="*/ 0 w 439921"/>
              <a:gd name="connsiteY0-2" fmla="*/ 24741 h 279938"/>
              <a:gd name="connsiteX1-3" fmla="*/ 299952 w 439921"/>
              <a:gd name="connsiteY1-4" fmla="*/ 69985 h 279938"/>
              <a:gd name="connsiteX2-5" fmla="*/ 299952 w 439921"/>
              <a:gd name="connsiteY2-6" fmla="*/ 0 h 279938"/>
              <a:gd name="connsiteX3-7" fmla="*/ 439921 w 439921"/>
              <a:gd name="connsiteY3-8" fmla="*/ 139969 h 279938"/>
              <a:gd name="connsiteX4-9" fmla="*/ 299952 w 439921"/>
              <a:gd name="connsiteY4-10" fmla="*/ 279938 h 279938"/>
              <a:gd name="connsiteX5-11" fmla="*/ 299952 w 439921"/>
              <a:gd name="connsiteY5-12" fmla="*/ 209954 h 279938"/>
              <a:gd name="connsiteX6-13" fmla="*/ 2380 w 439921"/>
              <a:gd name="connsiteY6-14" fmla="*/ 209954 h 279938"/>
              <a:gd name="connsiteX7-15" fmla="*/ 0 w 439921"/>
              <a:gd name="connsiteY7-16" fmla="*/ 24741 h 279938"/>
              <a:gd name="connsiteX0-17" fmla="*/ 0 w 439921"/>
              <a:gd name="connsiteY0-18" fmla="*/ 24741 h 279938"/>
              <a:gd name="connsiteX1-19" fmla="*/ 299952 w 439921"/>
              <a:gd name="connsiteY1-20" fmla="*/ 69985 h 279938"/>
              <a:gd name="connsiteX2-21" fmla="*/ 299952 w 439921"/>
              <a:gd name="connsiteY2-22" fmla="*/ 0 h 279938"/>
              <a:gd name="connsiteX3-23" fmla="*/ 439921 w 439921"/>
              <a:gd name="connsiteY3-24" fmla="*/ 139969 h 279938"/>
              <a:gd name="connsiteX4-25" fmla="*/ 299952 w 439921"/>
              <a:gd name="connsiteY4-26" fmla="*/ 279938 h 279938"/>
              <a:gd name="connsiteX5-27" fmla="*/ 299952 w 439921"/>
              <a:gd name="connsiteY5-28" fmla="*/ 209954 h 279938"/>
              <a:gd name="connsiteX6-29" fmla="*/ 7146 w 439921"/>
              <a:gd name="connsiteY6-30" fmla="*/ 250435 h 279938"/>
              <a:gd name="connsiteX7-31" fmla="*/ 0 w 439921"/>
              <a:gd name="connsiteY7-32" fmla="*/ 24741 h 279938"/>
              <a:gd name="connsiteX0-33" fmla="*/ 0 w 439921"/>
              <a:gd name="connsiteY0-34" fmla="*/ 24741 h 279938"/>
              <a:gd name="connsiteX1-35" fmla="*/ 299952 w 439921"/>
              <a:gd name="connsiteY1-36" fmla="*/ 69985 h 279938"/>
              <a:gd name="connsiteX2-37" fmla="*/ 299952 w 439921"/>
              <a:gd name="connsiteY2-38" fmla="*/ 0 h 279938"/>
              <a:gd name="connsiteX3-39" fmla="*/ 439921 w 439921"/>
              <a:gd name="connsiteY3-40" fmla="*/ 139969 h 279938"/>
              <a:gd name="connsiteX4-41" fmla="*/ 299952 w 439921"/>
              <a:gd name="connsiteY4-42" fmla="*/ 279938 h 279938"/>
              <a:gd name="connsiteX5-43" fmla="*/ 299952 w 439921"/>
              <a:gd name="connsiteY5-44" fmla="*/ 209954 h 279938"/>
              <a:gd name="connsiteX6-45" fmla="*/ 7146 w 439921"/>
              <a:gd name="connsiteY6-46" fmla="*/ 250435 h 279938"/>
              <a:gd name="connsiteX7-47" fmla="*/ 0 w 439921"/>
              <a:gd name="connsiteY7-48" fmla="*/ 24741 h 279938"/>
              <a:gd name="connsiteX0-49" fmla="*/ 0 w 439921"/>
              <a:gd name="connsiteY0-50" fmla="*/ 24741 h 279938"/>
              <a:gd name="connsiteX1-51" fmla="*/ 299952 w 439921"/>
              <a:gd name="connsiteY1-52" fmla="*/ 69985 h 279938"/>
              <a:gd name="connsiteX2-53" fmla="*/ 299952 w 439921"/>
              <a:gd name="connsiteY2-54" fmla="*/ 0 h 279938"/>
              <a:gd name="connsiteX3-55" fmla="*/ 439921 w 439921"/>
              <a:gd name="connsiteY3-56" fmla="*/ 139969 h 279938"/>
              <a:gd name="connsiteX4-57" fmla="*/ 299952 w 439921"/>
              <a:gd name="connsiteY4-58" fmla="*/ 279938 h 279938"/>
              <a:gd name="connsiteX5-59" fmla="*/ 299952 w 439921"/>
              <a:gd name="connsiteY5-60" fmla="*/ 209954 h 279938"/>
              <a:gd name="connsiteX6-61" fmla="*/ 7146 w 439921"/>
              <a:gd name="connsiteY6-62" fmla="*/ 250435 h 279938"/>
              <a:gd name="connsiteX7-63" fmla="*/ 0 w 439921"/>
              <a:gd name="connsiteY7-64" fmla="*/ 24741 h 279938"/>
              <a:gd name="connsiteX0-65" fmla="*/ 0 w 439921"/>
              <a:gd name="connsiteY0-66" fmla="*/ 24741 h 279938"/>
              <a:gd name="connsiteX1-67" fmla="*/ 299952 w 439921"/>
              <a:gd name="connsiteY1-68" fmla="*/ 69985 h 279938"/>
              <a:gd name="connsiteX2-69" fmla="*/ 299952 w 439921"/>
              <a:gd name="connsiteY2-70" fmla="*/ 0 h 279938"/>
              <a:gd name="connsiteX3-71" fmla="*/ 439921 w 439921"/>
              <a:gd name="connsiteY3-72" fmla="*/ 139969 h 279938"/>
              <a:gd name="connsiteX4-73" fmla="*/ 299952 w 439921"/>
              <a:gd name="connsiteY4-74" fmla="*/ 279938 h 279938"/>
              <a:gd name="connsiteX5-75" fmla="*/ 299952 w 439921"/>
              <a:gd name="connsiteY5-76" fmla="*/ 209954 h 279938"/>
              <a:gd name="connsiteX6-77" fmla="*/ 7146 w 439921"/>
              <a:gd name="connsiteY6-78" fmla="*/ 250435 h 279938"/>
              <a:gd name="connsiteX7-79" fmla="*/ 0 w 439921"/>
              <a:gd name="connsiteY7-80" fmla="*/ 24741 h 279938"/>
              <a:gd name="connsiteX0-81" fmla="*/ 0 w 439921"/>
              <a:gd name="connsiteY0-82" fmla="*/ 24741 h 279938"/>
              <a:gd name="connsiteX1-83" fmla="*/ 299952 w 439921"/>
              <a:gd name="connsiteY1-84" fmla="*/ 69985 h 279938"/>
              <a:gd name="connsiteX2-85" fmla="*/ 299952 w 439921"/>
              <a:gd name="connsiteY2-86" fmla="*/ 0 h 279938"/>
              <a:gd name="connsiteX3-87" fmla="*/ 439921 w 439921"/>
              <a:gd name="connsiteY3-88" fmla="*/ 139969 h 279938"/>
              <a:gd name="connsiteX4-89" fmla="*/ 299952 w 439921"/>
              <a:gd name="connsiteY4-90" fmla="*/ 279938 h 279938"/>
              <a:gd name="connsiteX5-91" fmla="*/ 299952 w 439921"/>
              <a:gd name="connsiteY5-92" fmla="*/ 209954 h 279938"/>
              <a:gd name="connsiteX6-93" fmla="*/ 7146 w 439921"/>
              <a:gd name="connsiteY6-94" fmla="*/ 250435 h 279938"/>
              <a:gd name="connsiteX7-95" fmla="*/ 0 w 439921"/>
              <a:gd name="connsiteY7-96" fmla="*/ 24741 h 279938"/>
              <a:gd name="connsiteX0-97" fmla="*/ 0 w 437537"/>
              <a:gd name="connsiteY0-98" fmla="*/ 0 h 340923"/>
              <a:gd name="connsiteX1-99" fmla="*/ 297568 w 437537"/>
              <a:gd name="connsiteY1-100" fmla="*/ 130970 h 340923"/>
              <a:gd name="connsiteX2-101" fmla="*/ 297568 w 437537"/>
              <a:gd name="connsiteY2-102" fmla="*/ 60985 h 340923"/>
              <a:gd name="connsiteX3-103" fmla="*/ 437537 w 437537"/>
              <a:gd name="connsiteY3-104" fmla="*/ 200954 h 340923"/>
              <a:gd name="connsiteX4-105" fmla="*/ 297568 w 437537"/>
              <a:gd name="connsiteY4-106" fmla="*/ 340923 h 340923"/>
              <a:gd name="connsiteX5-107" fmla="*/ 297568 w 437537"/>
              <a:gd name="connsiteY5-108" fmla="*/ 270939 h 340923"/>
              <a:gd name="connsiteX6-109" fmla="*/ 4762 w 437537"/>
              <a:gd name="connsiteY6-110" fmla="*/ 311420 h 340923"/>
              <a:gd name="connsiteX7-111" fmla="*/ 0 w 437537"/>
              <a:gd name="connsiteY7-112" fmla="*/ 0 h 340923"/>
              <a:gd name="connsiteX0-113" fmla="*/ 0 w 437537"/>
              <a:gd name="connsiteY0-114" fmla="*/ 0 h 368570"/>
              <a:gd name="connsiteX1-115" fmla="*/ 297568 w 437537"/>
              <a:gd name="connsiteY1-116" fmla="*/ 130970 h 368570"/>
              <a:gd name="connsiteX2-117" fmla="*/ 297568 w 437537"/>
              <a:gd name="connsiteY2-118" fmla="*/ 60985 h 368570"/>
              <a:gd name="connsiteX3-119" fmla="*/ 437537 w 437537"/>
              <a:gd name="connsiteY3-120" fmla="*/ 200954 h 368570"/>
              <a:gd name="connsiteX4-121" fmla="*/ 297568 w 437537"/>
              <a:gd name="connsiteY4-122" fmla="*/ 340923 h 368570"/>
              <a:gd name="connsiteX5-123" fmla="*/ 297568 w 437537"/>
              <a:gd name="connsiteY5-124" fmla="*/ 270939 h 368570"/>
              <a:gd name="connsiteX6-125" fmla="*/ 9525 w 437537"/>
              <a:gd name="connsiteY6-126" fmla="*/ 368570 h 368570"/>
              <a:gd name="connsiteX7-127" fmla="*/ 0 w 437537"/>
              <a:gd name="connsiteY7-128" fmla="*/ 0 h 368570"/>
              <a:gd name="connsiteX0-129" fmla="*/ 0 w 437537"/>
              <a:gd name="connsiteY0-130" fmla="*/ 0 h 368570"/>
              <a:gd name="connsiteX1-131" fmla="*/ 297568 w 437537"/>
              <a:gd name="connsiteY1-132" fmla="*/ 130970 h 368570"/>
              <a:gd name="connsiteX2-133" fmla="*/ 297568 w 437537"/>
              <a:gd name="connsiteY2-134" fmla="*/ 60985 h 368570"/>
              <a:gd name="connsiteX3-135" fmla="*/ 437537 w 437537"/>
              <a:gd name="connsiteY3-136" fmla="*/ 200954 h 368570"/>
              <a:gd name="connsiteX4-137" fmla="*/ 297568 w 437537"/>
              <a:gd name="connsiteY4-138" fmla="*/ 340923 h 368570"/>
              <a:gd name="connsiteX5-139" fmla="*/ 297568 w 437537"/>
              <a:gd name="connsiteY5-140" fmla="*/ 270939 h 368570"/>
              <a:gd name="connsiteX6-141" fmla="*/ 9525 w 437537"/>
              <a:gd name="connsiteY6-142" fmla="*/ 368570 h 368570"/>
              <a:gd name="connsiteX7-143" fmla="*/ 0 w 437537"/>
              <a:gd name="connsiteY7-144" fmla="*/ 0 h 368570"/>
              <a:gd name="connsiteX0-145" fmla="*/ 0 w 437537"/>
              <a:gd name="connsiteY0-146" fmla="*/ 0 h 368570"/>
              <a:gd name="connsiteX1-147" fmla="*/ 297568 w 437537"/>
              <a:gd name="connsiteY1-148" fmla="*/ 130970 h 368570"/>
              <a:gd name="connsiteX2-149" fmla="*/ 297568 w 437537"/>
              <a:gd name="connsiteY2-150" fmla="*/ 60985 h 368570"/>
              <a:gd name="connsiteX3-151" fmla="*/ 437537 w 437537"/>
              <a:gd name="connsiteY3-152" fmla="*/ 200954 h 368570"/>
              <a:gd name="connsiteX4-153" fmla="*/ 297568 w 437537"/>
              <a:gd name="connsiteY4-154" fmla="*/ 340923 h 368570"/>
              <a:gd name="connsiteX5-155" fmla="*/ 297568 w 437537"/>
              <a:gd name="connsiteY5-156" fmla="*/ 270939 h 368570"/>
              <a:gd name="connsiteX6-157" fmla="*/ 9525 w 437537"/>
              <a:gd name="connsiteY6-158" fmla="*/ 368570 h 368570"/>
              <a:gd name="connsiteX7-159" fmla="*/ 0 w 437537"/>
              <a:gd name="connsiteY7-160" fmla="*/ 0 h 368570"/>
              <a:gd name="connsiteX0-161" fmla="*/ 0 w 437537"/>
              <a:gd name="connsiteY0-162" fmla="*/ 0 h 368570"/>
              <a:gd name="connsiteX1-163" fmla="*/ 297568 w 437537"/>
              <a:gd name="connsiteY1-164" fmla="*/ 130970 h 368570"/>
              <a:gd name="connsiteX2-165" fmla="*/ 297568 w 437537"/>
              <a:gd name="connsiteY2-166" fmla="*/ 60985 h 368570"/>
              <a:gd name="connsiteX3-167" fmla="*/ 437537 w 437537"/>
              <a:gd name="connsiteY3-168" fmla="*/ 200954 h 368570"/>
              <a:gd name="connsiteX4-169" fmla="*/ 297568 w 437537"/>
              <a:gd name="connsiteY4-170" fmla="*/ 340923 h 368570"/>
              <a:gd name="connsiteX5-171" fmla="*/ 297568 w 437537"/>
              <a:gd name="connsiteY5-172" fmla="*/ 270939 h 368570"/>
              <a:gd name="connsiteX6-173" fmla="*/ 9525 w 437537"/>
              <a:gd name="connsiteY6-174" fmla="*/ 368570 h 368570"/>
              <a:gd name="connsiteX7-175" fmla="*/ 0 w 437537"/>
              <a:gd name="connsiteY7-176" fmla="*/ 0 h 368570"/>
              <a:gd name="connsiteX0-177" fmla="*/ 0 w 437537"/>
              <a:gd name="connsiteY0-178" fmla="*/ 0 h 368570"/>
              <a:gd name="connsiteX1-179" fmla="*/ 297568 w 437537"/>
              <a:gd name="connsiteY1-180" fmla="*/ 130970 h 368570"/>
              <a:gd name="connsiteX2-181" fmla="*/ 297568 w 437537"/>
              <a:gd name="connsiteY2-182" fmla="*/ 60985 h 368570"/>
              <a:gd name="connsiteX3-183" fmla="*/ 437537 w 437537"/>
              <a:gd name="connsiteY3-184" fmla="*/ 200954 h 368570"/>
              <a:gd name="connsiteX4-185" fmla="*/ 297568 w 437537"/>
              <a:gd name="connsiteY4-186" fmla="*/ 340923 h 368570"/>
              <a:gd name="connsiteX5-187" fmla="*/ 297568 w 437537"/>
              <a:gd name="connsiteY5-188" fmla="*/ 270939 h 368570"/>
              <a:gd name="connsiteX6-189" fmla="*/ 9525 w 437537"/>
              <a:gd name="connsiteY6-190" fmla="*/ 368570 h 368570"/>
              <a:gd name="connsiteX7-191" fmla="*/ 0 w 437537"/>
              <a:gd name="connsiteY7-192" fmla="*/ 0 h 368570"/>
              <a:gd name="connsiteX0-193" fmla="*/ 0 w 430390"/>
              <a:gd name="connsiteY0-194" fmla="*/ 0 h 361426"/>
              <a:gd name="connsiteX1-195" fmla="*/ 290421 w 430390"/>
              <a:gd name="connsiteY1-196" fmla="*/ 123826 h 361426"/>
              <a:gd name="connsiteX2-197" fmla="*/ 290421 w 430390"/>
              <a:gd name="connsiteY2-198" fmla="*/ 53841 h 361426"/>
              <a:gd name="connsiteX3-199" fmla="*/ 430390 w 430390"/>
              <a:gd name="connsiteY3-200" fmla="*/ 193810 h 361426"/>
              <a:gd name="connsiteX4-201" fmla="*/ 290421 w 430390"/>
              <a:gd name="connsiteY4-202" fmla="*/ 333779 h 361426"/>
              <a:gd name="connsiteX5-203" fmla="*/ 290421 w 430390"/>
              <a:gd name="connsiteY5-204" fmla="*/ 263795 h 361426"/>
              <a:gd name="connsiteX6-205" fmla="*/ 2378 w 430390"/>
              <a:gd name="connsiteY6-206" fmla="*/ 361426 h 361426"/>
              <a:gd name="connsiteX7-207" fmla="*/ 0 w 430390"/>
              <a:gd name="connsiteY7-208" fmla="*/ 0 h 361426"/>
              <a:gd name="connsiteX0-209" fmla="*/ 0 w 430390"/>
              <a:gd name="connsiteY0-210" fmla="*/ 0 h 378095"/>
              <a:gd name="connsiteX1-211" fmla="*/ 290421 w 430390"/>
              <a:gd name="connsiteY1-212" fmla="*/ 123826 h 378095"/>
              <a:gd name="connsiteX2-213" fmla="*/ 290421 w 430390"/>
              <a:gd name="connsiteY2-214" fmla="*/ 53841 h 378095"/>
              <a:gd name="connsiteX3-215" fmla="*/ 430390 w 430390"/>
              <a:gd name="connsiteY3-216" fmla="*/ 193810 h 378095"/>
              <a:gd name="connsiteX4-217" fmla="*/ 290421 w 430390"/>
              <a:gd name="connsiteY4-218" fmla="*/ 333779 h 378095"/>
              <a:gd name="connsiteX5-219" fmla="*/ 290421 w 430390"/>
              <a:gd name="connsiteY5-220" fmla="*/ 263795 h 378095"/>
              <a:gd name="connsiteX6-221" fmla="*/ 2378 w 430390"/>
              <a:gd name="connsiteY6-222" fmla="*/ 378095 h 378095"/>
              <a:gd name="connsiteX7-223" fmla="*/ 0 w 430390"/>
              <a:gd name="connsiteY7-224" fmla="*/ 0 h 378095"/>
              <a:gd name="connsiteX0-225" fmla="*/ 0 w 430387"/>
              <a:gd name="connsiteY0-226" fmla="*/ 0 h 385240"/>
              <a:gd name="connsiteX1-227" fmla="*/ 290418 w 430387"/>
              <a:gd name="connsiteY1-228" fmla="*/ 130971 h 385240"/>
              <a:gd name="connsiteX2-229" fmla="*/ 290418 w 430387"/>
              <a:gd name="connsiteY2-230" fmla="*/ 60986 h 385240"/>
              <a:gd name="connsiteX3-231" fmla="*/ 430387 w 430387"/>
              <a:gd name="connsiteY3-232" fmla="*/ 200955 h 385240"/>
              <a:gd name="connsiteX4-233" fmla="*/ 290418 w 430387"/>
              <a:gd name="connsiteY4-234" fmla="*/ 340924 h 385240"/>
              <a:gd name="connsiteX5-235" fmla="*/ 290418 w 430387"/>
              <a:gd name="connsiteY5-236" fmla="*/ 270940 h 385240"/>
              <a:gd name="connsiteX6-237" fmla="*/ 2375 w 430387"/>
              <a:gd name="connsiteY6-238" fmla="*/ 385240 h 385240"/>
              <a:gd name="connsiteX7-239" fmla="*/ 0 w 430387"/>
              <a:gd name="connsiteY7-240" fmla="*/ 0 h 385240"/>
              <a:gd name="connsiteX0-241" fmla="*/ 0 w 430387"/>
              <a:gd name="connsiteY0-242" fmla="*/ 0 h 392384"/>
              <a:gd name="connsiteX1-243" fmla="*/ 290418 w 430387"/>
              <a:gd name="connsiteY1-244" fmla="*/ 130971 h 392384"/>
              <a:gd name="connsiteX2-245" fmla="*/ 290418 w 430387"/>
              <a:gd name="connsiteY2-246" fmla="*/ 60986 h 392384"/>
              <a:gd name="connsiteX3-247" fmla="*/ 430387 w 430387"/>
              <a:gd name="connsiteY3-248" fmla="*/ 200955 h 392384"/>
              <a:gd name="connsiteX4-249" fmla="*/ 290418 w 430387"/>
              <a:gd name="connsiteY4-250" fmla="*/ 340924 h 392384"/>
              <a:gd name="connsiteX5-251" fmla="*/ 290418 w 430387"/>
              <a:gd name="connsiteY5-252" fmla="*/ 270940 h 392384"/>
              <a:gd name="connsiteX6-253" fmla="*/ 2378 w 430387"/>
              <a:gd name="connsiteY6-254" fmla="*/ 392384 h 392384"/>
              <a:gd name="connsiteX7-255" fmla="*/ 0 w 430387"/>
              <a:gd name="connsiteY7-256" fmla="*/ 0 h 392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30387" h="392384">
                <a:moveTo>
                  <a:pt x="0" y="0"/>
                </a:moveTo>
                <a:cubicBezTo>
                  <a:pt x="88083" y="86518"/>
                  <a:pt x="180914" y="113509"/>
                  <a:pt x="290418" y="130971"/>
                </a:cubicBezTo>
                <a:lnTo>
                  <a:pt x="290418" y="60986"/>
                </a:lnTo>
                <a:lnTo>
                  <a:pt x="430387" y="200955"/>
                </a:lnTo>
                <a:lnTo>
                  <a:pt x="290418" y="340924"/>
                </a:lnTo>
                <a:lnTo>
                  <a:pt x="290418" y="270940"/>
                </a:lnTo>
                <a:cubicBezTo>
                  <a:pt x="180916" y="289196"/>
                  <a:pt x="80936" y="324121"/>
                  <a:pt x="2378" y="392384"/>
                </a:cubicBezTo>
                <a:cubicBezTo>
                  <a:pt x="1585" y="330646"/>
                  <a:pt x="793" y="6173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箭头: 右 302"/>
          <p:cNvSpPr/>
          <p:nvPr/>
        </p:nvSpPr>
        <p:spPr>
          <a:xfrm rot="16200000" flipV="1">
            <a:off x="8107406" y="2554060"/>
            <a:ext cx="178822" cy="493487"/>
          </a:xfrm>
          <a:custGeom>
            <a:avLst/>
            <a:gdLst>
              <a:gd name="connsiteX0" fmla="*/ 0 w 437541"/>
              <a:gd name="connsiteY0" fmla="*/ 69985 h 279938"/>
              <a:gd name="connsiteX1" fmla="*/ 297572 w 437541"/>
              <a:gd name="connsiteY1" fmla="*/ 69985 h 279938"/>
              <a:gd name="connsiteX2" fmla="*/ 297572 w 437541"/>
              <a:gd name="connsiteY2" fmla="*/ 0 h 279938"/>
              <a:gd name="connsiteX3" fmla="*/ 437541 w 437541"/>
              <a:gd name="connsiteY3" fmla="*/ 139969 h 279938"/>
              <a:gd name="connsiteX4" fmla="*/ 297572 w 437541"/>
              <a:gd name="connsiteY4" fmla="*/ 279938 h 279938"/>
              <a:gd name="connsiteX5" fmla="*/ 297572 w 437541"/>
              <a:gd name="connsiteY5" fmla="*/ 209954 h 279938"/>
              <a:gd name="connsiteX6" fmla="*/ 0 w 437541"/>
              <a:gd name="connsiteY6" fmla="*/ 209954 h 279938"/>
              <a:gd name="connsiteX7" fmla="*/ 0 w 437541"/>
              <a:gd name="connsiteY7" fmla="*/ 69985 h 279938"/>
              <a:gd name="connsiteX0-1" fmla="*/ 0 w 439921"/>
              <a:gd name="connsiteY0-2" fmla="*/ 24741 h 279938"/>
              <a:gd name="connsiteX1-3" fmla="*/ 299952 w 439921"/>
              <a:gd name="connsiteY1-4" fmla="*/ 69985 h 279938"/>
              <a:gd name="connsiteX2-5" fmla="*/ 299952 w 439921"/>
              <a:gd name="connsiteY2-6" fmla="*/ 0 h 279938"/>
              <a:gd name="connsiteX3-7" fmla="*/ 439921 w 439921"/>
              <a:gd name="connsiteY3-8" fmla="*/ 139969 h 279938"/>
              <a:gd name="connsiteX4-9" fmla="*/ 299952 w 439921"/>
              <a:gd name="connsiteY4-10" fmla="*/ 279938 h 279938"/>
              <a:gd name="connsiteX5-11" fmla="*/ 299952 w 439921"/>
              <a:gd name="connsiteY5-12" fmla="*/ 209954 h 279938"/>
              <a:gd name="connsiteX6-13" fmla="*/ 2380 w 439921"/>
              <a:gd name="connsiteY6-14" fmla="*/ 209954 h 279938"/>
              <a:gd name="connsiteX7-15" fmla="*/ 0 w 439921"/>
              <a:gd name="connsiteY7-16" fmla="*/ 24741 h 279938"/>
              <a:gd name="connsiteX0-17" fmla="*/ 0 w 439921"/>
              <a:gd name="connsiteY0-18" fmla="*/ 24741 h 279938"/>
              <a:gd name="connsiteX1-19" fmla="*/ 299952 w 439921"/>
              <a:gd name="connsiteY1-20" fmla="*/ 69985 h 279938"/>
              <a:gd name="connsiteX2-21" fmla="*/ 299952 w 439921"/>
              <a:gd name="connsiteY2-22" fmla="*/ 0 h 279938"/>
              <a:gd name="connsiteX3-23" fmla="*/ 439921 w 439921"/>
              <a:gd name="connsiteY3-24" fmla="*/ 139969 h 279938"/>
              <a:gd name="connsiteX4-25" fmla="*/ 299952 w 439921"/>
              <a:gd name="connsiteY4-26" fmla="*/ 279938 h 279938"/>
              <a:gd name="connsiteX5-27" fmla="*/ 299952 w 439921"/>
              <a:gd name="connsiteY5-28" fmla="*/ 209954 h 279938"/>
              <a:gd name="connsiteX6-29" fmla="*/ 7146 w 439921"/>
              <a:gd name="connsiteY6-30" fmla="*/ 250435 h 279938"/>
              <a:gd name="connsiteX7-31" fmla="*/ 0 w 439921"/>
              <a:gd name="connsiteY7-32" fmla="*/ 24741 h 279938"/>
              <a:gd name="connsiteX0-33" fmla="*/ 0 w 439921"/>
              <a:gd name="connsiteY0-34" fmla="*/ 24741 h 279938"/>
              <a:gd name="connsiteX1-35" fmla="*/ 299952 w 439921"/>
              <a:gd name="connsiteY1-36" fmla="*/ 69985 h 279938"/>
              <a:gd name="connsiteX2-37" fmla="*/ 299952 w 439921"/>
              <a:gd name="connsiteY2-38" fmla="*/ 0 h 279938"/>
              <a:gd name="connsiteX3-39" fmla="*/ 439921 w 439921"/>
              <a:gd name="connsiteY3-40" fmla="*/ 139969 h 279938"/>
              <a:gd name="connsiteX4-41" fmla="*/ 299952 w 439921"/>
              <a:gd name="connsiteY4-42" fmla="*/ 279938 h 279938"/>
              <a:gd name="connsiteX5-43" fmla="*/ 299952 w 439921"/>
              <a:gd name="connsiteY5-44" fmla="*/ 209954 h 279938"/>
              <a:gd name="connsiteX6-45" fmla="*/ 7146 w 439921"/>
              <a:gd name="connsiteY6-46" fmla="*/ 250435 h 279938"/>
              <a:gd name="connsiteX7-47" fmla="*/ 0 w 439921"/>
              <a:gd name="connsiteY7-48" fmla="*/ 24741 h 279938"/>
              <a:gd name="connsiteX0-49" fmla="*/ 0 w 439921"/>
              <a:gd name="connsiteY0-50" fmla="*/ 24741 h 279938"/>
              <a:gd name="connsiteX1-51" fmla="*/ 299952 w 439921"/>
              <a:gd name="connsiteY1-52" fmla="*/ 69985 h 279938"/>
              <a:gd name="connsiteX2-53" fmla="*/ 299952 w 439921"/>
              <a:gd name="connsiteY2-54" fmla="*/ 0 h 279938"/>
              <a:gd name="connsiteX3-55" fmla="*/ 439921 w 439921"/>
              <a:gd name="connsiteY3-56" fmla="*/ 139969 h 279938"/>
              <a:gd name="connsiteX4-57" fmla="*/ 299952 w 439921"/>
              <a:gd name="connsiteY4-58" fmla="*/ 279938 h 279938"/>
              <a:gd name="connsiteX5-59" fmla="*/ 299952 w 439921"/>
              <a:gd name="connsiteY5-60" fmla="*/ 209954 h 279938"/>
              <a:gd name="connsiteX6-61" fmla="*/ 7146 w 439921"/>
              <a:gd name="connsiteY6-62" fmla="*/ 250435 h 279938"/>
              <a:gd name="connsiteX7-63" fmla="*/ 0 w 439921"/>
              <a:gd name="connsiteY7-64" fmla="*/ 24741 h 279938"/>
              <a:gd name="connsiteX0-65" fmla="*/ 0 w 439921"/>
              <a:gd name="connsiteY0-66" fmla="*/ 24741 h 279938"/>
              <a:gd name="connsiteX1-67" fmla="*/ 299952 w 439921"/>
              <a:gd name="connsiteY1-68" fmla="*/ 69985 h 279938"/>
              <a:gd name="connsiteX2-69" fmla="*/ 299952 w 439921"/>
              <a:gd name="connsiteY2-70" fmla="*/ 0 h 279938"/>
              <a:gd name="connsiteX3-71" fmla="*/ 439921 w 439921"/>
              <a:gd name="connsiteY3-72" fmla="*/ 139969 h 279938"/>
              <a:gd name="connsiteX4-73" fmla="*/ 299952 w 439921"/>
              <a:gd name="connsiteY4-74" fmla="*/ 279938 h 279938"/>
              <a:gd name="connsiteX5-75" fmla="*/ 299952 w 439921"/>
              <a:gd name="connsiteY5-76" fmla="*/ 209954 h 279938"/>
              <a:gd name="connsiteX6-77" fmla="*/ 7146 w 439921"/>
              <a:gd name="connsiteY6-78" fmla="*/ 250435 h 279938"/>
              <a:gd name="connsiteX7-79" fmla="*/ 0 w 439921"/>
              <a:gd name="connsiteY7-80" fmla="*/ 24741 h 279938"/>
              <a:gd name="connsiteX0-81" fmla="*/ 0 w 439921"/>
              <a:gd name="connsiteY0-82" fmla="*/ 24741 h 279938"/>
              <a:gd name="connsiteX1-83" fmla="*/ 299952 w 439921"/>
              <a:gd name="connsiteY1-84" fmla="*/ 69985 h 279938"/>
              <a:gd name="connsiteX2-85" fmla="*/ 299952 w 439921"/>
              <a:gd name="connsiteY2-86" fmla="*/ 0 h 279938"/>
              <a:gd name="connsiteX3-87" fmla="*/ 439921 w 439921"/>
              <a:gd name="connsiteY3-88" fmla="*/ 139969 h 279938"/>
              <a:gd name="connsiteX4-89" fmla="*/ 299952 w 439921"/>
              <a:gd name="connsiteY4-90" fmla="*/ 279938 h 279938"/>
              <a:gd name="connsiteX5-91" fmla="*/ 299952 w 439921"/>
              <a:gd name="connsiteY5-92" fmla="*/ 209954 h 279938"/>
              <a:gd name="connsiteX6-93" fmla="*/ 7146 w 439921"/>
              <a:gd name="connsiteY6-94" fmla="*/ 250435 h 279938"/>
              <a:gd name="connsiteX7-95" fmla="*/ 0 w 439921"/>
              <a:gd name="connsiteY7-96" fmla="*/ 24741 h 279938"/>
              <a:gd name="connsiteX0-97" fmla="*/ 0 w 437537"/>
              <a:gd name="connsiteY0-98" fmla="*/ 0 h 340923"/>
              <a:gd name="connsiteX1-99" fmla="*/ 297568 w 437537"/>
              <a:gd name="connsiteY1-100" fmla="*/ 130970 h 340923"/>
              <a:gd name="connsiteX2-101" fmla="*/ 297568 w 437537"/>
              <a:gd name="connsiteY2-102" fmla="*/ 60985 h 340923"/>
              <a:gd name="connsiteX3-103" fmla="*/ 437537 w 437537"/>
              <a:gd name="connsiteY3-104" fmla="*/ 200954 h 340923"/>
              <a:gd name="connsiteX4-105" fmla="*/ 297568 w 437537"/>
              <a:gd name="connsiteY4-106" fmla="*/ 340923 h 340923"/>
              <a:gd name="connsiteX5-107" fmla="*/ 297568 w 437537"/>
              <a:gd name="connsiteY5-108" fmla="*/ 270939 h 340923"/>
              <a:gd name="connsiteX6-109" fmla="*/ 4762 w 437537"/>
              <a:gd name="connsiteY6-110" fmla="*/ 311420 h 340923"/>
              <a:gd name="connsiteX7-111" fmla="*/ 0 w 437537"/>
              <a:gd name="connsiteY7-112" fmla="*/ 0 h 340923"/>
              <a:gd name="connsiteX0-113" fmla="*/ 0 w 437537"/>
              <a:gd name="connsiteY0-114" fmla="*/ 0 h 368570"/>
              <a:gd name="connsiteX1-115" fmla="*/ 297568 w 437537"/>
              <a:gd name="connsiteY1-116" fmla="*/ 130970 h 368570"/>
              <a:gd name="connsiteX2-117" fmla="*/ 297568 w 437537"/>
              <a:gd name="connsiteY2-118" fmla="*/ 60985 h 368570"/>
              <a:gd name="connsiteX3-119" fmla="*/ 437537 w 437537"/>
              <a:gd name="connsiteY3-120" fmla="*/ 200954 h 368570"/>
              <a:gd name="connsiteX4-121" fmla="*/ 297568 w 437537"/>
              <a:gd name="connsiteY4-122" fmla="*/ 340923 h 368570"/>
              <a:gd name="connsiteX5-123" fmla="*/ 297568 w 437537"/>
              <a:gd name="connsiteY5-124" fmla="*/ 270939 h 368570"/>
              <a:gd name="connsiteX6-125" fmla="*/ 9525 w 437537"/>
              <a:gd name="connsiteY6-126" fmla="*/ 368570 h 368570"/>
              <a:gd name="connsiteX7-127" fmla="*/ 0 w 437537"/>
              <a:gd name="connsiteY7-128" fmla="*/ 0 h 368570"/>
              <a:gd name="connsiteX0-129" fmla="*/ 0 w 437537"/>
              <a:gd name="connsiteY0-130" fmla="*/ 0 h 368570"/>
              <a:gd name="connsiteX1-131" fmla="*/ 297568 w 437537"/>
              <a:gd name="connsiteY1-132" fmla="*/ 130970 h 368570"/>
              <a:gd name="connsiteX2-133" fmla="*/ 297568 w 437537"/>
              <a:gd name="connsiteY2-134" fmla="*/ 60985 h 368570"/>
              <a:gd name="connsiteX3-135" fmla="*/ 437537 w 437537"/>
              <a:gd name="connsiteY3-136" fmla="*/ 200954 h 368570"/>
              <a:gd name="connsiteX4-137" fmla="*/ 297568 w 437537"/>
              <a:gd name="connsiteY4-138" fmla="*/ 340923 h 368570"/>
              <a:gd name="connsiteX5-139" fmla="*/ 297568 w 437537"/>
              <a:gd name="connsiteY5-140" fmla="*/ 270939 h 368570"/>
              <a:gd name="connsiteX6-141" fmla="*/ 9525 w 437537"/>
              <a:gd name="connsiteY6-142" fmla="*/ 368570 h 368570"/>
              <a:gd name="connsiteX7-143" fmla="*/ 0 w 437537"/>
              <a:gd name="connsiteY7-144" fmla="*/ 0 h 368570"/>
              <a:gd name="connsiteX0-145" fmla="*/ 0 w 437537"/>
              <a:gd name="connsiteY0-146" fmla="*/ 0 h 368570"/>
              <a:gd name="connsiteX1-147" fmla="*/ 297568 w 437537"/>
              <a:gd name="connsiteY1-148" fmla="*/ 130970 h 368570"/>
              <a:gd name="connsiteX2-149" fmla="*/ 297568 w 437537"/>
              <a:gd name="connsiteY2-150" fmla="*/ 60985 h 368570"/>
              <a:gd name="connsiteX3-151" fmla="*/ 437537 w 437537"/>
              <a:gd name="connsiteY3-152" fmla="*/ 200954 h 368570"/>
              <a:gd name="connsiteX4-153" fmla="*/ 297568 w 437537"/>
              <a:gd name="connsiteY4-154" fmla="*/ 340923 h 368570"/>
              <a:gd name="connsiteX5-155" fmla="*/ 297568 w 437537"/>
              <a:gd name="connsiteY5-156" fmla="*/ 270939 h 368570"/>
              <a:gd name="connsiteX6-157" fmla="*/ 9525 w 437537"/>
              <a:gd name="connsiteY6-158" fmla="*/ 368570 h 368570"/>
              <a:gd name="connsiteX7-159" fmla="*/ 0 w 437537"/>
              <a:gd name="connsiteY7-160" fmla="*/ 0 h 368570"/>
              <a:gd name="connsiteX0-161" fmla="*/ 0 w 437537"/>
              <a:gd name="connsiteY0-162" fmla="*/ 0 h 368570"/>
              <a:gd name="connsiteX1-163" fmla="*/ 297568 w 437537"/>
              <a:gd name="connsiteY1-164" fmla="*/ 130970 h 368570"/>
              <a:gd name="connsiteX2-165" fmla="*/ 297568 w 437537"/>
              <a:gd name="connsiteY2-166" fmla="*/ 60985 h 368570"/>
              <a:gd name="connsiteX3-167" fmla="*/ 437537 w 437537"/>
              <a:gd name="connsiteY3-168" fmla="*/ 200954 h 368570"/>
              <a:gd name="connsiteX4-169" fmla="*/ 297568 w 437537"/>
              <a:gd name="connsiteY4-170" fmla="*/ 340923 h 368570"/>
              <a:gd name="connsiteX5-171" fmla="*/ 297568 w 437537"/>
              <a:gd name="connsiteY5-172" fmla="*/ 270939 h 368570"/>
              <a:gd name="connsiteX6-173" fmla="*/ 9525 w 437537"/>
              <a:gd name="connsiteY6-174" fmla="*/ 368570 h 368570"/>
              <a:gd name="connsiteX7-175" fmla="*/ 0 w 437537"/>
              <a:gd name="connsiteY7-176" fmla="*/ 0 h 368570"/>
              <a:gd name="connsiteX0-177" fmla="*/ 0 w 437537"/>
              <a:gd name="connsiteY0-178" fmla="*/ 0 h 368570"/>
              <a:gd name="connsiteX1-179" fmla="*/ 297568 w 437537"/>
              <a:gd name="connsiteY1-180" fmla="*/ 130970 h 368570"/>
              <a:gd name="connsiteX2-181" fmla="*/ 297568 w 437537"/>
              <a:gd name="connsiteY2-182" fmla="*/ 60985 h 368570"/>
              <a:gd name="connsiteX3-183" fmla="*/ 437537 w 437537"/>
              <a:gd name="connsiteY3-184" fmla="*/ 200954 h 368570"/>
              <a:gd name="connsiteX4-185" fmla="*/ 297568 w 437537"/>
              <a:gd name="connsiteY4-186" fmla="*/ 340923 h 368570"/>
              <a:gd name="connsiteX5-187" fmla="*/ 297568 w 437537"/>
              <a:gd name="connsiteY5-188" fmla="*/ 270939 h 368570"/>
              <a:gd name="connsiteX6-189" fmla="*/ 9525 w 437537"/>
              <a:gd name="connsiteY6-190" fmla="*/ 368570 h 368570"/>
              <a:gd name="connsiteX7-191" fmla="*/ 0 w 437537"/>
              <a:gd name="connsiteY7-192" fmla="*/ 0 h 368570"/>
              <a:gd name="connsiteX0-193" fmla="*/ 0 w 430390"/>
              <a:gd name="connsiteY0-194" fmla="*/ 0 h 361426"/>
              <a:gd name="connsiteX1-195" fmla="*/ 290421 w 430390"/>
              <a:gd name="connsiteY1-196" fmla="*/ 123826 h 361426"/>
              <a:gd name="connsiteX2-197" fmla="*/ 290421 w 430390"/>
              <a:gd name="connsiteY2-198" fmla="*/ 53841 h 361426"/>
              <a:gd name="connsiteX3-199" fmla="*/ 430390 w 430390"/>
              <a:gd name="connsiteY3-200" fmla="*/ 193810 h 361426"/>
              <a:gd name="connsiteX4-201" fmla="*/ 290421 w 430390"/>
              <a:gd name="connsiteY4-202" fmla="*/ 333779 h 361426"/>
              <a:gd name="connsiteX5-203" fmla="*/ 290421 w 430390"/>
              <a:gd name="connsiteY5-204" fmla="*/ 263795 h 361426"/>
              <a:gd name="connsiteX6-205" fmla="*/ 2378 w 430390"/>
              <a:gd name="connsiteY6-206" fmla="*/ 361426 h 361426"/>
              <a:gd name="connsiteX7-207" fmla="*/ 0 w 430390"/>
              <a:gd name="connsiteY7-208" fmla="*/ 0 h 361426"/>
              <a:gd name="connsiteX0-209" fmla="*/ 0 w 430390"/>
              <a:gd name="connsiteY0-210" fmla="*/ 0 h 378095"/>
              <a:gd name="connsiteX1-211" fmla="*/ 290421 w 430390"/>
              <a:gd name="connsiteY1-212" fmla="*/ 123826 h 378095"/>
              <a:gd name="connsiteX2-213" fmla="*/ 290421 w 430390"/>
              <a:gd name="connsiteY2-214" fmla="*/ 53841 h 378095"/>
              <a:gd name="connsiteX3-215" fmla="*/ 430390 w 430390"/>
              <a:gd name="connsiteY3-216" fmla="*/ 193810 h 378095"/>
              <a:gd name="connsiteX4-217" fmla="*/ 290421 w 430390"/>
              <a:gd name="connsiteY4-218" fmla="*/ 333779 h 378095"/>
              <a:gd name="connsiteX5-219" fmla="*/ 290421 w 430390"/>
              <a:gd name="connsiteY5-220" fmla="*/ 263795 h 378095"/>
              <a:gd name="connsiteX6-221" fmla="*/ 2378 w 430390"/>
              <a:gd name="connsiteY6-222" fmla="*/ 378095 h 378095"/>
              <a:gd name="connsiteX7-223" fmla="*/ 0 w 430390"/>
              <a:gd name="connsiteY7-224" fmla="*/ 0 h 378095"/>
              <a:gd name="connsiteX0-225" fmla="*/ 0 w 430387"/>
              <a:gd name="connsiteY0-226" fmla="*/ 0 h 385240"/>
              <a:gd name="connsiteX1-227" fmla="*/ 290418 w 430387"/>
              <a:gd name="connsiteY1-228" fmla="*/ 130971 h 385240"/>
              <a:gd name="connsiteX2-229" fmla="*/ 290418 w 430387"/>
              <a:gd name="connsiteY2-230" fmla="*/ 60986 h 385240"/>
              <a:gd name="connsiteX3-231" fmla="*/ 430387 w 430387"/>
              <a:gd name="connsiteY3-232" fmla="*/ 200955 h 385240"/>
              <a:gd name="connsiteX4-233" fmla="*/ 290418 w 430387"/>
              <a:gd name="connsiteY4-234" fmla="*/ 340924 h 385240"/>
              <a:gd name="connsiteX5-235" fmla="*/ 290418 w 430387"/>
              <a:gd name="connsiteY5-236" fmla="*/ 270940 h 385240"/>
              <a:gd name="connsiteX6-237" fmla="*/ 2375 w 430387"/>
              <a:gd name="connsiteY6-238" fmla="*/ 385240 h 385240"/>
              <a:gd name="connsiteX7-239" fmla="*/ 0 w 430387"/>
              <a:gd name="connsiteY7-240" fmla="*/ 0 h 385240"/>
              <a:gd name="connsiteX0-241" fmla="*/ 0 w 430387"/>
              <a:gd name="connsiteY0-242" fmla="*/ 0 h 392384"/>
              <a:gd name="connsiteX1-243" fmla="*/ 290418 w 430387"/>
              <a:gd name="connsiteY1-244" fmla="*/ 130971 h 392384"/>
              <a:gd name="connsiteX2-245" fmla="*/ 290418 w 430387"/>
              <a:gd name="connsiteY2-246" fmla="*/ 60986 h 392384"/>
              <a:gd name="connsiteX3-247" fmla="*/ 430387 w 430387"/>
              <a:gd name="connsiteY3-248" fmla="*/ 200955 h 392384"/>
              <a:gd name="connsiteX4-249" fmla="*/ 290418 w 430387"/>
              <a:gd name="connsiteY4-250" fmla="*/ 340924 h 392384"/>
              <a:gd name="connsiteX5-251" fmla="*/ 290418 w 430387"/>
              <a:gd name="connsiteY5-252" fmla="*/ 270940 h 392384"/>
              <a:gd name="connsiteX6-253" fmla="*/ 2378 w 430387"/>
              <a:gd name="connsiteY6-254" fmla="*/ 392384 h 392384"/>
              <a:gd name="connsiteX7-255" fmla="*/ 0 w 430387"/>
              <a:gd name="connsiteY7-256" fmla="*/ 0 h 392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30387" h="392384">
                <a:moveTo>
                  <a:pt x="0" y="0"/>
                </a:moveTo>
                <a:cubicBezTo>
                  <a:pt x="88083" y="86518"/>
                  <a:pt x="180914" y="113509"/>
                  <a:pt x="290418" y="130971"/>
                </a:cubicBezTo>
                <a:lnTo>
                  <a:pt x="290418" y="60986"/>
                </a:lnTo>
                <a:lnTo>
                  <a:pt x="430387" y="200955"/>
                </a:lnTo>
                <a:lnTo>
                  <a:pt x="290418" y="340924"/>
                </a:lnTo>
                <a:lnTo>
                  <a:pt x="290418" y="270940"/>
                </a:lnTo>
                <a:cubicBezTo>
                  <a:pt x="180916" y="289196"/>
                  <a:pt x="80936" y="324121"/>
                  <a:pt x="2378" y="392384"/>
                </a:cubicBezTo>
                <a:cubicBezTo>
                  <a:pt x="1585" y="330646"/>
                  <a:pt x="793" y="6173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箭头: 右 302"/>
          <p:cNvSpPr/>
          <p:nvPr/>
        </p:nvSpPr>
        <p:spPr>
          <a:xfrm rot="16200000" flipV="1">
            <a:off x="10466101" y="2444557"/>
            <a:ext cx="178822" cy="493487"/>
          </a:xfrm>
          <a:custGeom>
            <a:avLst/>
            <a:gdLst>
              <a:gd name="connsiteX0" fmla="*/ 0 w 437541"/>
              <a:gd name="connsiteY0" fmla="*/ 69985 h 279938"/>
              <a:gd name="connsiteX1" fmla="*/ 297572 w 437541"/>
              <a:gd name="connsiteY1" fmla="*/ 69985 h 279938"/>
              <a:gd name="connsiteX2" fmla="*/ 297572 w 437541"/>
              <a:gd name="connsiteY2" fmla="*/ 0 h 279938"/>
              <a:gd name="connsiteX3" fmla="*/ 437541 w 437541"/>
              <a:gd name="connsiteY3" fmla="*/ 139969 h 279938"/>
              <a:gd name="connsiteX4" fmla="*/ 297572 w 437541"/>
              <a:gd name="connsiteY4" fmla="*/ 279938 h 279938"/>
              <a:gd name="connsiteX5" fmla="*/ 297572 w 437541"/>
              <a:gd name="connsiteY5" fmla="*/ 209954 h 279938"/>
              <a:gd name="connsiteX6" fmla="*/ 0 w 437541"/>
              <a:gd name="connsiteY6" fmla="*/ 209954 h 279938"/>
              <a:gd name="connsiteX7" fmla="*/ 0 w 437541"/>
              <a:gd name="connsiteY7" fmla="*/ 69985 h 279938"/>
              <a:gd name="connsiteX0-1" fmla="*/ 0 w 439921"/>
              <a:gd name="connsiteY0-2" fmla="*/ 24741 h 279938"/>
              <a:gd name="connsiteX1-3" fmla="*/ 299952 w 439921"/>
              <a:gd name="connsiteY1-4" fmla="*/ 69985 h 279938"/>
              <a:gd name="connsiteX2-5" fmla="*/ 299952 w 439921"/>
              <a:gd name="connsiteY2-6" fmla="*/ 0 h 279938"/>
              <a:gd name="connsiteX3-7" fmla="*/ 439921 w 439921"/>
              <a:gd name="connsiteY3-8" fmla="*/ 139969 h 279938"/>
              <a:gd name="connsiteX4-9" fmla="*/ 299952 w 439921"/>
              <a:gd name="connsiteY4-10" fmla="*/ 279938 h 279938"/>
              <a:gd name="connsiteX5-11" fmla="*/ 299952 w 439921"/>
              <a:gd name="connsiteY5-12" fmla="*/ 209954 h 279938"/>
              <a:gd name="connsiteX6-13" fmla="*/ 2380 w 439921"/>
              <a:gd name="connsiteY6-14" fmla="*/ 209954 h 279938"/>
              <a:gd name="connsiteX7-15" fmla="*/ 0 w 439921"/>
              <a:gd name="connsiteY7-16" fmla="*/ 24741 h 279938"/>
              <a:gd name="connsiteX0-17" fmla="*/ 0 w 439921"/>
              <a:gd name="connsiteY0-18" fmla="*/ 24741 h 279938"/>
              <a:gd name="connsiteX1-19" fmla="*/ 299952 w 439921"/>
              <a:gd name="connsiteY1-20" fmla="*/ 69985 h 279938"/>
              <a:gd name="connsiteX2-21" fmla="*/ 299952 w 439921"/>
              <a:gd name="connsiteY2-22" fmla="*/ 0 h 279938"/>
              <a:gd name="connsiteX3-23" fmla="*/ 439921 w 439921"/>
              <a:gd name="connsiteY3-24" fmla="*/ 139969 h 279938"/>
              <a:gd name="connsiteX4-25" fmla="*/ 299952 w 439921"/>
              <a:gd name="connsiteY4-26" fmla="*/ 279938 h 279938"/>
              <a:gd name="connsiteX5-27" fmla="*/ 299952 w 439921"/>
              <a:gd name="connsiteY5-28" fmla="*/ 209954 h 279938"/>
              <a:gd name="connsiteX6-29" fmla="*/ 7146 w 439921"/>
              <a:gd name="connsiteY6-30" fmla="*/ 250435 h 279938"/>
              <a:gd name="connsiteX7-31" fmla="*/ 0 w 439921"/>
              <a:gd name="connsiteY7-32" fmla="*/ 24741 h 279938"/>
              <a:gd name="connsiteX0-33" fmla="*/ 0 w 439921"/>
              <a:gd name="connsiteY0-34" fmla="*/ 24741 h 279938"/>
              <a:gd name="connsiteX1-35" fmla="*/ 299952 w 439921"/>
              <a:gd name="connsiteY1-36" fmla="*/ 69985 h 279938"/>
              <a:gd name="connsiteX2-37" fmla="*/ 299952 w 439921"/>
              <a:gd name="connsiteY2-38" fmla="*/ 0 h 279938"/>
              <a:gd name="connsiteX3-39" fmla="*/ 439921 w 439921"/>
              <a:gd name="connsiteY3-40" fmla="*/ 139969 h 279938"/>
              <a:gd name="connsiteX4-41" fmla="*/ 299952 w 439921"/>
              <a:gd name="connsiteY4-42" fmla="*/ 279938 h 279938"/>
              <a:gd name="connsiteX5-43" fmla="*/ 299952 w 439921"/>
              <a:gd name="connsiteY5-44" fmla="*/ 209954 h 279938"/>
              <a:gd name="connsiteX6-45" fmla="*/ 7146 w 439921"/>
              <a:gd name="connsiteY6-46" fmla="*/ 250435 h 279938"/>
              <a:gd name="connsiteX7-47" fmla="*/ 0 w 439921"/>
              <a:gd name="connsiteY7-48" fmla="*/ 24741 h 279938"/>
              <a:gd name="connsiteX0-49" fmla="*/ 0 w 439921"/>
              <a:gd name="connsiteY0-50" fmla="*/ 24741 h 279938"/>
              <a:gd name="connsiteX1-51" fmla="*/ 299952 w 439921"/>
              <a:gd name="connsiteY1-52" fmla="*/ 69985 h 279938"/>
              <a:gd name="connsiteX2-53" fmla="*/ 299952 w 439921"/>
              <a:gd name="connsiteY2-54" fmla="*/ 0 h 279938"/>
              <a:gd name="connsiteX3-55" fmla="*/ 439921 w 439921"/>
              <a:gd name="connsiteY3-56" fmla="*/ 139969 h 279938"/>
              <a:gd name="connsiteX4-57" fmla="*/ 299952 w 439921"/>
              <a:gd name="connsiteY4-58" fmla="*/ 279938 h 279938"/>
              <a:gd name="connsiteX5-59" fmla="*/ 299952 w 439921"/>
              <a:gd name="connsiteY5-60" fmla="*/ 209954 h 279938"/>
              <a:gd name="connsiteX6-61" fmla="*/ 7146 w 439921"/>
              <a:gd name="connsiteY6-62" fmla="*/ 250435 h 279938"/>
              <a:gd name="connsiteX7-63" fmla="*/ 0 w 439921"/>
              <a:gd name="connsiteY7-64" fmla="*/ 24741 h 279938"/>
              <a:gd name="connsiteX0-65" fmla="*/ 0 w 439921"/>
              <a:gd name="connsiteY0-66" fmla="*/ 24741 h 279938"/>
              <a:gd name="connsiteX1-67" fmla="*/ 299952 w 439921"/>
              <a:gd name="connsiteY1-68" fmla="*/ 69985 h 279938"/>
              <a:gd name="connsiteX2-69" fmla="*/ 299952 w 439921"/>
              <a:gd name="connsiteY2-70" fmla="*/ 0 h 279938"/>
              <a:gd name="connsiteX3-71" fmla="*/ 439921 w 439921"/>
              <a:gd name="connsiteY3-72" fmla="*/ 139969 h 279938"/>
              <a:gd name="connsiteX4-73" fmla="*/ 299952 w 439921"/>
              <a:gd name="connsiteY4-74" fmla="*/ 279938 h 279938"/>
              <a:gd name="connsiteX5-75" fmla="*/ 299952 w 439921"/>
              <a:gd name="connsiteY5-76" fmla="*/ 209954 h 279938"/>
              <a:gd name="connsiteX6-77" fmla="*/ 7146 w 439921"/>
              <a:gd name="connsiteY6-78" fmla="*/ 250435 h 279938"/>
              <a:gd name="connsiteX7-79" fmla="*/ 0 w 439921"/>
              <a:gd name="connsiteY7-80" fmla="*/ 24741 h 279938"/>
              <a:gd name="connsiteX0-81" fmla="*/ 0 w 439921"/>
              <a:gd name="connsiteY0-82" fmla="*/ 24741 h 279938"/>
              <a:gd name="connsiteX1-83" fmla="*/ 299952 w 439921"/>
              <a:gd name="connsiteY1-84" fmla="*/ 69985 h 279938"/>
              <a:gd name="connsiteX2-85" fmla="*/ 299952 w 439921"/>
              <a:gd name="connsiteY2-86" fmla="*/ 0 h 279938"/>
              <a:gd name="connsiteX3-87" fmla="*/ 439921 w 439921"/>
              <a:gd name="connsiteY3-88" fmla="*/ 139969 h 279938"/>
              <a:gd name="connsiteX4-89" fmla="*/ 299952 w 439921"/>
              <a:gd name="connsiteY4-90" fmla="*/ 279938 h 279938"/>
              <a:gd name="connsiteX5-91" fmla="*/ 299952 w 439921"/>
              <a:gd name="connsiteY5-92" fmla="*/ 209954 h 279938"/>
              <a:gd name="connsiteX6-93" fmla="*/ 7146 w 439921"/>
              <a:gd name="connsiteY6-94" fmla="*/ 250435 h 279938"/>
              <a:gd name="connsiteX7-95" fmla="*/ 0 w 439921"/>
              <a:gd name="connsiteY7-96" fmla="*/ 24741 h 279938"/>
              <a:gd name="connsiteX0-97" fmla="*/ 0 w 437537"/>
              <a:gd name="connsiteY0-98" fmla="*/ 0 h 340923"/>
              <a:gd name="connsiteX1-99" fmla="*/ 297568 w 437537"/>
              <a:gd name="connsiteY1-100" fmla="*/ 130970 h 340923"/>
              <a:gd name="connsiteX2-101" fmla="*/ 297568 w 437537"/>
              <a:gd name="connsiteY2-102" fmla="*/ 60985 h 340923"/>
              <a:gd name="connsiteX3-103" fmla="*/ 437537 w 437537"/>
              <a:gd name="connsiteY3-104" fmla="*/ 200954 h 340923"/>
              <a:gd name="connsiteX4-105" fmla="*/ 297568 w 437537"/>
              <a:gd name="connsiteY4-106" fmla="*/ 340923 h 340923"/>
              <a:gd name="connsiteX5-107" fmla="*/ 297568 w 437537"/>
              <a:gd name="connsiteY5-108" fmla="*/ 270939 h 340923"/>
              <a:gd name="connsiteX6-109" fmla="*/ 4762 w 437537"/>
              <a:gd name="connsiteY6-110" fmla="*/ 311420 h 340923"/>
              <a:gd name="connsiteX7-111" fmla="*/ 0 w 437537"/>
              <a:gd name="connsiteY7-112" fmla="*/ 0 h 340923"/>
              <a:gd name="connsiteX0-113" fmla="*/ 0 w 437537"/>
              <a:gd name="connsiteY0-114" fmla="*/ 0 h 368570"/>
              <a:gd name="connsiteX1-115" fmla="*/ 297568 w 437537"/>
              <a:gd name="connsiteY1-116" fmla="*/ 130970 h 368570"/>
              <a:gd name="connsiteX2-117" fmla="*/ 297568 w 437537"/>
              <a:gd name="connsiteY2-118" fmla="*/ 60985 h 368570"/>
              <a:gd name="connsiteX3-119" fmla="*/ 437537 w 437537"/>
              <a:gd name="connsiteY3-120" fmla="*/ 200954 h 368570"/>
              <a:gd name="connsiteX4-121" fmla="*/ 297568 w 437537"/>
              <a:gd name="connsiteY4-122" fmla="*/ 340923 h 368570"/>
              <a:gd name="connsiteX5-123" fmla="*/ 297568 w 437537"/>
              <a:gd name="connsiteY5-124" fmla="*/ 270939 h 368570"/>
              <a:gd name="connsiteX6-125" fmla="*/ 9525 w 437537"/>
              <a:gd name="connsiteY6-126" fmla="*/ 368570 h 368570"/>
              <a:gd name="connsiteX7-127" fmla="*/ 0 w 437537"/>
              <a:gd name="connsiteY7-128" fmla="*/ 0 h 368570"/>
              <a:gd name="connsiteX0-129" fmla="*/ 0 w 437537"/>
              <a:gd name="connsiteY0-130" fmla="*/ 0 h 368570"/>
              <a:gd name="connsiteX1-131" fmla="*/ 297568 w 437537"/>
              <a:gd name="connsiteY1-132" fmla="*/ 130970 h 368570"/>
              <a:gd name="connsiteX2-133" fmla="*/ 297568 w 437537"/>
              <a:gd name="connsiteY2-134" fmla="*/ 60985 h 368570"/>
              <a:gd name="connsiteX3-135" fmla="*/ 437537 w 437537"/>
              <a:gd name="connsiteY3-136" fmla="*/ 200954 h 368570"/>
              <a:gd name="connsiteX4-137" fmla="*/ 297568 w 437537"/>
              <a:gd name="connsiteY4-138" fmla="*/ 340923 h 368570"/>
              <a:gd name="connsiteX5-139" fmla="*/ 297568 w 437537"/>
              <a:gd name="connsiteY5-140" fmla="*/ 270939 h 368570"/>
              <a:gd name="connsiteX6-141" fmla="*/ 9525 w 437537"/>
              <a:gd name="connsiteY6-142" fmla="*/ 368570 h 368570"/>
              <a:gd name="connsiteX7-143" fmla="*/ 0 w 437537"/>
              <a:gd name="connsiteY7-144" fmla="*/ 0 h 368570"/>
              <a:gd name="connsiteX0-145" fmla="*/ 0 w 437537"/>
              <a:gd name="connsiteY0-146" fmla="*/ 0 h 368570"/>
              <a:gd name="connsiteX1-147" fmla="*/ 297568 w 437537"/>
              <a:gd name="connsiteY1-148" fmla="*/ 130970 h 368570"/>
              <a:gd name="connsiteX2-149" fmla="*/ 297568 w 437537"/>
              <a:gd name="connsiteY2-150" fmla="*/ 60985 h 368570"/>
              <a:gd name="connsiteX3-151" fmla="*/ 437537 w 437537"/>
              <a:gd name="connsiteY3-152" fmla="*/ 200954 h 368570"/>
              <a:gd name="connsiteX4-153" fmla="*/ 297568 w 437537"/>
              <a:gd name="connsiteY4-154" fmla="*/ 340923 h 368570"/>
              <a:gd name="connsiteX5-155" fmla="*/ 297568 w 437537"/>
              <a:gd name="connsiteY5-156" fmla="*/ 270939 h 368570"/>
              <a:gd name="connsiteX6-157" fmla="*/ 9525 w 437537"/>
              <a:gd name="connsiteY6-158" fmla="*/ 368570 h 368570"/>
              <a:gd name="connsiteX7-159" fmla="*/ 0 w 437537"/>
              <a:gd name="connsiteY7-160" fmla="*/ 0 h 368570"/>
              <a:gd name="connsiteX0-161" fmla="*/ 0 w 437537"/>
              <a:gd name="connsiteY0-162" fmla="*/ 0 h 368570"/>
              <a:gd name="connsiteX1-163" fmla="*/ 297568 w 437537"/>
              <a:gd name="connsiteY1-164" fmla="*/ 130970 h 368570"/>
              <a:gd name="connsiteX2-165" fmla="*/ 297568 w 437537"/>
              <a:gd name="connsiteY2-166" fmla="*/ 60985 h 368570"/>
              <a:gd name="connsiteX3-167" fmla="*/ 437537 w 437537"/>
              <a:gd name="connsiteY3-168" fmla="*/ 200954 h 368570"/>
              <a:gd name="connsiteX4-169" fmla="*/ 297568 w 437537"/>
              <a:gd name="connsiteY4-170" fmla="*/ 340923 h 368570"/>
              <a:gd name="connsiteX5-171" fmla="*/ 297568 w 437537"/>
              <a:gd name="connsiteY5-172" fmla="*/ 270939 h 368570"/>
              <a:gd name="connsiteX6-173" fmla="*/ 9525 w 437537"/>
              <a:gd name="connsiteY6-174" fmla="*/ 368570 h 368570"/>
              <a:gd name="connsiteX7-175" fmla="*/ 0 w 437537"/>
              <a:gd name="connsiteY7-176" fmla="*/ 0 h 368570"/>
              <a:gd name="connsiteX0-177" fmla="*/ 0 w 437537"/>
              <a:gd name="connsiteY0-178" fmla="*/ 0 h 368570"/>
              <a:gd name="connsiteX1-179" fmla="*/ 297568 w 437537"/>
              <a:gd name="connsiteY1-180" fmla="*/ 130970 h 368570"/>
              <a:gd name="connsiteX2-181" fmla="*/ 297568 w 437537"/>
              <a:gd name="connsiteY2-182" fmla="*/ 60985 h 368570"/>
              <a:gd name="connsiteX3-183" fmla="*/ 437537 w 437537"/>
              <a:gd name="connsiteY3-184" fmla="*/ 200954 h 368570"/>
              <a:gd name="connsiteX4-185" fmla="*/ 297568 w 437537"/>
              <a:gd name="connsiteY4-186" fmla="*/ 340923 h 368570"/>
              <a:gd name="connsiteX5-187" fmla="*/ 297568 w 437537"/>
              <a:gd name="connsiteY5-188" fmla="*/ 270939 h 368570"/>
              <a:gd name="connsiteX6-189" fmla="*/ 9525 w 437537"/>
              <a:gd name="connsiteY6-190" fmla="*/ 368570 h 368570"/>
              <a:gd name="connsiteX7-191" fmla="*/ 0 w 437537"/>
              <a:gd name="connsiteY7-192" fmla="*/ 0 h 368570"/>
              <a:gd name="connsiteX0-193" fmla="*/ 0 w 430390"/>
              <a:gd name="connsiteY0-194" fmla="*/ 0 h 361426"/>
              <a:gd name="connsiteX1-195" fmla="*/ 290421 w 430390"/>
              <a:gd name="connsiteY1-196" fmla="*/ 123826 h 361426"/>
              <a:gd name="connsiteX2-197" fmla="*/ 290421 w 430390"/>
              <a:gd name="connsiteY2-198" fmla="*/ 53841 h 361426"/>
              <a:gd name="connsiteX3-199" fmla="*/ 430390 w 430390"/>
              <a:gd name="connsiteY3-200" fmla="*/ 193810 h 361426"/>
              <a:gd name="connsiteX4-201" fmla="*/ 290421 w 430390"/>
              <a:gd name="connsiteY4-202" fmla="*/ 333779 h 361426"/>
              <a:gd name="connsiteX5-203" fmla="*/ 290421 w 430390"/>
              <a:gd name="connsiteY5-204" fmla="*/ 263795 h 361426"/>
              <a:gd name="connsiteX6-205" fmla="*/ 2378 w 430390"/>
              <a:gd name="connsiteY6-206" fmla="*/ 361426 h 361426"/>
              <a:gd name="connsiteX7-207" fmla="*/ 0 w 430390"/>
              <a:gd name="connsiteY7-208" fmla="*/ 0 h 361426"/>
              <a:gd name="connsiteX0-209" fmla="*/ 0 w 430390"/>
              <a:gd name="connsiteY0-210" fmla="*/ 0 h 378095"/>
              <a:gd name="connsiteX1-211" fmla="*/ 290421 w 430390"/>
              <a:gd name="connsiteY1-212" fmla="*/ 123826 h 378095"/>
              <a:gd name="connsiteX2-213" fmla="*/ 290421 w 430390"/>
              <a:gd name="connsiteY2-214" fmla="*/ 53841 h 378095"/>
              <a:gd name="connsiteX3-215" fmla="*/ 430390 w 430390"/>
              <a:gd name="connsiteY3-216" fmla="*/ 193810 h 378095"/>
              <a:gd name="connsiteX4-217" fmla="*/ 290421 w 430390"/>
              <a:gd name="connsiteY4-218" fmla="*/ 333779 h 378095"/>
              <a:gd name="connsiteX5-219" fmla="*/ 290421 w 430390"/>
              <a:gd name="connsiteY5-220" fmla="*/ 263795 h 378095"/>
              <a:gd name="connsiteX6-221" fmla="*/ 2378 w 430390"/>
              <a:gd name="connsiteY6-222" fmla="*/ 378095 h 378095"/>
              <a:gd name="connsiteX7-223" fmla="*/ 0 w 430390"/>
              <a:gd name="connsiteY7-224" fmla="*/ 0 h 378095"/>
              <a:gd name="connsiteX0-225" fmla="*/ 0 w 430387"/>
              <a:gd name="connsiteY0-226" fmla="*/ 0 h 385240"/>
              <a:gd name="connsiteX1-227" fmla="*/ 290418 w 430387"/>
              <a:gd name="connsiteY1-228" fmla="*/ 130971 h 385240"/>
              <a:gd name="connsiteX2-229" fmla="*/ 290418 w 430387"/>
              <a:gd name="connsiteY2-230" fmla="*/ 60986 h 385240"/>
              <a:gd name="connsiteX3-231" fmla="*/ 430387 w 430387"/>
              <a:gd name="connsiteY3-232" fmla="*/ 200955 h 385240"/>
              <a:gd name="connsiteX4-233" fmla="*/ 290418 w 430387"/>
              <a:gd name="connsiteY4-234" fmla="*/ 340924 h 385240"/>
              <a:gd name="connsiteX5-235" fmla="*/ 290418 w 430387"/>
              <a:gd name="connsiteY5-236" fmla="*/ 270940 h 385240"/>
              <a:gd name="connsiteX6-237" fmla="*/ 2375 w 430387"/>
              <a:gd name="connsiteY6-238" fmla="*/ 385240 h 385240"/>
              <a:gd name="connsiteX7-239" fmla="*/ 0 w 430387"/>
              <a:gd name="connsiteY7-240" fmla="*/ 0 h 385240"/>
              <a:gd name="connsiteX0-241" fmla="*/ 0 w 430387"/>
              <a:gd name="connsiteY0-242" fmla="*/ 0 h 392384"/>
              <a:gd name="connsiteX1-243" fmla="*/ 290418 w 430387"/>
              <a:gd name="connsiteY1-244" fmla="*/ 130971 h 392384"/>
              <a:gd name="connsiteX2-245" fmla="*/ 290418 w 430387"/>
              <a:gd name="connsiteY2-246" fmla="*/ 60986 h 392384"/>
              <a:gd name="connsiteX3-247" fmla="*/ 430387 w 430387"/>
              <a:gd name="connsiteY3-248" fmla="*/ 200955 h 392384"/>
              <a:gd name="connsiteX4-249" fmla="*/ 290418 w 430387"/>
              <a:gd name="connsiteY4-250" fmla="*/ 340924 h 392384"/>
              <a:gd name="connsiteX5-251" fmla="*/ 290418 w 430387"/>
              <a:gd name="connsiteY5-252" fmla="*/ 270940 h 392384"/>
              <a:gd name="connsiteX6-253" fmla="*/ 2378 w 430387"/>
              <a:gd name="connsiteY6-254" fmla="*/ 392384 h 392384"/>
              <a:gd name="connsiteX7-255" fmla="*/ 0 w 430387"/>
              <a:gd name="connsiteY7-256" fmla="*/ 0 h 392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30387" h="392384">
                <a:moveTo>
                  <a:pt x="0" y="0"/>
                </a:moveTo>
                <a:cubicBezTo>
                  <a:pt x="88083" y="86518"/>
                  <a:pt x="180914" y="113509"/>
                  <a:pt x="290418" y="130971"/>
                </a:cubicBezTo>
                <a:lnTo>
                  <a:pt x="290418" y="60986"/>
                </a:lnTo>
                <a:lnTo>
                  <a:pt x="430387" y="200955"/>
                </a:lnTo>
                <a:lnTo>
                  <a:pt x="290418" y="340924"/>
                </a:lnTo>
                <a:lnTo>
                  <a:pt x="290418" y="270940"/>
                </a:lnTo>
                <a:cubicBezTo>
                  <a:pt x="180916" y="289196"/>
                  <a:pt x="80936" y="324121"/>
                  <a:pt x="2378" y="392384"/>
                </a:cubicBezTo>
                <a:cubicBezTo>
                  <a:pt x="1585" y="330646"/>
                  <a:pt x="793" y="6173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415925" y="6294755"/>
            <a:ext cx="11541125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独特性：五大专用模型的训练以独家高质量数据集为支撑，具备“看别人看不到的趋势“的差异化决策能力</a:t>
            </a:r>
            <a:endParaRPr kumimoji="0" lang="zh-CN" altLang="en-US" sz="1600" b="1" i="0" u="none" strike="noStrike" kern="1200" cap="none" spc="30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研究内容三：</a:t>
            </a:r>
            <a:r>
              <a:rPr dirty="0"/>
              <a:t>开发汽车决策智能体平台及专用模型工具链</a:t>
            </a:r>
            <a:endParaRPr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/>
          </p:nvPr>
        </p:nvSpPr>
        <p:spPr>
          <a:xfrm>
            <a:off x="504190" y="868680"/>
            <a:ext cx="11374755" cy="368300"/>
          </a:xfrm>
        </p:spPr>
        <p:txBody>
          <a:bodyPr wrap="square"/>
          <a:lstStyle/>
          <a:p>
            <a:r>
              <a:rPr dirty="0"/>
              <a:t>应用协同编排和技能路由技术，开发融合通用模型与垂直模型的决策智能体，实现端到端</a:t>
            </a:r>
            <a:r>
              <a:rPr>
                <a:sym typeface="+mn-ea"/>
              </a:rPr>
              <a:t>自动化</a:t>
            </a:r>
            <a:r>
              <a:rPr dirty="0"/>
              <a:t>决策。</a:t>
            </a:r>
            <a:endParaRPr dirty="0"/>
          </a:p>
        </p:txBody>
      </p:sp>
      <p:sp>
        <p:nvSpPr>
          <p:cNvPr id="7" name="文本框 6"/>
          <p:cNvSpPr txBox="1"/>
          <p:nvPr/>
        </p:nvSpPr>
        <p:spPr>
          <a:xfrm>
            <a:off x="4124732" y="1428219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spc="0" baseline="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汽车决策智能体平台架构</a:t>
            </a:r>
            <a:endParaRPr lang="zh-CN" altLang="en-US" sz="2000" b="1" spc="0" baseline="0" dirty="0">
              <a:solidFill>
                <a:srgbClr val="11182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70869" y="1784997"/>
            <a:ext cx="5933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spc="0" baseline="0" dirty="0">
                <a:solidFill>
                  <a:srgbClr val="5265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智能体统一编排技能 / 工具，证据驱动、规则校验、共享记忆实现闭环</a:t>
            </a:r>
            <a:endParaRPr lang="zh-CN" altLang="en-US" sz="1400" spc="0" baseline="0" dirty="0">
              <a:solidFill>
                <a:srgbClr val="52657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65344" y="1886951"/>
            <a:ext cx="1364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1" spc="0" baseline="0" dirty="0">
                <a:solidFill>
                  <a:srgbClr val="11377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技能 / 工具能力层</a:t>
            </a:r>
            <a:endParaRPr lang="zh-CN" altLang="en-US" sz="1100" b="1" spc="0" baseline="0" dirty="0">
              <a:solidFill>
                <a:srgbClr val="11377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9" name="任意形状 18"/>
          <p:cNvSpPr/>
          <p:nvPr/>
        </p:nvSpPr>
        <p:spPr>
          <a:xfrm>
            <a:off x="303258" y="2113611"/>
            <a:ext cx="2271885" cy="850301"/>
          </a:xfrm>
          <a:custGeom>
            <a:avLst/>
            <a:gdLst>
              <a:gd name="csX0" fmla="*/ 71368 w 2271885"/>
              <a:gd name="csY0" fmla="*/ 0 h 850301"/>
              <a:gd name="csX1" fmla="*/ 2200518 w 2271885"/>
              <a:gd name="csY1" fmla="*/ 0 h 850301"/>
              <a:gd name="csX2" fmla="*/ 2271886 w 2271885"/>
              <a:gd name="csY2" fmla="*/ 71354 h 850301"/>
              <a:gd name="csX3" fmla="*/ 2271886 w 2271885"/>
              <a:gd name="csY3" fmla="*/ 778948 h 850301"/>
              <a:gd name="csX4" fmla="*/ 2200518 w 2271885"/>
              <a:gd name="csY4" fmla="*/ 850302 h 850301"/>
              <a:gd name="csX5" fmla="*/ 71368 w 2271885"/>
              <a:gd name="csY5" fmla="*/ 850302 h 850301"/>
              <a:gd name="csX6" fmla="*/ 0 w 2271885"/>
              <a:gd name="csY6" fmla="*/ 778948 h 850301"/>
              <a:gd name="csX7" fmla="*/ 0 w 2271885"/>
              <a:gd name="csY7" fmla="*/ 71354 h 850301"/>
              <a:gd name="csX8" fmla="*/ 71368 w 2271885"/>
              <a:gd name="csY8" fmla="*/ 0 h 850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71885" h="850301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778948"/>
                </a:lnTo>
                <a:cubicBezTo>
                  <a:pt x="2271886" y="817598"/>
                  <a:pt x="2239175" y="850302"/>
                  <a:pt x="2200518" y="850302"/>
                </a:cubicBezTo>
                <a:lnTo>
                  <a:pt x="71368" y="850302"/>
                </a:lnTo>
                <a:cubicBezTo>
                  <a:pt x="32710" y="850302"/>
                  <a:pt x="0" y="817598"/>
                  <a:pt x="0" y="778948"/>
                </a:cubicBez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9AC0DE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0" name="任意形状 19"/>
          <p:cNvSpPr/>
          <p:nvPr/>
        </p:nvSpPr>
        <p:spPr>
          <a:xfrm>
            <a:off x="303258" y="2113611"/>
            <a:ext cx="2271885" cy="291362"/>
          </a:xfrm>
          <a:custGeom>
            <a:avLst/>
            <a:gdLst>
              <a:gd name="csX0" fmla="*/ 71368 w 2271885"/>
              <a:gd name="csY0" fmla="*/ 0 h 291362"/>
              <a:gd name="csX1" fmla="*/ 2200518 w 2271885"/>
              <a:gd name="csY1" fmla="*/ 0 h 291362"/>
              <a:gd name="csX2" fmla="*/ 2271886 w 2271885"/>
              <a:gd name="csY2" fmla="*/ 71354 h 291362"/>
              <a:gd name="csX3" fmla="*/ 2271886 w 2271885"/>
              <a:gd name="csY3" fmla="*/ 291362 h 291362"/>
              <a:gd name="csX4" fmla="*/ 0 w 2271885"/>
              <a:gd name="csY4" fmla="*/ 291362 h 291362"/>
              <a:gd name="csX5" fmla="*/ 0 w 2271885"/>
              <a:gd name="csY5" fmla="*/ 71354 h 291362"/>
              <a:gd name="csX6" fmla="*/ 71368 w 2271885"/>
              <a:gd name="csY6" fmla="*/ 0 h 2913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71885" h="291362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291362"/>
                </a:lnTo>
                <a:lnTo>
                  <a:pt x="0" y="291362"/>
                </a:ln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E7F1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1" name="文本框 20"/>
          <p:cNvSpPr txBox="1"/>
          <p:nvPr/>
        </p:nvSpPr>
        <p:spPr>
          <a:xfrm>
            <a:off x="330765" y="2087679"/>
            <a:ext cx="1605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周度数据交付工具</a:t>
            </a:r>
            <a:endParaRPr lang="zh-CN" altLang="en-US" sz="1400" b="1" spc="0" baseline="0" dirty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0765" y="2433366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周报生成、竞品分析</a:t>
            </a:r>
            <a:endParaRPr lang="zh-CN" altLang="en-US" sz="12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0765" y="266751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证据回溯、异常预判</a:t>
            </a:r>
            <a:endParaRPr lang="zh-CN" altLang="en-US" sz="12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5" name="任意形状 24"/>
          <p:cNvSpPr/>
          <p:nvPr/>
        </p:nvSpPr>
        <p:spPr>
          <a:xfrm>
            <a:off x="2652459" y="2113611"/>
            <a:ext cx="2271885" cy="850301"/>
          </a:xfrm>
          <a:custGeom>
            <a:avLst/>
            <a:gdLst>
              <a:gd name="csX0" fmla="*/ 71368 w 2271885"/>
              <a:gd name="csY0" fmla="*/ 0 h 850301"/>
              <a:gd name="csX1" fmla="*/ 2200518 w 2271885"/>
              <a:gd name="csY1" fmla="*/ 0 h 850301"/>
              <a:gd name="csX2" fmla="*/ 2271886 w 2271885"/>
              <a:gd name="csY2" fmla="*/ 71354 h 850301"/>
              <a:gd name="csX3" fmla="*/ 2271886 w 2271885"/>
              <a:gd name="csY3" fmla="*/ 778948 h 850301"/>
              <a:gd name="csX4" fmla="*/ 2200518 w 2271885"/>
              <a:gd name="csY4" fmla="*/ 850302 h 850301"/>
              <a:gd name="csX5" fmla="*/ 71368 w 2271885"/>
              <a:gd name="csY5" fmla="*/ 850302 h 850301"/>
              <a:gd name="csX6" fmla="*/ 0 w 2271885"/>
              <a:gd name="csY6" fmla="*/ 778948 h 850301"/>
              <a:gd name="csX7" fmla="*/ 0 w 2271885"/>
              <a:gd name="csY7" fmla="*/ 71354 h 850301"/>
              <a:gd name="csX8" fmla="*/ 71368 w 2271885"/>
              <a:gd name="csY8" fmla="*/ 0 h 850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71885" h="850301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778948"/>
                </a:lnTo>
                <a:cubicBezTo>
                  <a:pt x="2271886" y="817598"/>
                  <a:pt x="2239175" y="850302"/>
                  <a:pt x="2200518" y="850302"/>
                </a:cubicBezTo>
                <a:lnTo>
                  <a:pt x="71368" y="850302"/>
                </a:lnTo>
                <a:cubicBezTo>
                  <a:pt x="32710" y="850302"/>
                  <a:pt x="0" y="817598"/>
                  <a:pt x="0" y="778948"/>
                </a:cubicBez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9AC0DE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6" name="任意形状 25"/>
          <p:cNvSpPr/>
          <p:nvPr/>
        </p:nvSpPr>
        <p:spPr>
          <a:xfrm>
            <a:off x="2652459" y="2113611"/>
            <a:ext cx="2271885" cy="291362"/>
          </a:xfrm>
          <a:custGeom>
            <a:avLst/>
            <a:gdLst>
              <a:gd name="csX0" fmla="*/ 71368 w 2271885"/>
              <a:gd name="csY0" fmla="*/ 0 h 291362"/>
              <a:gd name="csX1" fmla="*/ 2200518 w 2271885"/>
              <a:gd name="csY1" fmla="*/ 0 h 291362"/>
              <a:gd name="csX2" fmla="*/ 2271886 w 2271885"/>
              <a:gd name="csY2" fmla="*/ 71354 h 291362"/>
              <a:gd name="csX3" fmla="*/ 2271886 w 2271885"/>
              <a:gd name="csY3" fmla="*/ 291362 h 291362"/>
              <a:gd name="csX4" fmla="*/ 0 w 2271885"/>
              <a:gd name="csY4" fmla="*/ 291362 h 291362"/>
              <a:gd name="csX5" fmla="*/ 0 w 2271885"/>
              <a:gd name="csY5" fmla="*/ 71354 h 291362"/>
              <a:gd name="csX6" fmla="*/ 71368 w 2271885"/>
              <a:gd name="csY6" fmla="*/ 0 h 2913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71885" h="291362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291362"/>
                </a:lnTo>
                <a:lnTo>
                  <a:pt x="0" y="291362"/>
                </a:ln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E7F1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7" name="文本框 26"/>
          <p:cNvSpPr txBox="1"/>
          <p:nvPr/>
        </p:nvSpPr>
        <p:spPr>
          <a:xfrm>
            <a:off x="2679966" y="2087679"/>
            <a:ext cx="2138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市场战略性机会决策工具</a:t>
            </a:r>
            <a:endParaRPr lang="zh-CN" altLang="en-US" sz="1400" b="1" spc="0" baseline="0" dirty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679966" y="2433366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机会识别、风险预警</a:t>
            </a:r>
            <a:endParaRPr lang="zh-CN" altLang="en-US" sz="12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679966" y="266751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投放组合、市场清单</a:t>
            </a:r>
            <a:endParaRPr lang="zh-CN" altLang="en-US" sz="12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1" name="任意形状 30"/>
          <p:cNvSpPr/>
          <p:nvPr/>
        </p:nvSpPr>
        <p:spPr>
          <a:xfrm>
            <a:off x="5001660" y="2113611"/>
            <a:ext cx="2271885" cy="850301"/>
          </a:xfrm>
          <a:custGeom>
            <a:avLst/>
            <a:gdLst>
              <a:gd name="csX0" fmla="*/ 71368 w 2271885"/>
              <a:gd name="csY0" fmla="*/ 0 h 850301"/>
              <a:gd name="csX1" fmla="*/ 2200518 w 2271885"/>
              <a:gd name="csY1" fmla="*/ 0 h 850301"/>
              <a:gd name="csX2" fmla="*/ 2271886 w 2271885"/>
              <a:gd name="csY2" fmla="*/ 71354 h 850301"/>
              <a:gd name="csX3" fmla="*/ 2271886 w 2271885"/>
              <a:gd name="csY3" fmla="*/ 778948 h 850301"/>
              <a:gd name="csX4" fmla="*/ 2200518 w 2271885"/>
              <a:gd name="csY4" fmla="*/ 850302 h 850301"/>
              <a:gd name="csX5" fmla="*/ 71368 w 2271885"/>
              <a:gd name="csY5" fmla="*/ 850302 h 850301"/>
              <a:gd name="csX6" fmla="*/ 0 w 2271885"/>
              <a:gd name="csY6" fmla="*/ 778948 h 850301"/>
              <a:gd name="csX7" fmla="*/ 0 w 2271885"/>
              <a:gd name="csY7" fmla="*/ 71354 h 850301"/>
              <a:gd name="csX8" fmla="*/ 71368 w 2271885"/>
              <a:gd name="csY8" fmla="*/ 0 h 850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71885" h="850301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778948"/>
                </a:lnTo>
                <a:cubicBezTo>
                  <a:pt x="2271886" y="817598"/>
                  <a:pt x="2239175" y="850302"/>
                  <a:pt x="2200518" y="850302"/>
                </a:cubicBezTo>
                <a:lnTo>
                  <a:pt x="71368" y="850302"/>
                </a:lnTo>
                <a:cubicBezTo>
                  <a:pt x="32710" y="850302"/>
                  <a:pt x="0" y="817598"/>
                  <a:pt x="0" y="778948"/>
                </a:cubicBez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9AC0DE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32" name="任意形状 31"/>
          <p:cNvSpPr/>
          <p:nvPr/>
        </p:nvSpPr>
        <p:spPr>
          <a:xfrm>
            <a:off x="5001660" y="2113611"/>
            <a:ext cx="2271885" cy="291362"/>
          </a:xfrm>
          <a:custGeom>
            <a:avLst/>
            <a:gdLst>
              <a:gd name="csX0" fmla="*/ 71368 w 2271885"/>
              <a:gd name="csY0" fmla="*/ 0 h 291362"/>
              <a:gd name="csX1" fmla="*/ 2200518 w 2271885"/>
              <a:gd name="csY1" fmla="*/ 0 h 291362"/>
              <a:gd name="csX2" fmla="*/ 2271886 w 2271885"/>
              <a:gd name="csY2" fmla="*/ 71354 h 291362"/>
              <a:gd name="csX3" fmla="*/ 2271886 w 2271885"/>
              <a:gd name="csY3" fmla="*/ 291362 h 291362"/>
              <a:gd name="csX4" fmla="*/ 0 w 2271885"/>
              <a:gd name="csY4" fmla="*/ 291362 h 291362"/>
              <a:gd name="csX5" fmla="*/ 0 w 2271885"/>
              <a:gd name="csY5" fmla="*/ 71354 h 291362"/>
              <a:gd name="csX6" fmla="*/ 71368 w 2271885"/>
              <a:gd name="csY6" fmla="*/ 0 h 2913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71885" h="291362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291362"/>
                </a:lnTo>
                <a:lnTo>
                  <a:pt x="0" y="291362"/>
                </a:ln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E7F1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33" name="文本框 32"/>
          <p:cNvSpPr txBox="1"/>
          <p:nvPr/>
        </p:nvSpPr>
        <p:spPr>
          <a:xfrm>
            <a:off x="5029167" y="2087679"/>
            <a:ext cx="2138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用户洞察与配置决策工具</a:t>
            </a:r>
            <a:endParaRPr lang="zh-CN" altLang="en-US" sz="1400" b="1" spc="0" baseline="0" dirty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29167" y="2433366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用户聚类、需求洞察</a:t>
            </a:r>
            <a:endParaRPr lang="zh-CN" altLang="en-US" sz="12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029167" y="2667515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配置推荐、优先级</a:t>
            </a:r>
            <a:endParaRPr lang="zh-CN" altLang="en-US" sz="12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42" name="任意形状 41"/>
          <p:cNvSpPr/>
          <p:nvPr/>
        </p:nvSpPr>
        <p:spPr>
          <a:xfrm>
            <a:off x="7350861" y="2113611"/>
            <a:ext cx="2271885" cy="850301"/>
          </a:xfrm>
          <a:custGeom>
            <a:avLst/>
            <a:gdLst>
              <a:gd name="csX0" fmla="*/ 71368 w 2271885"/>
              <a:gd name="csY0" fmla="*/ 0 h 850301"/>
              <a:gd name="csX1" fmla="*/ 2200518 w 2271885"/>
              <a:gd name="csY1" fmla="*/ 0 h 850301"/>
              <a:gd name="csX2" fmla="*/ 2271886 w 2271885"/>
              <a:gd name="csY2" fmla="*/ 71354 h 850301"/>
              <a:gd name="csX3" fmla="*/ 2271886 w 2271885"/>
              <a:gd name="csY3" fmla="*/ 778948 h 850301"/>
              <a:gd name="csX4" fmla="*/ 2200518 w 2271885"/>
              <a:gd name="csY4" fmla="*/ 850302 h 850301"/>
              <a:gd name="csX5" fmla="*/ 71368 w 2271885"/>
              <a:gd name="csY5" fmla="*/ 850302 h 850301"/>
              <a:gd name="csX6" fmla="*/ 0 w 2271885"/>
              <a:gd name="csY6" fmla="*/ 778948 h 850301"/>
              <a:gd name="csX7" fmla="*/ 0 w 2271885"/>
              <a:gd name="csY7" fmla="*/ 71354 h 850301"/>
              <a:gd name="csX8" fmla="*/ 71368 w 2271885"/>
              <a:gd name="csY8" fmla="*/ 0 h 850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71885" h="850301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778948"/>
                </a:lnTo>
                <a:cubicBezTo>
                  <a:pt x="2271886" y="817598"/>
                  <a:pt x="2239175" y="850302"/>
                  <a:pt x="2200518" y="850302"/>
                </a:cubicBezTo>
                <a:lnTo>
                  <a:pt x="71368" y="850302"/>
                </a:lnTo>
                <a:cubicBezTo>
                  <a:pt x="32710" y="850302"/>
                  <a:pt x="0" y="817598"/>
                  <a:pt x="0" y="778948"/>
                </a:cubicBez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9AC0DE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45" name="任意形状 44"/>
          <p:cNvSpPr/>
          <p:nvPr/>
        </p:nvSpPr>
        <p:spPr>
          <a:xfrm>
            <a:off x="7350861" y="2113611"/>
            <a:ext cx="2271885" cy="291362"/>
          </a:xfrm>
          <a:custGeom>
            <a:avLst/>
            <a:gdLst>
              <a:gd name="csX0" fmla="*/ 71368 w 2271885"/>
              <a:gd name="csY0" fmla="*/ 0 h 291362"/>
              <a:gd name="csX1" fmla="*/ 2200518 w 2271885"/>
              <a:gd name="csY1" fmla="*/ 0 h 291362"/>
              <a:gd name="csX2" fmla="*/ 2271886 w 2271885"/>
              <a:gd name="csY2" fmla="*/ 71354 h 291362"/>
              <a:gd name="csX3" fmla="*/ 2271886 w 2271885"/>
              <a:gd name="csY3" fmla="*/ 291362 h 291362"/>
              <a:gd name="csX4" fmla="*/ 0 w 2271885"/>
              <a:gd name="csY4" fmla="*/ 291362 h 291362"/>
              <a:gd name="csX5" fmla="*/ 0 w 2271885"/>
              <a:gd name="csY5" fmla="*/ 71354 h 291362"/>
              <a:gd name="csX6" fmla="*/ 71368 w 2271885"/>
              <a:gd name="csY6" fmla="*/ 0 h 2913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71885" h="291362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291362"/>
                </a:lnTo>
                <a:lnTo>
                  <a:pt x="0" y="291362"/>
                </a:ln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E7F1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46" name="文本框 45"/>
          <p:cNvSpPr txBox="1"/>
          <p:nvPr/>
        </p:nvSpPr>
        <p:spPr>
          <a:xfrm>
            <a:off x="7378368" y="2087679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产品与降本决策工具</a:t>
            </a:r>
            <a:endParaRPr lang="zh-CN" altLang="en-US" sz="1400" b="1" spc="0" baseline="0" dirty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378368" y="2433366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成本核算、多维对标</a:t>
            </a:r>
            <a:endParaRPr lang="zh-CN" altLang="en-US" sz="12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78368" y="266751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降本方案、配置约束</a:t>
            </a:r>
            <a:endParaRPr lang="zh-CN" altLang="en-US" sz="12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9" name="任意形状 58"/>
          <p:cNvSpPr/>
          <p:nvPr/>
        </p:nvSpPr>
        <p:spPr>
          <a:xfrm>
            <a:off x="9700062" y="2113611"/>
            <a:ext cx="2271885" cy="850301"/>
          </a:xfrm>
          <a:custGeom>
            <a:avLst/>
            <a:gdLst>
              <a:gd name="csX0" fmla="*/ 71368 w 2271885"/>
              <a:gd name="csY0" fmla="*/ 0 h 850301"/>
              <a:gd name="csX1" fmla="*/ 2200518 w 2271885"/>
              <a:gd name="csY1" fmla="*/ 0 h 850301"/>
              <a:gd name="csX2" fmla="*/ 2271886 w 2271885"/>
              <a:gd name="csY2" fmla="*/ 71354 h 850301"/>
              <a:gd name="csX3" fmla="*/ 2271886 w 2271885"/>
              <a:gd name="csY3" fmla="*/ 778948 h 850301"/>
              <a:gd name="csX4" fmla="*/ 2200518 w 2271885"/>
              <a:gd name="csY4" fmla="*/ 850302 h 850301"/>
              <a:gd name="csX5" fmla="*/ 71368 w 2271885"/>
              <a:gd name="csY5" fmla="*/ 850302 h 850301"/>
              <a:gd name="csX6" fmla="*/ 0 w 2271885"/>
              <a:gd name="csY6" fmla="*/ 778948 h 850301"/>
              <a:gd name="csX7" fmla="*/ 0 w 2271885"/>
              <a:gd name="csY7" fmla="*/ 71354 h 850301"/>
              <a:gd name="csX8" fmla="*/ 71368 w 2271885"/>
              <a:gd name="csY8" fmla="*/ 0 h 850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71885" h="850301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778948"/>
                </a:lnTo>
                <a:cubicBezTo>
                  <a:pt x="2271886" y="817598"/>
                  <a:pt x="2239175" y="850302"/>
                  <a:pt x="2200518" y="850302"/>
                </a:cubicBezTo>
                <a:lnTo>
                  <a:pt x="71368" y="850302"/>
                </a:lnTo>
                <a:cubicBezTo>
                  <a:pt x="32710" y="850302"/>
                  <a:pt x="0" y="817598"/>
                  <a:pt x="0" y="778948"/>
                </a:cubicBez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9AC0DE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60" name="任意形状 59"/>
          <p:cNvSpPr/>
          <p:nvPr/>
        </p:nvSpPr>
        <p:spPr>
          <a:xfrm>
            <a:off x="9700062" y="2113611"/>
            <a:ext cx="2271885" cy="291362"/>
          </a:xfrm>
          <a:custGeom>
            <a:avLst/>
            <a:gdLst>
              <a:gd name="csX0" fmla="*/ 71368 w 2271885"/>
              <a:gd name="csY0" fmla="*/ 0 h 291362"/>
              <a:gd name="csX1" fmla="*/ 2200518 w 2271885"/>
              <a:gd name="csY1" fmla="*/ 0 h 291362"/>
              <a:gd name="csX2" fmla="*/ 2271886 w 2271885"/>
              <a:gd name="csY2" fmla="*/ 71354 h 291362"/>
              <a:gd name="csX3" fmla="*/ 2271886 w 2271885"/>
              <a:gd name="csY3" fmla="*/ 291362 h 291362"/>
              <a:gd name="csX4" fmla="*/ 0 w 2271885"/>
              <a:gd name="csY4" fmla="*/ 291362 h 291362"/>
              <a:gd name="csX5" fmla="*/ 0 w 2271885"/>
              <a:gd name="csY5" fmla="*/ 71354 h 291362"/>
              <a:gd name="csX6" fmla="*/ 71368 w 2271885"/>
              <a:gd name="csY6" fmla="*/ 0 h 2913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71885" h="291362">
                <a:moveTo>
                  <a:pt x="71368" y="0"/>
                </a:moveTo>
                <a:lnTo>
                  <a:pt x="2200518" y="0"/>
                </a:lnTo>
                <a:cubicBezTo>
                  <a:pt x="2239175" y="0"/>
                  <a:pt x="2271886" y="32704"/>
                  <a:pt x="2271886" y="71354"/>
                </a:cubicBezTo>
                <a:lnTo>
                  <a:pt x="2271886" y="291362"/>
                </a:lnTo>
                <a:lnTo>
                  <a:pt x="0" y="291362"/>
                </a:lnTo>
                <a:lnTo>
                  <a:pt x="0" y="71354"/>
                </a:lnTo>
                <a:cubicBezTo>
                  <a:pt x="0" y="32704"/>
                  <a:pt x="32710" y="0"/>
                  <a:pt x="71368" y="0"/>
                </a:cubicBezTo>
                <a:close/>
              </a:path>
            </a:pathLst>
          </a:custGeom>
          <a:solidFill>
            <a:srgbClr val="E7F1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66" name="文本框 65"/>
          <p:cNvSpPr txBox="1"/>
          <p:nvPr/>
        </p:nvSpPr>
        <p:spPr>
          <a:xfrm>
            <a:off x="9727565" y="2087880"/>
            <a:ext cx="2348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汽车通讯营销决策运营工具</a:t>
            </a:r>
            <a:endParaRPr lang="zh-CN" altLang="en-US" sz="1400" b="1" spc="0" baseline="0" dirty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727569" y="2433366"/>
            <a:ext cx="1460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人群定位、AI 外呼</a:t>
            </a:r>
            <a:endParaRPr lang="zh-CN" altLang="en-US" sz="12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9727569" y="266751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效果评估、反馈回流</a:t>
            </a:r>
            <a:endParaRPr lang="zh-CN" altLang="en-US" sz="12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72" name="任意形状 71"/>
          <p:cNvSpPr/>
          <p:nvPr/>
        </p:nvSpPr>
        <p:spPr>
          <a:xfrm>
            <a:off x="1424333" y="2969858"/>
            <a:ext cx="2973" cy="83246"/>
          </a:xfrm>
          <a:custGeom>
            <a:avLst/>
            <a:gdLst>
              <a:gd name="csX0" fmla="*/ 0 w 2973"/>
              <a:gd name="csY0" fmla="*/ 83246 h 83246"/>
              <a:gd name="csX1" fmla="*/ 0 w 2973"/>
              <a:gd name="csY1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3246">
                <a:moveTo>
                  <a:pt x="0" y="83246"/>
                </a:moveTo>
                <a:lnTo>
                  <a:pt x="0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3" name="任意形状 72"/>
          <p:cNvSpPr/>
          <p:nvPr/>
        </p:nvSpPr>
        <p:spPr>
          <a:xfrm>
            <a:off x="1373780" y="2963912"/>
            <a:ext cx="101104" cy="80273"/>
          </a:xfrm>
          <a:custGeom>
            <a:avLst/>
            <a:gdLst>
              <a:gd name="csX0" fmla="*/ 50552 w 101104"/>
              <a:gd name="csY0" fmla="*/ 0 h 80273"/>
              <a:gd name="csX1" fmla="*/ 0 w 101104"/>
              <a:gd name="csY1" fmla="*/ 80273 h 80273"/>
              <a:gd name="csX2" fmla="*/ 101105 w 101104"/>
              <a:gd name="csY2" fmla="*/ 80273 h 80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0273">
                <a:moveTo>
                  <a:pt x="50552" y="0"/>
                </a:moveTo>
                <a:lnTo>
                  <a:pt x="0" y="80273"/>
                </a:lnTo>
                <a:lnTo>
                  <a:pt x="101105" y="80273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4" name="任意形状 73"/>
          <p:cNvSpPr/>
          <p:nvPr/>
        </p:nvSpPr>
        <p:spPr>
          <a:xfrm>
            <a:off x="3773534" y="2969858"/>
            <a:ext cx="2973" cy="83246"/>
          </a:xfrm>
          <a:custGeom>
            <a:avLst/>
            <a:gdLst>
              <a:gd name="csX0" fmla="*/ 0 w 2973"/>
              <a:gd name="csY0" fmla="*/ 83246 h 83246"/>
              <a:gd name="csX1" fmla="*/ 0 w 2973"/>
              <a:gd name="csY1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3246">
                <a:moveTo>
                  <a:pt x="0" y="83246"/>
                </a:moveTo>
                <a:lnTo>
                  <a:pt x="0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5" name="任意形状 74"/>
          <p:cNvSpPr/>
          <p:nvPr/>
        </p:nvSpPr>
        <p:spPr>
          <a:xfrm>
            <a:off x="3722981" y="2963912"/>
            <a:ext cx="101104" cy="80273"/>
          </a:xfrm>
          <a:custGeom>
            <a:avLst/>
            <a:gdLst>
              <a:gd name="csX0" fmla="*/ 50552 w 101104"/>
              <a:gd name="csY0" fmla="*/ 0 h 80273"/>
              <a:gd name="csX1" fmla="*/ 0 w 101104"/>
              <a:gd name="csY1" fmla="*/ 80273 h 80273"/>
              <a:gd name="csX2" fmla="*/ 101105 w 101104"/>
              <a:gd name="csY2" fmla="*/ 80273 h 80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0273">
                <a:moveTo>
                  <a:pt x="50552" y="0"/>
                </a:moveTo>
                <a:lnTo>
                  <a:pt x="0" y="80273"/>
                </a:lnTo>
                <a:lnTo>
                  <a:pt x="101105" y="80273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6" name="任意形状 75"/>
          <p:cNvSpPr/>
          <p:nvPr/>
        </p:nvSpPr>
        <p:spPr>
          <a:xfrm>
            <a:off x="6122735" y="2969858"/>
            <a:ext cx="2973" cy="83246"/>
          </a:xfrm>
          <a:custGeom>
            <a:avLst/>
            <a:gdLst>
              <a:gd name="csX0" fmla="*/ 0 w 2973"/>
              <a:gd name="csY0" fmla="*/ 83246 h 83246"/>
              <a:gd name="csX1" fmla="*/ 0 w 2973"/>
              <a:gd name="csY1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3246">
                <a:moveTo>
                  <a:pt x="0" y="83246"/>
                </a:moveTo>
                <a:lnTo>
                  <a:pt x="0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7" name="任意形状 76"/>
          <p:cNvSpPr/>
          <p:nvPr/>
        </p:nvSpPr>
        <p:spPr>
          <a:xfrm>
            <a:off x="6072182" y="2963912"/>
            <a:ext cx="101104" cy="80273"/>
          </a:xfrm>
          <a:custGeom>
            <a:avLst/>
            <a:gdLst>
              <a:gd name="csX0" fmla="*/ 50552 w 101104"/>
              <a:gd name="csY0" fmla="*/ 0 h 80273"/>
              <a:gd name="csX1" fmla="*/ 0 w 101104"/>
              <a:gd name="csY1" fmla="*/ 80273 h 80273"/>
              <a:gd name="csX2" fmla="*/ 101105 w 101104"/>
              <a:gd name="csY2" fmla="*/ 80273 h 80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0273">
                <a:moveTo>
                  <a:pt x="50552" y="0"/>
                </a:moveTo>
                <a:lnTo>
                  <a:pt x="0" y="80273"/>
                </a:lnTo>
                <a:lnTo>
                  <a:pt x="101105" y="80273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8" name="任意形状 77"/>
          <p:cNvSpPr/>
          <p:nvPr/>
        </p:nvSpPr>
        <p:spPr>
          <a:xfrm>
            <a:off x="8471936" y="2969858"/>
            <a:ext cx="2973" cy="83246"/>
          </a:xfrm>
          <a:custGeom>
            <a:avLst/>
            <a:gdLst>
              <a:gd name="csX0" fmla="*/ 0 w 2973"/>
              <a:gd name="csY0" fmla="*/ 83246 h 83246"/>
              <a:gd name="csX1" fmla="*/ 0 w 2973"/>
              <a:gd name="csY1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3246">
                <a:moveTo>
                  <a:pt x="0" y="83246"/>
                </a:moveTo>
                <a:lnTo>
                  <a:pt x="0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79" name="任意形状 78"/>
          <p:cNvSpPr/>
          <p:nvPr/>
        </p:nvSpPr>
        <p:spPr>
          <a:xfrm>
            <a:off x="8421383" y="2963912"/>
            <a:ext cx="101104" cy="80273"/>
          </a:xfrm>
          <a:custGeom>
            <a:avLst/>
            <a:gdLst>
              <a:gd name="csX0" fmla="*/ 50552 w 101104"/>
              <a:gd name="csY0" fmla="*/ 0 h 80273"/>
              <a:gd name="csX1" fmla="*/ 0 w 101104"/>
              <a:gd name="csY1" fmla="*/ 80273 h 80273"/>
              <a:gd name="csX2" fmla="*/ 101105 w 101104"/>
              <a:gd name="csY2" fmla="*/ 80273 h 80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0273">
                <a:moveTo>
                  <a:pt x="50552" y="0"/>
                </a:moveTo>
                <a:lnTo>
                  <a:pt x="0" y="80273"/>
                </a:lnTo>
                <a:lnTo>
                  <a:pt x="101105" y="80273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80" name="任意形状 79"/>
          <p:cNvSpPr/>
          <p:nvPr/>
        </p:nvSpPr>
        <p:spPr>
          <a:xfrm>
            <a:off x="10821137" y="2969858"/>
            <a:ext cx="2973" cy="83246"/>
          </a:xfrm>
          <a:custGeom>
            <a:avLst/>
            <a:gdLst>
              <a:gd name="csX0" fmla="*/ 0 w 2973"/>
              <a:gd name="csY0" fmla="*/ 83246 h 83246"/>
              <a:gd name="csX1" fmla="*/ 0 w 2973"/>
              <a:gd name="csY1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3246">
                <a:moveTo>
                  <a:pt x="0" y="83246"/>
                </a:moveTo>
                <a:lnTo>
                  <a:pt x="0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81" name="任意形状 80"/>
          <p:cNvSpPr/>
          <p:nvPr/>
        </p:nvSpPr>
        <p:spPr>
          <a:xfrm>
            <a:off x="10770584" y="2963912"/>
            <a:ext cx="101104" cy="80273"/>
          </a:xfrm>
          <a:custGeom>
            <a:avLst/>
            <a:gdLst>
              <a:gd name="csX0" fmla="*/ 50552 w 101104"/>
              <a:gd name="csY0" fmla="*/ 0 h 80273"/>
              <a:gd name="csX1" fmla="*/ 0 w 101104"/>
              <a:gd name="csY1" fmla="*/ 80273 h 80273"/>
              <a:gd name="csX2" fmla="*/ 101105 w 101104"/>
              <a:gd name="csY2" fmla="*/ 80273 h 80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0273">
                <a:moveTo>
                  <a:pt x="50552" y="0"/>
                </a:moveTo>
                <a:lnTo>
                  <a:pt x="0" y="80273"/>
                </a:lnTo>
                <a:lnTo>
                  <a:pt x="101105" y="80273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82" name="任意形状 81"/>
          <p:cNvSpPr/>
          <p:nvPr/>
        </p:nvSpPr>
        <p:spPr>
          <a:xfrm>
            <a:off x="297311" y="3053105"/>
            <a:ext cx="11698426" cy="309200"/>
          </a:xfrm>
          <a:custGeom>
            <a:avLst/>
            <a:gdLst>
              <a:gd name="csX0" fmla="*/ 77315 w 11698426"/>
              <a:gd name="csY0" fmla="*/ 0 h 309200"/>
              <a:gd name="csX1" fmla="*/ 11621111 w 11698426"/>
              <a:gd name="csY1" fmla="*/ 0 h 309200"/>
              <a:gd name="csX2" fmla="*/ 11698426 w 11698426"/>
              <a:gd name="csY2" fmla="*/ 77300 h 309200"/>
              <a:gd name="csX3" fmla="*/ 11698426 w 11698426"/>
              <a:gd name="csY3" fmla="*/ 231900 h 309200"/>
              <a:gd name="csX4" fmla="*/ 11621111 w 11698426"/>
              <a:gd name="csY4" fmla="*/ 309201 h 309200"/>
              <a:gd name="csX5" fmla="*/ 77315 w 11698426"/>
              <a:gd name="csY5" fmla="*/ 309201 h 309200"/>
              <a:gd name="csX6" fmla="*/ 0 w 11698426"/>
              <a:gd name="csY6" fmla="*/ 231900 h 309200"/>
              <a:gd name="csX7" fmla="*/ 0 w 11698426"/>
              <a:gd name="csY7" fmla="*/ 77300 h 309200"/>
              <a:gd name="csX8" fmla="*/ 77315 w 11698426"/>
              <a:gd name="csY8" fmla="*/ 0 h 30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98426" h="309200">
                <a:moveTo>
                  <a:pt x="77315" y="0"/>
                </a:moveTo>
                <a:lnTo>
                  <a:pt x="11621111" y="0"/>
                </a:lnTo>
                <a:cubicBezTo>
                  <a:pt x="11662742" y="0"/>
                  <a:pt x="11698426" y="35677"/>
                  <a:pt x="11698426" y="77300"/>
                </a:cubicBezTo>
                <a:lnTo>
                  <a:pt x="11698426" y="231900"/>
                </a:lnTo>
                <a:cubicBezTo>
                  <a:pt x="11698426" y="273524"/>
                  <a:pt x="11662742" y="309201"/>
                  <a:pt x="11621111" y="309201"/>
                </a:cubicBezTo>
                <a:lnTo>
                  <a:pt x="77315" y="309201"/>
                </a:lnTo>
                <a:cubicBezTo>
                  <a:pt x="35684" y="309201"/>
                  <a:pt x="0" y="273524"/>
                  <a:pt x="0" y="231900"/>
                </a:cubicBez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113770"/>
          </a:solidFill>
          <a:ln w="8918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83" name="文本框 82"/>
          <p:cNvSpPr txBox="1"/>
          <p:nvPr/>
        </p:nvSpPr>
        <p:spPr>
          <a:xfrm>
            <a:off x="3468399" y="3042635"/>
            <a:ext cx="5455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智能体编排能力调用总线：按意图、上下文、证据选择技能/工具</a:t>
            </a:r>
            <a:endParaRPr lang="zh-CN" altLang="en-US" sz="1400" b="1" spc="0" baseline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84" name="任意形状 83"/>
          <p:cNvSpPr/>
          <p:nvPr/>
        </p:nvSpPr>
        <p:spPr>
          <a:xfrm>
            <a:off x="297311" y="3475282"/>
            <a:ext cx="11698426" cy="330012"/>
          </a:xfrm>
          <a:custGeom>
            <a:avLst/>
            <a:gdLst>
              <a:gd name="csX0" fmla="*/ 77315 w 11698426"/>
              <a:gd name="csY0" fmla="*/ 0 h 330012"/>
              <a:gd name="csX1" fmla="*/ 11621111 w 11698426"/>
              <a:gd name="csY1" fmla="*/ 0 h 330012"/>
              <a:gd name="csX2" fmla="*/ 11698426 w 11698426"/>
              <a:gd name="csY2" fmla="*/ 77300 h 330012"/>
              <a:gd name="csX3" fmla="*/ 11698426 w 11698426"/>
              <a:gd name="csY3" fmla="*/ 252712 h 330012"/>
              <a:gd name="csX4" fmla="*/ 11621111 w 11698426"/>
              <a:gd name="csY4" fmla="*/ 330012 h 330012"/>
              <a:gd name="csX5" fmla="*/ 77315 w 11698426"/>
              <a:gd name="csY5" fmla="*/ 330012 h 330012"/>
              <a:gd name="csX6" fmla="*/ 0 w 11698426"/>
              <a:gd name="csY6" fmla="*/ 252712 h 330012"/>
              <a:gd name="csX7" fmla="*/ 0 w 11698426"/>
              <a:gd name="csY7" fmla="*/ 77300 h 330012"/>
              <a:gd name="csX8" fmla="*/ 77315 w 11698426"/>
              <a:gd name="csY8" fmla="*/ 0 h 33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98426" h="330012">
                <a:moveTo>
                  <a:pt x="77315" y="0"/>
                </a:moveTo>
                <a:lnTo>
                  <a:pt x="11621111" y="0"/>
                </a:lnTo>
                <a:cubicBezTo>
                  <a:pt x="11662742" y="0"/>
                  <a:pt x="11698426" y="35677"/>
                  <a:pt x="11698426" y="77300"/>
                </a:cubicBezTo>
                <a:lnTo>
                  <a:pt x="11698426" y="252712"/>
                </a:lnTo>
                <a:cubicBezTo>
                  <a:pt x="11698426" y="294335"/>
                  <a:pt x="11662742" y="330012"/>
                  <a:pt x="11621111" y="330012"/>
                </a:cubicBezTo>
                <a:lnTo>
                  <a:pt x="77315" y="330012"/>
                </a:lnTo>
                <a:cubicBezTo>
                  <a:pt x="35684" y="330012"/>
                  <a:pt x="0" y="294335"/>
                  <a:pt x="0" y="252712"/>
                </a:cubicBez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EAF6ED"/>
          </a:solidFill>
          <a:ln w="11891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85" name="文本框 84"/>
          <p:cNvSpPr txBox="1"/>
          <p:nvPr/>
        </p:nvSpPr>
        <p:spPr>
          <a:xfrm>
            <a:off x="336712" y="350258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规则校验审计</a:t>
            </a:r>
            <a:endParaRPr lang="zh-CN" altLang="en-US" sz="1400" b="1" spc="0" baseline="0" dirty="0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55918" y="3521455"/>
            <a:ext cx="5497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所有 技能/工具 产出统一校验：事实一致性、业务约束、权限审计、轨迹留痕</a:t>
            </a:r>
            <a:endParaRPr lang="zh-CN" altLang="en-US" sz="12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90" name="任意形状 89"/>
          <p:cNvSpPr/>
          <p:nvPr/>
        </p:nvSpPr>
        <p:spPr>
          <a:xfrm>
            <a:off x="1424333" y="3362305"/>
            <a:ext cx="2973" cy="89192"/>
          </a:xfrm>
          <a:custGeom>
            <a:avLst/>
            <a:gdLst>
              <a:gd name="csX0" fmla="*/ 0 w 2973"/>
              <a:gd name="csY0" fmla="*/ 0 h 89192"/>
              <a:gd name="csX1" fmla="*/ 0 w 2973"/>
              <a:gd name="csY1" fmla="*/ 89192 h 8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9192">
                <a:moveTo>
                  <a:pt x="0" y="0"/>
                </a:moveTo>
                <a:lnTo>
                  <a:pt x="0" y="89192"/>
                </a:lnTo>
              </a:path>
            </a:pathLst>
          </a:custGeom>
          <a:ln w="14864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1" name="任意形状 90"/>
          <p:cNvSpPr/>
          <p:nvPr/>
        </p:nvSpPr>
        <p:spPr>
          <a:xfrm>
            <a:off x="1373780" y="3392036"/>
            <a:ext cx="101104" cy="83246"/>
          </a:xfrm>
          <a:custGeom>
            <a:avLst/>
            <a:gdLst>
              <a:gd name="csX0" fmla="*/ 50552 w 101104"/>
              <a:gd name="csY0" fmla="*/ 83246 h 83246"/>
              <a:gd name="csX1" fmla="*/ 0 w 101104"/>
              <a:gd name="csY1" fmla="*/ 0 h 83246"/>
              <a:gd name="csX2" fmla="*/ 101105 w 101104"/>
              <a:gd name="csY2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3246">
                <a:moveTo>
                  <a:pt x="50552" y="83246"/>
                </a:moveTo>
                <a:lnTo>
                  <a:pt x="0" y="0"/>
                </a:lnTo>
                <a:lnTo>
                  <a:pt x="101105" y="0"/>
                </a:lnTo>
                <a:close/>
              </a:path>
            </a:pathLst>
          </a:custGeom>
          <a:solidFill>
            <a:srgbClr val="2E7D32"/>
          </a:solidFill>
          <a:ln w="2973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2" name="任意形状 91"/>
          <p:cNvSpPr/>
          <p:nvPr/>
        </p:nvSpPr>
        <p:spPr>
          <a:xfrm>
            <a:off x="3773534" y="3362305"/>
            <a:ext cx="2973" cy="89192"/>
          </a:xfrm>
          <a:custGeom>
            <a:avLst/>
            <a:gdLst>
              <a:gd name="csX0" fmla="*/ 0 w 2973"/>
              <a:gd name="csY0" fmla="*/ 0 h 89192"/>
              <a:gd name="csX1" fmla="*/ 0 w 2973"/>
              <a:gd name="csY1" fmla="*/ 89192 h 8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9192">
                <a:moveTo>
                  <a:pt x="0" y="0"/>
                </a:moveTo>
                <a:lnTo>
                  <a:pt x="0" y="89192"/>
                </a:lnTo>
              </a:path>
            </a:pathLst>
          </a:custGeom>
          <a:ln w="14864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3" name="任意形状 92"/>
          <p:cNvSpPr/>
          <p:nvPr/>
        </p:nvSpPr>
        <p:spPr>
          <a:xfrm>
            <a:off x="3722981" y="3392036"/>
            <a:ext cx="101104" cy="83246"/>
          </a:xfrm>
          <a:custGeom>
            <a:avLst/>
            <a:gdLst>
              <a:gd name="csX0" fmla="*/ 50552 w 101104"/>
              <a:gd name="csY0" fmla="*/ 83246 h 83246"/>
              <a:gd name="csX1" fmla="*/ 0 w 101104"/>
              <a:gd name="csY1" fmla="*/ 0 h 83246"/>
              <a:gd name="csX2" fmla="*/ 101105 w 101104"/>
              <a:gd name="csY2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3246">
                <a:moveTo>
                  <a:pt x="50552" y="83246"/>
                </a:moveTo>
                <a:lnTo>
                  <a:pt x="0" y="0"/>
                </a:lnTo>
                <a:lnTo>
                  <a:pt x="101105" y="0"/>
                </a:lnTo>
                <a:close/>
              </a:path>
            </a:pathLst>
          </a:custGeom>
          <a:solidFill>
            <a:srgbClr val="2E7D32"/>
          </a:solidFill>
          <a:ln w="2973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4" name="任意形状 93"/>
          <p:cNvSpPr/>
          <p:nvPr/>
        </p:nvSpPr>
        <p:spPr>
          <a:xfrm>
            <a:off x="6122735" y="3362305"/>
            <a:ext cx="2973" cy="89192"/>
          </a:xfrm>
          <a:custGeom>
            <a:avLst/>
            <a:gdLst>
              <a:gd name="csX0" fmla="*/ 0 w 2973"/>
              <a:gd name="csY0" fmla="*/ 0 h 89192"/>
              <a:gd name="csX1" fmla="*/ 0 w 2973"/>
              <a:gd name="csY1" fmla="*/ 89192 h 8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9192">
                <a:moveTo>
                  <a:pt x="0" y="0"/>
                </a:moveTo>
                <a:lnTo>
                  <a:pt x="0" y="89192"/>
                </a:lnTo>
              </a:path>
            </a:pathLst>
          </a:custGeom>
          <a:ln w="14864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5" name="任意形状 94"/>
          <p:cNvSpPr/>
          <p:nvPr/>
        </p:nvSpPr>
        <p:spPr>
          <a:xfrm>
            <a:off x="6072182" y="3392036"/>
            <a:ext cx="101104" cy="83246"/>
          </a:xfrm>
          <a:custGeom>
            <a:avLst/>
            <a:gdLst>
              <a:gd name="csX0" fmla="*/ 50552 w 101104"/>
              <a:gd name="csY0" fmla="*/ 83246 h 83246"/>
              <a:gd name="csX1" fmla="*/ 0 w 101104"/>
              <a:gd name="csY1" fmla="*/ 0 h 83246"/>
              <a:gd name="csX2" fmla="*/ 101105 w 101104"/>
              <a:gd name="csY2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3246">
                <a:moveTo>
                  <a:pt x="50552" y="83246"/>
                </a:moveTo>
                <a:lnTo>
                  <a:pt x="0" y="0"/>
                </a:lnTo>
                <a:lnTo>
                  <a:pt x="101105" y="0"/>
                </a:lnTo>
                <a:close/>
              </a:path>
            </a:pathLst>
          </a:custGeom>
          <a:solidFill>
            <a:srgbClr val="2E7D32"/>
          </a:solidFill>
          <a:ln w="2973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6" name="任意形状 95"/>
          <p:cNvSpPr/>
          <p:nvPr/>
        </p:nvSpPr>
        <p:spPr>
          <a:xfrm>
            <a:off x="8471936" y="3362305"/>
            <a:ext cx="2973" cy="89192"/>
          </a:xfrm>
          <a:custGeom>
            <a:avLst/>
            <a:gdLst>
              <a:gd name="csX0" fmla="*/ 0 w 2973"/>
              <a:gd name="csY0" fmla="*/ 0 h 89192"/>
              <a:gd name="csX1" fmla="*/ 0 w 2973"/>
              <a:gd name="csY1" fmla="*/ 89192 h 8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9192">
                <a:moveTo>
                  <a:pt x="0" y="0"/>
                </a:moveTo>
                <a:lnTo>
                  <a:pt x="0" y="89192"/>
                </a:lnTo>
              </a:path>
            </a:pathLst>
          </a:custGeom>
          <a:ln w="14864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7" name="任意形状 96"/>
          <p:cNvSpPr/>
          <p:nvPr/>
        </p:nvSpPr>
        <p:spPr>
          <a:xfrm>
            <a:off x="8421383" y="3392036"/>
            <a:ext cx="101104" cy="83246"/>
          </a:xfrm>
          <a:custGeom>
            <a:avLst/>
            <a:gdLst>
              <a:gd name="csX0" fmla="*/ 50552 w 101104"/>
              <a:gd name="csY0" fmla="*/ 83246 h 83246"/>
              <a:gd name="csX1" fmla="*/ 0 w 101104"/>
              <a:gd name="csY1" fmla="*/ 0 h 83246"/>
              <a:gd name="csX2" fmla="*/ 101105 w 101104"/>
              <a:gd name="csY2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3246">
                <a:moveTo>
                  <a:pt x="50552" y="83246"/>
                </a:moveTo>
                <a:lnTo>
                  <a:pt x="0" y="0"/>
                </a:lnTo>
                <a:lnTo>
                  <a:pt x="101105" y="0"/>
                </a:lnTo>
                <a:close/>
              </a:path>
            </a:pathLst>
          </a:custGeom>
          <a:solidFill>
            <a:srgbClr val="2E7D32"/>
          </a:solidFill>
          <a:ln w="2973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8" name="任意形状 97"/>
          <p:cNvSpPr/>
          <p:nvPr/>
        </p:nvSpPr>
        <p:spPr>
          <a:xfrm>
            <a:off x="10821137" y="3362305"/>
            <a:ext cx="2973" cy="89192"/>
          </a:xfrm>
          <a:custGeom>
            <a:avLst/>
            <a:gdLst>
              <a:gd name="csX0" fmla="*/ 0 w 2973"/>
              <a:gd name="csY0" fmla="*/ 0 h 89192"/>
              <a:gd name="csX1" fmla="*/ 0 w 2973"/>
              <a:gd name="csY1" fmla="*/ 89192 h 8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89192">
                <a:moveTo>
                  <a:pt x="0" y="0"/>
                </a:moveTo>
                <a:lnTo>
                  <a:pt x="0" y="89192"/>
                </a:lnTo>
              </a:path>
            </a:pathLst>
          </a:custGeom>
          <a:ln w="14864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99" name="任意形状 98"/>
          <p:cNvSpPr/>
          <p:nvPr/>
        </p:nvSpPr>
        <p:spPr>
          <a:xfrm>
            <a:off x="10770584" y="3392036"/>
            <a:ext cx="101104" cy="83246"/>
          </a:xfrm>
          <a:custGeom>
            <a:avLst/>
            <a:gdLst>
              <a:gd name="csX0" fmla="*/ 50552 w 101104"/>
              <a:gd name="csY0" fmla="*/ 83246 h 83246"/>
              <a:gd name="csX1" fmla="*/ 0 w 101104"/>
              <a:gd name="csY1" fmla="*/ 0 h 83246"/>
              <a:gd name="csX2" fmla="*/ 101105 w 101104"/>
              <a:gd name="csY2" fmla="*/ 0 h 8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104" h="83246">
                <a:moveTo>
                  <a:pt x="50552" y="83246"/>
                </a:moveTo>
                <a:lnTo>
                  <a:pt x="0" y="0"/>
                </a:lnTo>
                <a:lnTo>
                  <a:pt x="101105" y="0"/>
                </a:lnTo>
                <a:close/>
              </a:path>
            </a:pathLst>
          </a:custGeom>
          <a:solidFill>
            <a:srgbClr val="2E7D32"/>
          </a:solidFill>
          <a:ln w="2973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00" name="任意形状 99"/>
          <p:cNvSpPr/>
          <p:nvPr/>
        </p:nvSpPr>
        <p:spPr>
          <a:xfrm>
            <a:off x="297311" y="3950976"/>
            <a:ext cx="5685661" cy="1260586"/>
          </a:xfrm>
          <a:custGeom>
            <a:avLst/>
            <a:gdLst>
              <a:gd name="csX0" fmla="*/ 77315 w 5685661"/>
              <a:gd name="csY0" fmla="*/ 0 h 1260586"/>
              <a:gd name="csX1" fmla="*/ 5608346 w 5685661"/>
              <a:gd name="csY1" fmla="*/ 0 h 1260586"/>
              <a:gd name="csX2" fmla="*/ 5685661 w 5685661"/>
              <a:gd name="csY2" fmla="*/ 77300 h 1260586"/>
              <a:gd name="csX3" fmla="*/ 5685661 w 5685661"/>
              <a:gd name="csY3" fmla="*/ 1183287 h 1260586"/>
              <a:gd name="csX4" fmla="*/ 5608346 w 5685661"/>
              <a:gd name="csY4" fmla="*/ 1260587 h 1260586"/>
              <a:gd name="csX5" fmla="*/ 77315 w 5685661"/>
              <a:gd name="csY5" fmla="*/ 1260587 h 1260586"/>
              <a:gd name="csX6" fmla="*/ 0 w 5685661"/>
              <a:gd name="csY6" fmla="*/ 1183287 h 1260586"/>
              <a:gd name="csX7" fmla="*/ 0 w 5685661"/>
              <a:gd name="csY7" fmla="*/ 77300 h 1260586"/>
              <a:gd name="csX8" fmla="*/ 77315 w 5685661"/>
              <a:gd name="csY8" fmla="*/ 0 h 12605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685661" h="1260586">
                <a:moveTo>
                  <a:pt x="77315" y="0"/>
                </a:moveTo>
                <a:lnTo>
                  <a:pt x="5608346" y="0"/>
                </a:lnTo>
                <a:cubicBezTo>
                  <a:pt x="5649977" y="0"/>
                  <a:pt x="5685661" y="35677"/>
                  <a:pt x="5685661" y="77300"/>
                </a:cubicBezTo>
                <a:lnTo>
                  <a:pt x="5685661" y="1183287"/>
                </a:lnTo>
                <a:cubicBezTo>
                  <a:pt x="5685661" y="1224910"/>
                  <a:pt x="5649977" y="1260587"/>
                  <a:pt x="5608346" y="1260587"/>
                </a:cubicBezTo>
                <a:lnTo>
                  <a:pt x="77315" y="1260587"/>
                </a:lnTo>
                <a:cubicBezTo>
                  <a:pt x="35684" y="1260587"/>
                  <a:pt x="0" y="1224910"/>
                  <a:pt x="0" y="1183287"/>
                </a:cubicBez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F5F9FC"/>
          </a:solidFill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01" name="任意形状 100"/>
          <p:cNvSpPr/>
          <p:nvPr/>
        </p:nvSpPr>
        <p:spPr>
          <a:xfrm>
            <a:off x="297311" y="3950976"/>
            <a:ext cx="5685661" cy="285415"/>
          </a:xfrm>
          <a:custGeom>
            <a:avLst/>
            <a:gdLst>
              <a:gd name="csX0" fmla="*/ 77315 w 5685661"/>
              <a:gd name="csY0" fmla="*/ 0 h 285415"/>
              <a:gd name="csX1" fmla="*/ 5608346 w 5685661"/>
              <a:gd name="csY1" fmla="*/ 0 h 285415"/>
              <a:gd name="csX2" fmla="*/ 5685661 w 5685661"/>
              <a:gd name="csY2" fmla="*/ 77300 h 285415"/>
              <a:gd name="csX3" fmla="*/ 5685661 w 5685661"/>
              <a:gd name="csY3" fmla="*/ 285416 h 285415"/>
              <a:gd name="csX4" fmla="*/ 0 w 5685661"/>
              <a:gd name="csY4" fmla="*/ 285416 h 285415"/>
              <a:gd name="csX5" fmla="*/ 0 w 5685661"/>
              <a:gd name="csY5" fmla="*/ 77300 h 285415"/>
              <a:gd name="csX6" fmla="*/ 77315 w 5685661"/>
              <a:gd name="csY6" fmla="*/ 0 h 285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5661" h="285415">
                <a:moveTo>
                  <a:pt x="77315" y="0"/>
                </a:moveTo>
                <a:lnTo>
                  <a:pt x="5608346" y="0"/>
                </a:lnTo>
                <a:cubicBezTo>
                  <a:pt x="5649977" y="0"/>
                  <a:pt x="5685661" y="35677"/>
                  <a:pt x="5685661" y="77300"/>
                </a:cubicBezTo>
                <a:lnTo>
                  <a:pt x="5685661" y="285416"/>
                </a:lnTo>
                <a:lnTo>
                  <a:pt x="0" y="285416"/>
                </a:ln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E7F2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02" name="文本框 101"/>
          <p:cNvSpPr txBox="1"/>
          <p:nvPr/>
        </p:nvSpPr>
        <p:spPr>
          <a:xfrm>
            <a:off x="336712" y="3926215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spc="0" baseline="0" dirty="0">
                <a:solidFill>
                  <a:srgbClr val="11377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交互层：知识图谱证据引擎</a:t>
            </a:r>
            <a:endParaRPr lang="zh-CN" altLang="en-US" sz="1600" b="1" spc="0" baseline="0" dirty="0">
              <a:solidFill>
                <a:srgbClr val="11377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3106160" y="3970256"/>
            <a:ext cx="28504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5265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用户意图解析后，生成证据链并送入Agent</a:t>
            </a:r>
            <a:endParaRPr lang="zh-CN" altLang="en-US" sz="1100" spc="0" baseline="0" dirty="0">
              <a:solidFill>
                <a:srgbClr val="52657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04" name="任意形状 103"/>
          <p:cNvSpPr/>
          <p:nvPr/>
        </p:nvSpPr>
        <p:spPr>
          <a:xfrm>
            <a:off x="434100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05" name="文本框 104"/>
          <p:cNvSpPr txBox="1"/>
          <p:nvPr/>
        </p:nvSpPr>
        <p:spPr>
          <a:xfrm>
            <a:off x="437817" y="436084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用户意图输入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437817" y="4545577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场景、目标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437817" y="469774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边界、时间</a:t>
            </a:r>
            <a:endParaRPr lang="zh-CN" altLang="en-US" sz="11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08" name="任意形状 107"/>
          <p:cNvSpPr/>
          <p:nvPr/>
        </p:nvSpPr>
        <p:spPr>
          <a:xfrm>
            <a:off x="1498674" y="4643704"/>
            <a:ext cx="184367" cy="2973"/>
          </a:xfrm>
          <a:custGeom>
            <a:avLst/>
            <a:gdLst>
              <a:gd name="csX0" fmla="*/ 0 w 184367"/>
              <a:gd name="csY0" fmla="*/ 0 h 2973"/>
              <a:gd name="csX1" fmla="*/ 184368 w 18436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367" h="2973">
                <a:moveTo>
                  <a:pt x="0" y="0"/>
                </a:moveTo>
                <a:lnTo>
                  <a:pt x="184368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09" name="任意形状 108"/>
          <p:cNvSpPr/>
          <p:nvPr/>
        </p:nvSpPr>
        <p:spPr>
          <a:xfrm>
            <a:off x="1623569" y="4590188"/>
            <a:ext cx="83262" cy="107030"/>
          </a:xfrm>
          <a:custGeom>
            <a:avLst/>
            <a:gdLst>
              <a:gd name="csX0" fmla="*/ 83263 w 83262"/>
              <a:gd name="csY0" fmla="*/ 53515 h 107030"/>
              <a:gd name="csX1" fmla="*/ 0 w 83262"/>
              <a:gd name="csY1" fmla="*/ 0 h 107030"/>
              <a:gd name="csX2" fmla="*/ 0 w 83262"/>
              <a:gd name="csY2" fmla="*/ 107031 h 107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262" h="107030">
                <a:moveTo>
                  <a:pt x="83263" y="53515"/>
                </a:moveTo>
                <a:lnTo>
                  <a:pt x="0" y="0"/>
                </a:lnTo>
                <a:lnTo>
                  <a:pt x="0" y="107031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10" name="任意形状 109"/>
          <p:cNvSpPr/>
          <p:nvPr/>
        </p:nvSpPr>
        <p:spPr>
          <a:xfrm>
            <a:off x="1730621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11" name="文本框 110"/>
          <p:cNvSpPr txBox="1"/>
          <p:nvPr/>
        </p:nvSpPr>
        <p:spPr>
          <a:xfrm>
            <a:off x="1734338" y="4360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问题解析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734338" y="454557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约束识别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734338" y="469774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查询计划</a:t>
            </a:r>
            <a:endParaRPr lang="zh-CN" altLang="en-US" sz="11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14" name="任意形状 113"/>
          <p:cNvSpPr/>
          <p:nvPr/>
        </p:nvSpPr>
        <p:spPr>
          <a:xfrm>
            <a:off x="2795195" y="4643704"/>
            <a:ext cx="184367" cy="2973"/>
          </a:xfrm>
          <a:custGeom>
            <a:avLst/>
            <a:gdLst>
              <a:gd name="csX0" fmla="*/ 0 w 184367"/>
              <a:gd name="csY0" fmla="*/ 0 h 2973"/>
              <a:gd name="csX1" fmla="*/ 184368 w 18436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367" h="2973">
                <a:moveTo>
                  <a:pt x="0" y="0"/>
                </a:moveTo>
                <a:lnTo>
                  <a:pt x="184368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15" name="任意形状 114"/>
          <p:cNvSpPr/>
          <p:nvPr/>
        </p:nvSpPr>
        <p:spPr>
          <a:xfrm>
            <a:off x="2920090" y="4590188"/>
            <a:ext cx="83262" cy="107030"/>
          </a:xfrm>
          <a:custGeom>
            <a:avLst/>
            <a:gdLst>
              <a:gd name="csX0" fmla="*/ 83263 w 83262"/>
              <a:gd name="csY0" fmla="*/ 53515 h 107030"/>
              <a:gd name="csX1" fmla="*/ 0 w 83262"/>
              <a:gd name="csY1" fmla="*/ 0 h 107030"/>
              <a:gd name="csX2" fmla="*/ 0 w 83262"/>
              <a:gd name="csY2" fmla="*/ 107031 h 107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262" h="107030">
                <a:moveTo>
                  <a:pt x="83263" y="53515"/>
                </a:moveTo>
                <a:lnTo>
                  <a:pt x="0" y="0"/>
                </a:lnTo>
                <a:lnTo>
                  <a:pt x="0" y="107031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16" name="任意形状 115"/>
          <p:cNvSpPr/>
          <p:nvPr/>
        </p:nvSpPr>
        <p:spPr>
          <a:xfrm>
            <a:off x="3027142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17" name="文本框 116"/>
          <p:cNvSpPr txBox="1"/>
          <p:nvPr/>
        </p:nvSpPr>
        <p:spPr>
          <a:xfrm>
            <a:off x="3030859" y="4360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图谱取证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3030859" y="4545577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事实、来源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3030859" y="469774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置信度、证据包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20" name="任意形状 119"/>
          <p:cNvSpPr/>
          <p:nvPr/>
        </p:nvSpPr>
        <p:spPr>
          <a:xfrm>
            <a:off x="4091717" y="4643704"/>
            <a:ext cx="184367" cy="2973"/>
          </a:xfrm>
          <a:custGeom>
            <a:avLst/>
            <a:gdLst>
              <a:gd name="csX0" fmla="*/ 0 w 184367"/>
              <a:gd name="csY0" fmla="*/ 0 h 2973"/>
              <a:gd name="csX1" fmla="*/ 184368 w 18436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367" h="2973">
                <a:moveTo>
                  <a:pt x="0" y="0"/>
                </a:moveTo>
                <a:lnTo>
                  <a:pt x="184368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21" name="任意形状 120"/>
          <p:cNvSpPr/>
          <p:nvPr/>
        </p:nvSpPr>
        <p:spPr>
          <a:xfrm>
            <a:off x="4216611" y="4590188"/>
            <a:ext cx="83262" cy="107030"/>
          </a:xfrm>
          <a:custGeom>
            <a:avLst/>
            <a:gdLst>
              <a:gd name="csX0" fmla="*/ 83263 w 83262"/>
              <a:gd name="csY0" fmla="*/ 53515 h 107030"/>
              <a:gd name="csX1" fmla="*/ 0 w 83262"/>
              <a:gd name="csY1" fmla="*/ 0 h 107030"/>
              <a:gd name="csX2" fmla="*/ 0 w 83262"/>
              <a:gd name="csY2" fmla="*/ 107031 h 107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262" h="107030">
                <a:moveTo>
                  <a:pt x="83263" y="53515"/>
                </a:moveTo>
                <a:lnTo>
                  <a:pt x="0" y="0"/>
                </a:lnTo>
                <a:lnTo>
                  <a:pt x="0" y="107031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22" name="任意形状 121"/>
          <p:cNvSpPr/>
          <p:nvPr/>
        </p:nvSpPr>
        <p:spPr>
          <a:xfrm>
            <a:off x="4323663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2E7D32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23" name="文本框 122"/>
          <p:cNvSpPr txBox="1"/>
          <p:nvPr/>
        </p:nvSpPr>
        <p:spPr>
          <a:xfrm>
            <a:off x="4327380" y="4360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规则校验</a:t>
            </a:r>
            <a:endParaRPr lang="zh-CN" altLang="en-US" sz="1200" b="1" spc="0" baseline="0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4327380" y="4545577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权限、产能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4327380" y="469774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政策、价格带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336712" y="4940652"/>
            <a:ext cx="38523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5265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证据链携带来源、时间、置信度，供智能体选择能力时复用</a:t>
            </a:r>
            <a:endParaRPr lang="zh-CN" altLang="en-US" sz="1100" spc="0" baseline="0" dirty="0">
              <a:solidFill>
                <a:srgbClr val="52657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27" name="任意形状 126"/>
          <p:cNvSpPr/>
          <p:nvPr/>
        </p:nvSpPr>
        <p:spPr>
          <a:xfrm>
            <a:off x="5982972" y="4590188"/>
            <a:ext cx="273577" cy="2973"/>
          </a:xfrm>
          <a:custGeom>
            <a:avLst/>
            <a:gdLst>
              <a:gd name="csX0" fmla="*/ 0 w 273577"/>
              <a:gd name="csY0" fmla="*/ 0 h 2973"/>
              <a:gd name="csX1" fmla="*/ 273578 w 27357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3577" h="2973">
                <a:moveTo>
                  <a:pt x="0" y="0"/>
                </a:moveTo>
                <a:lnTo>
                  <a:pt x="273578" y="0"/>
                </a:lnTo>
              </a:path>
            </a:pathLst>
          </a:custGeom>
          <a:ln w="17837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28" name="任意形状 127"/>
          <p:cNvSpPr/>
          <p:nvPr/>
        </p:nvSpPr>
        <p:spPr>
          <a:xfrm>
            <a:off x="6191129" y="4530727"/>
            <a:ext cx="89210" cy="118923"/>
          </a:xfrm>
          <a:custGeom>
            <a:avLst/>
            <a:gdLst>
              <a:gd name="csX0" fmla="*/ 89210 w 89210"/>
              <a:gd name="csY0" fmla="*/ 59462 h 118923"/>
              <a:gd name="csX1" fmla="*/ 0 w 89210"/>
              <a:gd name="csY1" fmla="*/ 0 h 118923"/>
              <a:gd name="csX2" fmla="*/ 0 w 89210"/>
              <a:gd name="csY2" fmla="*/ 118923 h 118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9210" h="118923">
                <a:moveTo>
                  <a:pt x="89210" y="59462"/>
                </a:moveTo>
                <a:lnTo>
                  <a:pt x="0" y="0"/>
                </a:lnTo>
                <a:lnTo>
                  <a:pt x="0" y="118923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29" name="任意形状 128"/>
          <p:cNvSpPr/>
          <p:nvPr/>
        </p:nvSpPr>
        <p:spPr>
          <a:xfrm>
            <a:off x="6280339" y="3950976"/>
            <a:ext cx="5715397" cy="1260586"/>
          </a:xfrm>
          <a:custGeom>
            <a:avLst/>
            <a:gdLst>
              <a:gd name="csX0" fmla="*/ 77315 w 5715397"/>
              <a:gd name="csY0" fmla="*/ 0 h 1260586"/>
              <a:gd name="csX1" fmla="*/ 5638083 w 5715397"/>
              <a:gd name="csY1" fmla="*/ 0 h 1260586"/>
              <a:gd name="csX2" fmla="*/ 5715398 w 5715397"/>
              <a:gd name="csY2" fmla="*/ 77300 h 1260586"/>
              <a:gd name="csX3" fmla="*/ 5715398 w 5715397"/>
              <a:gd name="csY3" fmla="*/ 1183287 h 1260586"/>
              <a:gd name="csX4" fmla="*/ 5638083 w 5715397"/>
              <a:gd name="csY4" fmla="*/ 1260587 h 1260586"/>
              <a:gd name="csX5" fmla="*/ 77315 w 5715397"/>
              <a:gd name="csY5" fmla="*/ 1260587 h 1260586"/>
              <a:gd name="csX6" fmla="*/ 0 w 5715397"/>
              <a:gd name="csY6" fmla="*/ 1183287 h 1260586"/>
              <a:gd name="csX7" fmla="*/ 0 w 5715397"/>
              <a:gd name="csY7" fmla="*/ 77300 h 1260586"/>
              <a:gd name="csX8" fmla="*/ 77315 w 5715397"/>
              <a:gd name="csY8" fmla="*/ 0 h 12605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715397" h="1260586">
                <a:moveTo>
                  <a:pt x="77315" y="0"/>
                </a:moveTo>
                <a:lnTo>
                  <a:pt x="5638083" y="0"/>
                </a:lnTo>
                <a:cubicBezTo>
                  <a:pt x="5679714" y="0"/>
                  <a:pt x="5715398" y="35677"/>
                  <a:pt x="5715398" y="77300"/>
                </a:cubicBezTo>
                <a:lnTo>
                  <a:pt x="5715398" y="1183287"/>
                </a:lnTo>
                <a:cubicBezTo>
                  <a:pt x="5715398" y="1224910"/>
                  <a:pt x="5679714" y="1260587"/>
                  <a:pt x="5638083" y="1260587"/>
                </a:cubicBezTo>
                <a:lnTo>
                  <a:pt x="77315" y="1260587"/>
                </a:lnTo>
                <a:cubicBezTo>
                  <a:pt x="35684" y="1260587"/>
                  <a:pt x="0" y="1224910"/>
                  <a:pt x="0" y="1183287"/>
                </a:cubicBez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F4F8FB"/>
          </a:solidFill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30" name="任意形状 129"/>
          <p:cNvSpPr/>
          <p:nvPr/>
        </p:nvSpPr>
        <p:spPr>
          <a:xfrm>
            <a:off x="6280339" y="3950976"/>
            <a:ext cx="5715397" cy="285415"/>
          </a:xfrm>
          <a:custGeom>
            <a:avLst/>
            <a:gdLst>
              <a:gd name="csX0" fmla="*/ 77315 w 5715397"/>
              <a:gd name="csY0" fmla="*/ 0 h 285415"/>
              <a:gd name="csX1" fmla="*/ 5638083 w 5715397"/>
              <a:gd name="csY1" fmla="*/ 0 h 285415"/>
              <a:gd name="csX2" fmla="*/ 5715398 w 5715397"/>
              <a:gd name="csY2" fmla="*/ 77300 h 285415"/>
              <a:gd name="csX3" fmla="*/ 5715398 w 5715397"/>
              <a:gd name="csY3" fmla="*/ 285416 h 285415"/>
              <a:gd name="csX4" fmla="*/ 0 w 5715397"/>
              <a:gd name="csY4" fmla="*/ 285416 h 285415"/>
              <a:gd name="csX5" fmla="*/ 0 w 5715397"/>
              <a:gd name="csY5" fmla="*/ 77300 h 285415"/>
              <a:gd name="csX6" fmla="*/ 77315 w 5715397"/>
              <a:gd name="csY6" fmla="*/ 0 h 285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15397" h="285415">
                <a:moveTo>
                  <a:pt x="77315" y="0"/>
                </a:moveTo>
                <a:lnTo>
                  <a:pt x="5638083" y="0"/>
                </a:lnTo>
                <a:cubicBezTo>
                  <a:pt x="5679714" y="0"/>
                  <a:pt x="5715398" y="35677"/>
                  <a:pt x="5715398" y="77300"/>
                </a:cubicBezTo>
                <a:lnTo>
                  <a:pt x="5715398" y="285416"/>
                </a:lnTo>
                <a:lnTo>
                  <a:pt x="0" y="285416"/>
                </a:ln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E7F2F8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31" name="文本框 130"/>
          <p:cNvSpPr txBox="1"/>
          <p:nvPr/>
        </p:nvSpPr>
        <p:spPr>
          <a:xfrm>
            <a:off x="6319741" y="3913152"/>
            <a:ext cx="2876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spc="0" baseline="0" dirty="0">
                <a:solidFill>
                  <a:srgbClr val="11377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调度层：智能体协同编排核心</a:t>
            </a:r>
            <a:endParaRPr lang="zh-CN" altLang="en-US" sz="1600" b="1" spc="0" baseline="0" dirty="0">
              <a:solidFill>
                <a:srgbClr val="11377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530988" y="3970256"/>
            <a:ext cx="24416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5265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负责上下文、技能、工具与审计闭环</a:t>
            </a:r>
            <a:endParaRPr lang="zh-CN" altLang="en-US" sz="1100" spc="0" baseline="0" dirty="0">
              <a:solidFill>
                <a:srgbClr val="52657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33" name="任意形状 132"/>
          <p:cNvSpPr/>
          <p:nvPr/>
        </p:nvSpPr>
        <p:spPr>
          <a:xfrm>
            <a:off x="6417128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34" name="文本框 133"/>
          <p:cNvSpPr txBox="1"/>
          <p:nvPr/>
        </p:nvSpPr>
        <p:spPr>
          <a:xfrm>
            <a:off x="6420846" y="436084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上下文装配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6420846" y="4545577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目标、证据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6420846" y="469774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记忆、业务约束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37" name="任意形状 136"/>
          <p:cNvSpPr/>
          <p:nvPr/>
        </p:nvSpPr>
        <p:spPr>
          <a:xfrm>
            <a:off x="7481703" y="4643704"/>
            <a:ext cx="184367" cy="2973"/>
          </a:xfrm>
          <a:custGeom>
            <a:avLst/>
            <a:gdLst>
              <a:gd name="csX0" fmla="*/ 0 w 184367"/>
              <a:gd name="csY0" fmla="*/ 0 h 2973"/>
              <a:gd name="csX1" fmla="*/ 184368 w 18436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367" h="2973">
                <a:moveTo>
                  <a:pt x="0" y="0"/>
                </a:moveTo>
                <a:lnTo>
                  <a:pt x="184368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38" name="任意形状 137"/>
          <p:cNvSpPr/>
          <p:nvPr/>
        </p:nvSpPr>
        <p:spPr>
          <a:xfrm>
            <a:off x="7606597" y="4590188"/>
            <a:ext cx="83262" cy="107030"/>
          </a:xfrm>
          <a:custGeom>
            <a:avLst/>
            <a:gdLst>
              <a:gd name="csX0" fmla="*/ 83263 w 83262"/>
              <a:gd name="csY0" fmla="*/ 53515 h 107030"/>
              <a:gd name="csX1" fmla="*/ 0 w 83262"/>
              <a:gd name="csY1" fmla="*/ 0 h 107030"/>
              <a:gd name="csX2" fmla="*/ 0 w 83262"/>
              <a:gd name="csY2" fmla="*/ 107031 h 107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262" h="107030">
                <a:moveTo>
                  <a:pt x="83263" y="53515"/>
                </a:moveTo>
                <a:lnTo>
                  <a:pt x="0" y="0"/>
                </a:lnTo>
                <a:lnTo>
                  <a:pt x="0" y="107031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39" name="任意形状 138"/>
          <p:cNvSpPr/>
          <p:nvPr/>
        </p:nvSpPr>
        <p:spPr>
          <a:xfrm>
            <a:off x="7713649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40" name="文本框 139"/>
          <p:cNvSpPr txBox="1"/>
          <p:nvPr/>
        </p:nvSpPr>
        <p:spPr>
          <a:xfrm>
            <a:off x="7717367" y="4360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能力路由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7717367" y="454557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选择技能</a:t>
            </a:r>
            <a:endParaRPr lang="zh-CN" altLang="en-US" sz="11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7717367" y="469774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匹配工具参数</a:t>
            </a:r>
            <a:endParaRPr lang="zh-CN" altLang="en-US" sz="11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43" name="任意形状 142"/>
          <p:cNvSpPr/>
          <p:nvPr/>
        </p:nvSpPr>
        <p:spPr>
          <a:xfrm>
            <a:off x="8778224" y="4643704"/>
            <a:ext cx="184367" cy="2973"/>
          </a:xfrm>
          <a:custGeom>
            <a:avLst/>
            <a:gdLst>
              <a:gd name="csX0" fmla="*/ 0 w 184367"/>
              <a:gd name="csY0" fmla="*/ 0 h 2973"/>
              <a:gd name="csX1" fmla="*/ 184368 w 18436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367" h="2973">
                <a:moveTo>
                  <a:pt x="0" y="0"/>
                </a:moveTo>
                <a:lnTo>
                  <a:pt x="184368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44" name="任意形状 143"/>
          <p:cNvSpPr/>
          <p:nvPr/>
        </p:nvSpPr>
        <p:spPr>
          <a:xfrm>
            <a:off x="8903118" y="4590188"/>
            <a:ext cx="83262" cy="107030"/>
          </a:xfrm>
          <a:custGeom>
            <a:avLst/>
            <a:gdLst>
              <a:gd name="csX0" fmla="*/ 83263 w 83262"/>
              <a:gd name="csY0" fmla="*/ 53515 h 107030"/>
              <a:gd name="csX1" fmla="*/ 0 w 83262"/>
              <a:gd name="csY1" fmla="*/ 0 h 107030"/>
              <a:gd name="csX2" fmla="*/ 0 w 83262"/>
              <a:gd name="csY2" fmla="*/ 107031 h 107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262" h="107030">
                <a:moveTo>
                  <a:pt x="83263" y="53515"/>
                </a:moveTo>
                <a:lnTo>
                  <a:pt x="0" y="0"/>
                </a:lnTo>
                <a:lnTo>
                  <a:pt x="0" y="107031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45" name="任意形状 144"/>
          <p:cNvSpPr/>
          <p:nvPr/>
        </p:nvSpPr>
        <p:spPr>
          <a:xfrm>
            <a:off x="9010170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46" name="文本框 145"/>
          <p:cNvSpPr txBox="1"/>
          <p:nvPr/>
        </p:nvSpPr>
        <p:spPr>
          <a:xfrm>
            <a:off x="9013888" y="4360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工具执行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9013888" y="4545577"/>
            <a:ext cx="877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SQL、预测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9013888" y="469774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配置、报表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49" name="任意形状 148"/>
          <p:cNvSpPr/>
          <p:nvPr/>
        </p:nvSpPr>
        <p:spPr>
          <a:xfrm>
            <a:off x="10074745" y="4643704"/>
            <a:ext cx="184367" cy="2973"/>
          </a:xfrm>
          <a:custGeom>
            <a:avLst/>
            <a:gdLst>
              <a:gd name="csX0" fmla="*/ 0 w 184367"/>
              <a:gd name="csY0" fmla="*/ 0 h 2973"/>
              <a:gd name="csX1" fmla="*/ 184368 w 184367"/>
              <a:gd name="csY1" fmla="*/ 0 h 2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367" h="2973">
                <a:moveTo>
                  <a:pt x="0" y="0"/>
                </a:moveTo>
                <a:lnTo>
                  <a:pt x="184368" y="0"/>
                </a:lnTo>
              </a:path>
            </a:pathLst>
          </a:custGeom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50" name="任意形状 149"/>
          <p:cNvSpPr/>
          <p:nvPr/>
        </p:nvSpPr>
        <p:spPr>
          <a:xfrm>
            <a:off x="10199639" y="4590188"/>
            <a:ext cx="83262" cy="107030"/>
          </a:xfrm>
          <a:custGeom>
            <a:avLst/>
            <a:gdLst>
              <a:gd name="csX0" fmla="*/ 83263 w 83262"/>
              <a:gd name="csY0" fmla="*/ 53515 h 107030"/>
              <a:gd name="csX1" fmla="*/ 0 w 83262"/>
              <a:gd name="csY1" fmla="*/ 0 h 107030"/>
              <a:gd name="csX2" fmla="*/ 0 w 83262"/>
              <a:gd name="csY2" fmla="*/ 107031 h 107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262" h="107030">
                <a:moveTo>
                  <a:pt x="83263" y="53515"/>
                </a:moveTo>
                <a:lnTo>
                  <a:pt x="0" y="0"/>
                </a:lnTo>
                <a:lnTo>
                  <a:pt x="0" y="107031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51" name="任意形状 150"/>
          <p:cNvSpPr/>
          <p:nvPr/>
        </p:nvSpPr>
        <p:spPr>
          <a:xfrm>
            <a:off x="10306691" y="4367207"/>
            <a:ext cx="1064574" cy="552993"/>
          </a:xfrm>
          <a:custGeom>
            <a:avLst/>
            <a:gdLst>
              <a:gd name="csX0" fmla="*/ 65421 w 1064574"/>
              <a:gd name="csY0" fmla="*/ 0 h 552993"/>
              <a:gd name="csX1" fmla="*/ 999154 w 1064574"/>
              <a:gd name="csY1" fmla="*/ 0 h 552993"/>
              <a:gd name="csX2" fmla="*/ 1064575 w 1064574"/>
              <a:gd name="csY2" fmla="*/ 65408 h 552993"/>
              <a:gd name="csX3" fmla="*/ 1064575 w 1064574"/>
              <a:gd name="csY3" fmla="*/ 487586 h 552993"/>
              <a:gd name="csX4" fmla="*/ 999154 w 1064574"/>
              <a:gd name="csY4" fmla="*/ 552993 h 552993"/>
              <a:gd name="csX5" fmla="*/ 65421 w 1064574"/>
              <a:gd name="csY5" fmla="*/ 552993 h 552993"/>
              <a:gd name="csX6" fmla="*/ 0 w 1064574"/>
              <a:gd name="csY6" fmla="*/ 487586 h 552993"/>
              <a:gd name="csX7" fmla="*/ 0 w 1064574"/>
              <a:gd name="csY7" fmla="*/ 65408 h 552993"/>
              <a:gd name="csX8" fmla="*/ 65421 w 1064574"/>
              <a:gd name="csY8" fmla="*/ 0 h 55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4574" h="552993">
                <a:moveTo>
                  <a:pt x="65421" y="0"/>
                </a:moveTo>
                <a:lnTo>
                  <a:pt x="999154" y="0"/>
                </a:lnTo>
                <a:cubicBezTo>
                  <a:pt x="1034838" y="0"/>
                  <a:pt x="1064575" y="29731"/>
                  <a:pt x="1064575" y="65408"/>
                </a:cubicBezTo>
                <a:lnTo>
                  <a:pt x="1064575" y="487586"/>
                </a:lnTo>
                <a:cubicBezTo>
                  <a:pt x="1064575" y="523263"/>
                  <a:pt x="1034838" y="552993"/>
                  <a:pt x="999154" y="552993"/>
                </a:cubicBezTo>
                <a:lnTo>
                  <a:pt x="65421" y="552993"/>
                </a:lnTo>
                <a:cubicBezTo>
                  <a:pt x="29737" y="552993"/>
                  <a:pt x="0" y="523263"/>
                  <a:pt x="0" y="487586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52" name="文本框 151"/>
          <p:cNvSpPr txBox="1"/>
          <p:nvPr/>
        </p:nvSpPr>
        <p:spPr>
          <a:xfrm>
            <a:off x="10310409" y="4360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轨迹审计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10310409" y="454557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调用链、版本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0310409" y="469774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可追溯记录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6319741" y="4940652"/>
            <a:ext cx="35958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52657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智能体按证据、记忆和工具状态调用上层 5 个能力模块</a:t>
            </a:r>
            <a:endParaRPr lang="zh-CN" altLang="en-US" sz="1100" spc="0" baseline="0" dirty="0">
              <a:solidFill>
                <a:srgbClr val="52657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156" name="任意形状 155"/>
          <p:cNvSpPr/>
          <p:nvPr/>
        </p:nvSpPr>
        <p:spPr>
          <a:xfrm>
            <a:off x="3140141" y="5211563"/>
            <a:ext cx="2973" cy="196223"/>
          </a:xfrm>
          <a:custGeom>
            <a:avLst/>
            <a:gdLst>
              <a:gd name="csX0" fmla="*/ 0 w 2973"/>
              <a:gd name="csY0" fmla="*/ 0 h 196223"/>
              <a:gd name="csX1" fmla="*/ 0 w 2973"/>
              <a:gd name="csY1" fmla="*/ 196223 h 196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196223">
                <a:moveTo>
                  <a:pt x="0" y="0"/>
                </a:moveTo>
                <a:lnTo>
                  <a:pt x="0" y="196223"/>
                </a:lnTo>
              </a:path>
            </a:pathLst>
          </a:custGeom>
          <a:ln w="17837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57" name="任意形状 156"/>
          <p:cNvSpPr/>
          <p:nvPr/>
        </p:nvSpPr>
        <p:spPr>
          <a:xfrm>
            <a:off x="3080668" y="5336432"/>
            <a:ext cx="118946" cy="101084"/>
          </a:xfrm>
          <a:custGeom>
            <a:avLst/>
            <a:gdLst>
              <a:gd name="csX0" fmla="*/ 59473 w 118946"/>
              <a:gd name="csY0" fmla="*/ 101085 h 101084"/>
              <a:gd name="csX1" fmla="*/ 0 w 118946"/>
              <a:gd name="csY1" fmla="*/ 0 h 101084"/>
              <a:gd name="csX2" fmla="*/ 118947 w 118946"/>
              <a:gd name="csY2" fmla="*/ 0 h 1010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946" h="101084">
                <a:moveTo>
                  <a:pt x="59473" y="101085"/>
                </a:moveTo>
                <a:lnTo>
                  <a:pt x="0" y="0"/>
                </a:lnTo>
                <a:lnTo>
                  <a:pt x="118947" y="0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58" name="任意形状 157"/>
          <p:cNvSpPr/>
          <p:nvPr/>
        </p:nvSpPr>
        <p:spPr>
          <a:xfrm>
            <a:off x="9138038" y="5211563"/>
            <a:ext cx="2973" cy="196223"/>
          </a:xfrm>
          <a:custGeom>
            <a:avLst/>
            <a:gdLst>
              <a:gd name="csX0" fmla="*/ 0 w 2973"/>
              <a:gd name="csY0" fmla="*/ 0 h 196223"/>
              <a:gd name="csX1" fmla="*/ 0 w 2973"/>
              <a:gd name="csY1" fmla="*/ 196223 h 196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73" h="196223">
                <a:moveTo>
                  <a:pt x="0" y="0"/>
                </a:moveTo>
                <a:lnTo>
                  <a:pt x="0" y="196223"/>
                </a:lnTo>
              </a:path>
            </a:pathLst>
          </a:custGeom>
          <a:ln w="17837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86" name="任意形状 185"/>
          <p:cNvSpPr/>
          <p:nvPr/>
        </p:nvSpPr>
        <p:spPr>
          <a:xfrm>
            <a:off x="9078565" y="5336432"/>
            <a:ext cx="118946" cy="101084"/>
          </a:xfrm>
          <a:custGeom>
            <a:avLst/>
            <a:gdLst>
              <a:gd name="csX0" fmla="*/ 59473 w 118946"/>
              <a:gd name="csY0" fmla="*/ 101085 h 101084"/>
              <a:gd name="csX1" fmla="*/ 0 w 118946"/>
              <a:gd name="csY1" fmla="*/ 0 h 101084"/>
              <a:gd name="csX2" fmla="*/ 118947 w 118946"/>
              <a:gd name="csY2" fmla="*/ 0 h 1010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946" h="101084">
                <a:moveTo>
                  <a:pt x="59473" y="101085"/>
                </a:moveTo>
                <a:lnTo>
                  <a:pt x="0" y="0"/>
                </a:lnTo>
                <a:lnTo>
                  <a:pt x="118947" y="0"/>
                </a:lnTo>
                <a:close/>
              </a:path>
            </a:pathLst>
          </a:custGeom>
          <a:solidFill>
            <a:srgbClr val="113770"/>
          </a:solidFill>
          <a:ln w="2973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191" name="任意形状 190"/>
          <p:cNvSpPr/>
          <p:nvPr/>
        </p:nvSpPr>
        <p:spPr>
          <a:xfrm>
            <a:off x="297311" y="5437517"/>
            <a:ext cx="11698426" cy="844355"/>
          </a:xfrm>
          <a:custGeom>
            <a:avLst/>
            <a:gdLst>
              <a:gd name="csX0" fmla="*/ 77315 w 11698426"/>
              <a:gd name="csY0" fmla="*/ 0 h 844355"/>
              <a:gd name="csX1" fmla="*/ 11621111 w 11698426"/>
              <a:gd name="csY1" fmla="*/ 0 h 844355"/>
              <a:gd name="csX2" fmla="*/ 11698426 w 11698426"/>
              <a:gd name="csY2" fmla="*/ 77300 h 844355"/>
              <a:gd name="csX3" fmla="*/ 11698426 w 11698426"/>
              <a:gd name="csY3" fmla="*/ 767055 h 844355"/>
              <a:gd name="csX4" fmla="*/ 11621111 w 11698426"/>
              <a:gd name="csY4" fmla="*/ 844355 h 844355"/>
              <a:gd name="csX5" fmla="*/ 77315 w 11698426"/>
              <a:gd name="csY5" fmla="*/ 844355 h 844355"/>
              <a:gd name="csX6" fmla="*/ 0 w 11698426"/>
              <a:gd name="csY6" fmla="*/ 767055 h 844355"/>
              <a:gd name="csX7" fmla="*/ 0 w 11698426"/>
              <a:gd name="csY7" fmla="*/ 77300 h 844355"/>
              <a:gd name="csX8" fmla="*/ 77315 w 11698426"/>
              <a:gd name="csY8" fmla="*/ 0 h 844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698426" h="844355">
                <a:moveTo>
                  <a:pt x="77315" y="0"/>
                </a:moveTo>
                <a:lnTo>
                  <a:pt x="11621111" y="0"/>
                </a:lnTo>
                <a:cubicBezTo>
                  <a:pt x="11662742" y="0"/>
                  <a:pt x="11698426" y="35677"/>
                  <a:pt x="11698426" y="77300"/>
                </a:cubicBezTo>
                <a:lnTo>
                  <a:pt x="11698426" y="767055"/>
                </a:lnTo>
                <a:cubicBezTo>
                  <a:pt x="11698426" y="808678"/>
                  <a:pt x="11662742" y="844355"/>
                  <a:pt x="11621111" y="844355"/>
                </a:cubicBezTo>
                <a:lnTo>
                  <a:pt x="77315" y="844355"/>
                </a:lnTo>
                <a:cubicBezTo>
                  <a:pt x="35684" y="844355"/>
                  <a:pt x="0" y="808678"/>
                  <a:pt x="0" y="767055"/>
                </a:cubicBez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F4F8FB"/>
          </a:solidFill>
          <a:ln w="14864" cap="flat">
            <a:solidFill>
              <a:srgbClr val="113770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04" name="任意形状 203"/>
          <p:cNvSpPr/>
          <p:nvPr/>
        </p:nvSpPr>
        <p:spPr>
          <a:xfrm>
            <a:off x="297311" y="5437517"/>
            <a:ext cx="11698426" cy="237846"/>
          </a:xfrm>
          <a:custGeom>
            <a:avLst/>
            <a:gdLst>
              <a:gd name="csX0" fmla="*/ 77315 w 11698426"/>
              <a:gd name="csY0" fmla="*/ 0 h 237846"/>
              <a:gd name="csX1" fmla="*/ 11621111 w 11698426"/>
              <a:gd name="csY1" fmla="*/ 0 h 237846"/>
              <a:gd name="csX2" fmla="*/ 11698426 w 11698426"/>
              <a:gd name="csY2" fmla="*/ 77300 h 237846"/>
              <a:gd name="csX3" fmla="*/ 11698426 w 11698426"/>
              <a:gd name="csY3" fmla="*/ 237847 h 237846"/>
              <a:gd name="csX4" fmla="*/ 0 w 11698426"/>
              <a:gd name="csY4" fmla="*/ 237847 h 237846"/>
              <a:gd name="csX5" fmla="*/ 0 w 11698426"/>
              <a:gd name="csY5" fmla="*/ 77300 h 237846"/>
              <a:gd name="csX6" fmla="*/ 77315 w 11698426"/>
              <a:gd name="csY6" fmla="*/ 0 h 237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98426" h="237846">
                <a:moveTo>
                  <a:pt x="77315" y="0"/>
                </a:moveTo>
                <a:lnTo>
                  <a:pt x="11621111" y="0"/>
                </a:lnTo>
                <a:cubicBezTo>
                  <a:pt x="11662742" y="0"/>
                  <a:pt x="11698426" y="35677"/>
                  <a:pt x="11698426" y="77300"/>
                </a:cubicBezTo>
                <a:lnTo>
                  <a:pt x="11698426" y="237847"/>
                </a:lnTo>
                <a:lnTo>
                  <a:pt x="0" y="237847"/>
                </a:lnTo>
                <a:lnTo>
                  <a:pt x="0" y="77300"/>
                </a:lnTo>
                <a:cubicBezTo>
                  <a:pt x="0" y="35677"/>
                  <a:pt x="35684" y="0"/>
                  <a:pt x="77315" y="0"/>
                </a:cubicBezTo>
                <a:close/>
              </a:path>
            </a:pathLst>
          </a:custGeom>
          <a:solidFill>
            <a:srgbClr val="DCEBF5"/>
          </a:solidFill>
          <a:ln w="2973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21" name="文本框 220"/>
          <p:cNvSpPr txBox="1"/>
          <p:nvPr/>
        </p:nvSpPr>
        <p:spPr>
          <a:xfrm>
            <a:off x="336712" y="539140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spc="0" baseline="0" dirty="0">
                <a:solidFill>
                  <a:srgbClr val="11377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共享底座</a:t>
            </a:r>
            <a:endParaRPr lang="zh-CN" altLang="en-US" sz="1600" b="1" spc="0" baseline="0" dirty="0">
              <a:solidFill>
                <a:srgbClr val="11377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61" name="任意形状 260"/>
          <p:cNvSpPr/>
          <p:nvPr/>
        </p:nvSpPr>
        <p:spPr>
          <a:xfrm>
            <a:off x="440047" y="5764556"/>
            <a:ext cx="1926939" cy="398393"/>
          </a:xfrm>
          <a:custGeom>
            <a:avLst/>
            <a:gdLst>
              <a:gd name="csX0" fmla="*/ 65421 w 1926939"/>
              <a:gd name="csY0" fmla="*/ 0 h 398393"/>
              <a:gd name="csX1" fmla="*/ 1861519 w 1926939"/>
              <a:gd name="csY1" fmla="*/ 0 h 398393"/>
              <a:gd name="csX2" fmla="*/ 1926940 w 1926939"/>
              <a:gd name="csY2" fmla="*/ 65408 h 398393"/>
              <a:gd name="csX3" fmla="*/ 1926940 w 1926939"/>
              <a:gd name="csY3" fmla="*/ 332985 h 398393"/>
              <a:gd name="csX4" fmla="*/ 1861519 w 1926939"/>
              <a:gd name="csY4" fmla="*/ 398393 h 398393"/>
              <a:gd name="csX5" fmla="*/ 65421 w 1926939"/>
              <a:gd name="csY5" fmla="*/ 398393 h 398393"/>
              <a:gd name="csX6" fmla="*/ 0 w 1926939"/>
              <a:gd name="csY6" fmla="*/ 332985 h 398393"/>
              <a:gd name="csX7" fmla="*/ 0 w 1926939"/>
              <a:gd name="csY7" fmla="*/ 65408 h 398393"/>
              <a:gd name="csX8" fmla="*/ 65421 w 1926939"/>
              <a:gd name="csY8" fmla="*/ 0 h 398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26939" h="398393">
                <a:moveTo>
                  <a:pt x="65421" y="0"/>
                </a:moveTo>
                <a:lnTo>
                  <a:pt x="1861519" y="0"/>
                </a:lnTo>
                <a:cubicBezTo>
                  <a:pt x="1897203" y="0"/>
                  <a:pt x="1926940" y="29731"/>
                  <a:pt x="1926940" y="65408"/>
                </a:cubicBezTo>
                <a:lnTo>
                  <a:pt x="1926940" y="332985"/>
                </a:lnTo>
                <a:cubicBezTo>
                  <a:pt x="1926940" y="368662"/>
                  <a:pt x="1897203" y="398393"/>
                  <a:pt x="1861519" y="398393"/>
                </a:cubicBezTo>
                <a:lnTo>
                  <a:pt x="65421" y="398393"/>
                </a:lnTo>
                <a:cubicBezTo>
                  <a:pt x="29737" y="398393"/>
                  <a:pt x="0" y="368662"/>
                  <a:pt x="0" y="332985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62" name="文本框 261"/>
          <p:cNvSpPr txBox="1"/>
          <p:nvPr/>
        </p:nvSpPr>
        <p:spPr>
          <a:xfrm>
            <a:off x="443765" y="57664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多源数据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443765" y="5922115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市场、产品、成本、营销</a:t>
            </a:r>
            <a:endParaRPr lang="zh-CN" altLang="en-US" sz="1100" spc="0" baseline="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64" name="任意形状 263"/>
          <p:cNvSpPr/>
          <p:nvPr/>
        </p:nvSpPr>
        <p:spPr>
          <a:xfrm>
            <a:off x="2741669" y="5764556"/>
            <a:ext cx="1926939" cy="398393"/>
          </a:xfrm>
          <a:custGeom>
            <a:avLst/>
            <a:gdLst>
              <a:gd name="csX0" fmla="*/ 65421 w 1926939"/>
              <a:gd name="csY0" fmla="*/ 0 h 398393"/>
              <a:gd name="csX1" fmla="*/ 1861519 w 1926939"/>
              <a:gd name="csY1" fmla="*/ 0 h 398393"/>
              <a:gd name="csX2" fmla="*/ 1926940 w 1926939"/>
              <a:gd name="csY2" fmla="*/ 65408 h 398393"/>
              <a:gd name="csX3" fmla="*/ 1926940 w 1926939"/>
              <a:gd name="csY3" fmla="*/ 332985 h 398393"/>
              <a:gd name="csX4" fmla="*/ 1861519 w 1926939"/>
              <a:gd name="csY4" fmla="*/ 398393 h 398393"/>
              <a:gd name="csX5" fmla="*/ 65421 w 1926939"/>
              <a:gd name="csY5" fmla="*/ 398393 h 398393"/>
              <a:gd name="csX6" fmla="*/ 0 w 1926939"/>
              <a:gd name="csY6" fmla="*/ 332985 h 398393"/>
              <a:gd name="csX7" fmla="*/ 0 w 1926939"/>
              <a:gd name="csY7" fmla="*/ 65408 h 398393"/>
              <a:gd name="csX8" fmla="*/ 65421 w 1926939"/>
              <a:gd name="csY8" fmla="*/ 0 h 398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26939" h="398393">
                <a:moveTo>
                  <a:pt x="65421" y="0"/>
                </a:moveTo>
                <a:lnTo>
                  <a:pt x="1861519" y="0"/>
                </a:lnTo>
                <a:cubicBezTo>
                  <a:pt x="1897203" y="0"/>
                  <a:pt x="1926940" y="29731"/>
                  <a:pt x="1926940" y="65408"/>
                </a:cubicBezTo>
                <a:lnTo>
                  <a:pt x="1926940" y="332985"/>
                </a:lnTo>
                <a:cubicBezTo>
                  <a:pt x="1926940" y="368662"/>
                  <a:pt x="1897203" y="398393"/>
                  <a:pt x="1861519" y="398393"/>
                </a:cubicBezTo>
                <a:lnTo>
                  <a:pt x="65421" y="398393"/>
                </a:lnTo>
                <a:cubicBezTo>
                  <a:pt x="29737" y="398393"/>
                  <a:pt x="0" y="368662"/>
                  <a:pt x="0" y="332985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65" name="文本框 264"/>
          <p:cNvSpPr txBox="1"/>
          <p:nvPr/>
        </p:nvSpPr>
        <p:spPr>
          <a:xfrm>
            <a:off x="2745387" y="57664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知识图谱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745387" y="5922115"/>
            <a:ext cx="18774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实体、关系、指标、证据链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67" name="任意形状 266"/>
          <p:cNvSpPr/>
          <p:nvPr/>
        </p:nvSpPr>
        <p:spPr>
          <a:xfrm>
            <a:off x="5043292" y="5764556"/>
            <a:ext cx="1926939" cy="398393"/>
          </a:xfrm>
          <a:custGeom>
            <a:avLst/>
            <a:gdLst>
              <a:gd name="csX0" fmla="*/ 65421 w 1926939"/>
              <a:gd name="csY0" fmla="*/ 0 h 398393"/>
              <a:gd name="csX1" fmla="*/ 1861519 w 1926939"/>
              <a:gd name="csY1" fmla="*/ 0 h 398393"/>
              <a:gd name="csX2" fmla="*/ 1926940 w 1926939"/>
              <a:gd name="csY2" fmla="*/ 65408 h 398393"/>
              <a:gd name="csX3" fmla="*/ 1926940 w 1926939"/>
              <a:gd name="csY3" fmla="*/ 332985 h 398393"/>
              <a:gd name="csX4" fmla="*/ 1861519 w 1926939"/>
              <a:gd name="csY4" fmla="*/ 398393 h 398393"/>
              <a:gd name="csX5" fmla="*/ 65421 w 1926939"/>
              <a:gd name="csY5" fmla="*/ 398393 h 398393"/>
              <a:gd name="csX6" fmla="*/ 0 w 1926939"/>
              <a:gd name="csY6" fmla="*/ 332985 h 398393"/>
              <a:gd name="csX7" fmla="*/ 0 w 1926939"/>
              <a:gd name="csY7" fmla="*/ 65408 h 398393"/>
              <a:gd name="csX8" fmla="*/ 65421 w 1926939"/>
              <a:gd name="csY8" fmla="*/ 0 h 398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26939" h="398393">
                <a:moveTo>
                  <a:pt x="65421" y="0"/>
                </a:moveTo>
                <a:lnTo>
                  <a:pt x="1861519" y="0"/>
                </a:lnTo>
                <a:cubicBezTo>
                  <a:pt x="1897203" y="0"/>
                  <a:pt x="1926940" y="29731"/>
                  <a:pt x="1926940" y="65408"/>
                </a:cubicBezTo>
                <a:lnTo>
                  <a:pt x="1926940" y="332985"/>
                </a:lnTo>
                <a:cubicBezTo>
                  <a:pt x="1926940" y="368662"/>
                  <a:pt x="1897203" y="398393"/>
                  <a:pt x="1861519" y="398393"/>
                </a:cubicBezTo>
                <a:lnTo>
                  <a:pt x="65421" y="398393"/>
                </a:lnTo>
                <a:cubicBezTo>
                  <a:pt x="29737" y="398393"/>
                  <a:pt x="0" y="368662"/>
                  <a:pt x="0" y="332985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68" name="文本框 267"/>
          <p:cNvSpPr txBox="1"/>
          <p:nvPr/>
        </p:nvSpPr>
        <p:spPr>
          <a:xfrm>
            <a:off x="5047009" y="57664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标准协议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5047009" y="5922115"/>
            <a:ext cx="2018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工具调用、参数、权限、留痕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70" name="任意形状 269"/>
          <p:cNvSpPr/>
          <p:nvPr/>
        </p:nvSpPr>
        <p:spPr>
          <a:xfrm>
            <a:off x="7344914" y="5764556"/>
            <a:ext cx="1926939" cy="398393"/>
          </a:xfrm>
          <a:custGeom>
            <a:avLst/>
            <a:gdLst>
              <a:gd name="csX0" fmla="*/ 65421 w 1926939"/>
              <a:gd name="csY0" fmla="*/ 0 h 398393"/>
              <a:gd name="csX1" fmla="*/ 1861519 w 1926939"/>
              <a:gd name="csY1" fmla="*/ 0 h 398393"/>
              <a:gd name="csX2" fmla="*/ 1926940 w 1926939"/>
              <a:gd name="csY2" fmla="*/ 65408 h 398393"/>
              <a:gd name="csX3" fmla="*/ 1926940 w 1926939"/>
              <a:gd name="csY3" fmla="*/ 332985 h 398393"/>
              <a:gd name="csX4" fmla="*/ 1861519 w 1926939"/>
              <a:gd name="csY4" fmla="*/ 398393 h 398393"/>
              <a:gd name="csX5" fmla="*/ 65421 w 1926939"/>
              <a:gd name="csY5" fmla="*/ 398393 h 398393"/>
              <a:gd name="csX6" fmla="*/ 0 w 1926939"/>
              <a:gd name="csY6" fmla="*/ 332985 h 398393"/>
              <a:gd name="csX7" fmla="*/ 0 w 1926939"/>
              <a:gd name="csY7" fmla="*/ 65408 h 398393"/>
              <a:gd name="csX8" fmla="*/ 65421 w 1926939"/>
              <a:gd name="csY8" fmla="*/ 0 h 398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26939" h="398393">
                <a:moveTo>
                  <a:pt x="65421" y="0"/>
                </a:moveTo>
                <a:lnTo>
                  <a:pt x="1861519" y="0"/>
                </a:lnTo>
                <a:cubicBezTo>
                  <a:pt x="1897203" y="0"/>
                  <a:pt x="1926940" y="29731"/>
                  <a:pt x="1926940" y="65408"/>
                </a:cubicBezTo>
                <a:lnTo>
                  <a:pt x="1926940" y="332985"/>
                </a:lnTo>
                <a:cubicBezTo>
                  <a:pt x="1926940" y="368662"/>
                  <a:pt x="1897203" y="398393"/>
                  <a:pt x="1861519" y="398393"/>
                </a:cubicBezTo>
                <a:lnTo>
                  <a:pt x="65421" y="398393"/>
                </a:lnTo>
                <a:cubicBezTo>
                  <a:pt x="29737" y="398393"/>
                  <a:pt x="0" y="368662"/>
                  <a:pt x="0" y="332985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71" name="文本框 270"/>
          <p:cNvSpPr txBox="1"/>
          <p:nvPr/>
        </p:nvSpPr>
        <p:spPr>
          <a:xfrm>
            <a:off x="7348631" y="57664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共享记忆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7348631" y="5922115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事实、上下文、轨迹链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73" name="任意形状 272"/>
          <p:cNvSpPr/>
          <p:nvPr/>
        </p:nvSpPr>
        <p:spPr>
          <a:xfrm>
            <a:off x="9646536" y="5764556"/>
            <a:ext cx="1926939" cy="398393"/>
          </a:xfrm>
          <a:custGeom>
            <a:avLst/>
            <a:gdLst>
              <a:gd name="csX0" fmla="*/ 65421 w 1926939"/>
              <a:gd name="csY0" fmla="*/ 0 h 398393"/>
              <a:gd name="csX1" fmla="*/ 1861519 w 1926939"/>
              <a:gd name="csY1" fmla="*/ 0 h 398393"/>
              <a:gd name="csX2" fmla="*/ 1926940 w 1926939"/>
              <a:gd name="csY2" fmla="*/ 65408 h 398393"/>
              <a:gd name="csX3" fmla="*/ 1926940 w 1926939"/>
              <a:gd name="csY3" fmla="*/ 332985 h 398393"/>
              <a:gd name="csX4" fmla="*/ 1861519 w 1926939"/>
              <a:gd name="csY4" fmla="*/ 398393 h 398393"/>
              <a:gd name="csX5" fmla="*/ 65421 w 1926939"/>
              <a:gd name="csY5" fmla="*/ 398393 h 398393"/>
              <a:gd name="csX6" fmla="*/ 0 w 1926939"/>
              <a:gd name="csY6" fmla="*/ 332985 h 398393"/>
              <a:gd name="csX7" fmla="*/ 0 w 1926939"/>
              <a:gd name="csY7" fmla="*/ 65408 h 398393"/>
              <a:gd name="csX8" fmla="*/ 65421 w 1926939"/>
              <a:gd name="csY8" fmla="*/ 0 h 398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26939" h="398393">
                <a:moveTo>
                  <a:pt x="65421" y="0"/>
                </a:moveTo>
                <a:lnTo>
                  <a:pt x="1861519" y="0"/>
                </a:lnTo>
                <a:cubicBezTo>
                  <a:pt x="1897203" y="0"/>
                  <a:pt x="1926940" y="29731"/>
                  <a:pt x="1926940" y="65408"/>
                </a:cubicBezTo>
                <a:lnTo>
                  <a:pt x="1926940" y="332985"/>
                </a:lnTo>
                <a:cubicBezTo>
                  <a:pt x="1926940" y="368662"/>
                  <a:pt x="1897203" y="398393"/>
                  <a:pt x="1861519" y="398393"/>
                </a:cubicBezTo>
                <a:lnTo>
                  <a:pt x="65421" y="398393"/>
                </a:lnTo>
                <a:cubicBezTo>
                  <a:pt x="29737" y="398393"/>
                  <a:pt x="0" y="368662"/>
                  <a:pt x="0" y="332985"/>
                </a:cubicBezTo>
                <a:lnTo>
                  <a:pt x="0" y="65408"/>
                </a:lnTo>
                <a:cubicBezTo>
                  <a:pt x="0" y="29731"/>
                  <a:pt x="29737" y="0"/>
                  <a:pt x="65421" y="0"/>
                </a:cubicBezTo>
                <a:close/>
              </a:path>
            </a:pathLst>
          </a:custGeom>
          <a:solidFill>
            <a:srgbClr val="FFFFFF"/>
          </a:solidFill>
          <a:ln w="11891" cap="flat">
            <a:solidFill>
              <a:srgbClr val="BFD7EA"/>
            </a:solidFill>
            <a:prstDash val="solid"/>
            <a:miter/>
          </a:ln>
        </p:spPr>
        <p:txBody>
          <a:bodyPr/>
          <a:lstStyle/>
          <a:p>
            <a:endParaRPr lang="zh-CN" altLang="en-US" sz="1000"/>
          </a:p>
        </p:txBody>
      </p:sp>
      <p:sp>
        <p:nvSpPr>
          <p:cNvPr id="274" name="文本框 273"/>
          <p:cNvSpPr txBox="1"/>
          <p:nvPr/>
        </p:nvSpPr>
        <p:spPr>
          <a:xfrm>
            <a:off x="9650254" y="57664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spc="0" baseline="0">
                <a:solidFill>
                  <a:srgbClr val="173F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治理审计</a:t>
            </a:r>
            <a:endParaRPr lang="zh-CN" altLang="en-US" sz="1200" b="1" spc="0" baseline="0">
              <a:solidFill>
                <a:srgbClr val="173F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9650254" y="5922115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脱敏、日志、版本控制</a:t>
            </a:r>
            <a:endParaRPr lang="zh-CN" altLang="en-US" sz="1100" spc="0" baseline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374904" y="6393467"/>
            <a:ext cx="2823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统一底座 + 标准协议 + 共享记忆</a:t>
            </a:r>
            <a:endParaRPr lang="zh-CN" altLang="en-US" sz="1400" b="1" spc="0" baseline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6072182" y="6393467"/>
            <a:ext cx="5687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让智能体在多技能 / 工具间使用同一事实、同一上下文、同一轨迹链</a:t>
            </a:r>
            <a:endParaRPr lang="zh-CN" altLang="en-US" sz="1400" b="1" spc="0" baseline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504190" y="401955"/>
            <a:ext cx="9542145" cy="400685"/>
          </a:xfrm>
        </p:spPr>
        <p:txBody>
          <a:bodyPr/>
          <a:lstStyle/>
          <a:p>
            <a:r>
              <a:rPr lang="zh-CN" altLang="en-US" sz="2150" dirty="0"/>
              <a:t>协同决策案例：Agent 协同调度垂直模型，形成闭环方案</a:t>
            </a:r>
            <a:endParaRPr lang="zh-CN" altLang="en-US" sz="2150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645160"/>
          </a:xfrm>
        </p:spPr>
        <p:txBody>
          <a:bodyPr/>
          <a:lstStyle/>
          <a:p>
            <a:r>
              <a:rPr lang="zh-CN" altLang="en-US" sz="2000" dirty="0"/>
              <a:t>示例中Agent 基于大模型将问题拆解，协同调度各垂直模型进行统一任务编排与执行，输出高质量的解决方案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  <p:cxnSp>
        <p:nvCxnSpPr>
          <p:cNvPr id="132" name="肘形连接符 131"/>
          <p:cNvCxnSpPr/>
          <p:nvPr/>
        </p:nvCxnSpPr>
        <p:spPr>
          <a:xfrm>
            <a:off x="6181455" y="4952592"/>
            <a:ext cx="266383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2" name="用户问题条"/>
          <p:cNvSpPr/>
          <p:nvPr/>
        </p:nvSpPr>
        <p:spPr>
          <a:xfrm>
            <a:off x="530352" y="1761885"/>
            <a:ext cx="11137392" cy="38404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 w="17780" cap="flat">
            <a:solidFill>
              <a:srgbClr val="2563EB"/>
            </a:solidFill>
            <a:prstDash val="solid"/>
            <a:miter/>
          </a:ln>
        </p:spPr>
        <p:txBody>
          <a:bodyPr wrap="square" lIns="50292" tIns="37719" rIns="50292" bIns="37719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用户问题：成本约束下优化车型配置，赢回竞品A流失年轻用户</a:t>
            </a:r>
            <a:endParaRPr lang="zh-CN" altLang="en-US" sz="1600" b="1" dirty="0">
              <a:solidFill>
                <a:srgbClr val="DC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3" name="Agent贯穿条"/>
          <p:cNvSpPr/>
          <p:nvPr/>
        </p:nvSpPr>
        <p:spPr>
          <a:xfrm>
            <a:off x="530352" y="2318536"/>
            <a:ext cx="11137392" cy="274320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3970" cap="flat">
            <a:solidFill>
              <a:srgbClr val="F59E0B"/>
            </a:solidFill>
            <a:prstDash val="solid"/>
            <a:miter/>
          </a:ln>
        </p:spPr>
        <p:txBody>
          <a:bodyPr wrap="square" lIns="32004" tIns="24003" rIns="32004" bIns="24003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Agent 贯穿：意图理解｜任务编排｜数据取证｜技能路由｜多模型交互｜规则校验｜方案产出</a:t>
            </a:r>
            <a:endParaRPr lang="zh-CN" altLang="en-US" sz="1400" b="1" dirty="0">
              <a:solidFill>
                <a:srgbClr val="92400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4" name="主流程-数据到Agent"/>
          <p:cNvSpPr/>
          <p:nvPr/>
        </p:nvSpPr>
        <p:spPr>
          <a:xfrm>
            <a:off x="1711108" y="3624267"/>
            <a:ext cx="237744" cy="9144"/>
          </a:xfrm>
          <a:custGeom>
            <a:avLst/>
            <a:gdLst/>
            <a:ahLst/>
            <a:cxnLst/>
            <a:rect l="l" t="t" r="r" b="b"/>
            <a:pathLst>
              <a:path w="237744" h="9144">
                <a:moveTo>
                  <a:pt x="0" y="0"/>
                </a:moveTo>
                <a:lnTo>
                  <a:pt x="237744" y="0"/>
                </a:lnTo>
              </a:path>
            </a:pathLst>
          </a:custGeom>
          <a:ln w="22860" cap="flat">
            <a:solidFill>
              <a:srgbClr val="2563EB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05" name="主流程-Agent到市场"/>
          <p:cNvSpPr/>
          <p:nvPr/>
        </p:nvSpPr>
        <p:spPr>
          <a:xfrm>
            <a:off x="3399703" y="3615302"/>
            <a:ext cx="301752" cy="9144"/>
          </a:xfrm>
          <a:custGeom>
            <a:avLst/>
            <a:gdLst/>
            <a:ahLst/>
            <a:cxnLst/>
            <a:rect l="l" t="t" r="r" b="b"/>
            <a:pathLst>
              <a:path w="301752" h="9144">
                <a:moveTo>
                  <a:pt x="0" y="0"/>
                </a:moveTo>
                <a:lnTo>
                  <a:pt x="301752" y="0"/>
                </a:lnTo>
              </a:path>
            </a:pathLst>
          </a:custGeom>
          <a:ln w="22860" cap="flat">
            <a:solidFill>
              <a:srgbClr val="16A34A"/>
            </a:solidFill>
            <a:prstDash val="dash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06" name="主流程-市场到用户"/>
          <p:cNvSpPr/>
          <p:nvPr/>
        </p:nvSpPr>
        <p:spPr>
          <a:xfrm>
            <a:off x="4999903" y="3615302"/>
            <a:ext cx="329184" cy="9144"/>
          </a:xfrm>
          <a:custGeom>
            <a:avLst/>
            <a:gdLst/>
            <a:ahLst/>
            <a:cxnLst/>
            <a:rect l="l" t="t" r="r" b="b"/>
            <a:pathLst>
              <a:path w="329184" h="9144">
                <a:moveTo>
                  <a:pt x="0" y="0"/>
                </a:moveTo>
                <a:lnTo>
                  <a:pt x="329184" y="0"/>
                </a:lnTo>
              </a:path>
            </a:pathLst>
          </a:custGeom>
          <a:ln w="22860" cap="flat">
            <a:solidFill>
              <a:srgbClr val="16A34A"/>
            </a:solidFill>
            <a:prstDash val="dash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07" name="主流程-用户到降本"/>
          <p:cNvSpPr/>
          <p:nvPr/>
        </p:nvSpPr>
        <p:spPr>
          <a:xfrm>
            <a:off x="6627535" y="3615302"/>
            <a:ext cx="329184" cy="9144"/>
          </a:xfrm>
          <a:custGeom>
            <a:avLst/>
            <a:gdLst/>
            <a:ahLst/>
            <a:cxnLst/>
            <a:rect l="l" t="t" r="r" b="b"/>
            <a:pathLst>
              <a:path w="329184" h="9144">
                <a:moveTo>
                  <a:pt x="0" y="0"/>
                </a:moveTo>
                <a:lnTo>
                  <a:pt x="329184" y="0"/>
                </a:lnTo>
              </a:path>
            </a:pathLst>
          </a:custGeom>
          <a:ln w="22860" cap="flat">
            <a:solidFill>
              <a:srgbClr val="16A34A"/>
            </a:solidFill>
            <a:prstDash val="dash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08" name="主流程-降本到决策"/>
          <p:cNvSpPr/>
          <p:nvPr/>
        </p:nvSpPr>
        <p:spPr>
          <a:xfrm>
            <a:off x="8255167" y="3615302"/>
            <a:ext cx="329184" cy="9144"/>
          </a:xfrm>
          <a:custGeom>
            <a:avLst/>
            <a:gdLst/>
            <a:ahLst/>
            <a:cxnLst/>
            <a:rect l="l" t="t" r="r" b="b"/>
            <a:pathLst>
              <a:path w="329184" h="9144">
                <a:moveTo>
                  <a:pt x="0" y="0"/>
                </a:moveTo>
                <a:lnTo>
                  <a:pt x="329184" y="0"/>
                </a:lnTo>
              </a:path>
            </a:pathLst>
          </a:custGeom>
          <a:ln w="24130" cap="flat">
            <a:solidFill>
              <a:srgbClr val="DC2626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09" name="主流程-决策到周报"/>
          <p:cNvSpPr/>
          <p:nvPr/>
        </p:nvSpPr>
        <p:spPr>
          <a:xfrm>
            <a:off x="9809647" y="3615302"/>
            <a:ext cx="329184" cy="9144"/>
          </a:xfrm>
          <a:custGeom>
            <a:avLst/>
            <a:gdLst/>
            <a:ahLst/>
            <a:cxnLst/>
            <a:rect l="l" t="t" r="r" b="b"/>
            <a:pathLst>
              <a:path w="329184" h="9144">
                <a:moveTo>
                  <a:pt x="0" y="0"/>
                </a:moveTo>
                <a:lnTo>
                  <a:pt x="329184" y="0"/>
                </a:lnTo>
              </a:path>
            </a:pathLst>
          </a:custGeom>
          <a:ln w="22860" cap="flat">
            <a:solidFill>
              <a:srgbClr val="2563EB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0" name="market-下钻"/>
          <p:cNvSpPr/>
          <p:nvPr/>
        </p:nvSpPr>
        <p:spPr>
          <a:xfrm>
            <a:off x="4404468" y="3953630"/>
            <a:ext cx="9144" cy="288000"/>
          </a:xfrm>
          <a:custGeom>
            <a:avLst/>
            <a:gdLst/>
            <a:ahLst/>
            <a:cxnLst/>
            <a:rect l="l" t="t" r="r" b="b"/>
            <a:pathLst>
              <a:path w="9144" h="219456">
                <a:moveTo>
                  <a:pt x="0" y="0"/>
                </a:moveTo>
                <a:lnTo>
                  <a:pt x="0" y="219456"/>
                </a:lnTo>
              </a:path>
            </a:pathLst>
          </a:custGeom>
          <a:ln w="15240" cap="flat">
            <a:solidFill>
              <a:srgbClr val="16A34A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1" name="user-下钻"/>
          <p:cNvSpPr/>
          <p:nvPr/>
        </p:nvSpPr>
        <p:spPr>
          <a:xfrm>
            <a:off x="6032100" y="3953630"/>
            <a:ext cx="9144" cy="288000"/>
          </a:xfrm>
          <a:custGeom>
            <a:avLst/>
            <a:gdLst/>
            <a:ahLst/>
            <a:cxnLst/>
            <a:rect l="l" t="t" r="r" b="b"/>
            <a:pathLst>
              <a:path w="9144" h="219456">
                <a:moveTo>
                  <a:pt x="0" y="0"/>
                </a:moveTo>
                <a:lnTo>
                  <a:pt x="0" y="219456"/>
                </a:lnTo>
              </a:path>
            </a:pathLst>
          </a:custGeom>
          <a:ln w="15240" cap="flat">
            <a:solidFill>
              <a:srgbClr val="16A34A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2" name="cost-下钻"/>
          <p:cNvSpPr/>
          <p:nvPr/>
        </p:nvSpPr>
        <p:spPr>
          <a:xfrm>
            <a:off x="7650768" y="3953630"/>
            <a:ext cx="9144" cy="288000"/>
          </a:xfrm>
          <a:custGeom>
            <a:avLst/>
            <a:gdLst/>
            <a:ahLst/>
            <a:cxnLst/>
            <a:rect l="l" t="t" r="r" b="b"/>
            <a:pathLst>
              <a:path w="9144" h="219456">
                <a:moveTo>
                  <a:pt x="0" y="0"/>
                </a:moveTo>
                <a:lnTo>
                  <a:pt x="0" y="219456"/>
                </a:lnTo>
              </a:path>
            </a:pathLst>
          </a:custGeom>
          <a:ln w="15240" cap="flat">
            <a:solidFill>
              <a:srgbClr val="16A34A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3" name="weekly-下钻"/>
          <p:cNvSpPr/>
          <p:nvPr/>
        </p:nvSpPr>
        <p:spPr>
          <a:xfrm>
            <a:off x="10861206" y="3953629"/>
            <a:ext cx="45719" cy="394055"/>
          </a:xfrm>
          <a:custGeom>
            <a:avLst/>
            <a:gdLst/>
            <a:ahLst/>
            <a:cxnLst/>
            <a:rect l="l" t="t" r="r" b="b"/>
            <a:pathLst>
              <a:path w="9144" h="219456">
                <a:moveTo>
                  <a:pt x="0" y="0"/>
                </a:moveTo>
                <a:lnTo>
                  <a:pt x="0" y="219456"/>
                </a:lnTo>
              </a:path>
            </a:pathLst>
          </a:custGeom>
          <a:ln w="15240" cap="flat">
            <a:solidFill>
              <a:srgbClr val="2563EB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4" name="agent-下钻"/>
          <p:cNvSpPr/>
          <p:nvPr/>
        </p:nvSpPr>
        <p:spPr>
          <a:xfrm>
            <a:off x="2672844" y="4049390"/>
            <a:ext cx="9144" cy="252000"/>
          </a:xfrm>
          <a:custGeom>
            <a:avLst/>
            <a:gdLst/>
            <a:ahLst/>
            <a:cxnLst/>
            <a:rect l="l" t="t" r="r" b="b"/>
            <a:pathLst>
              <a:path w="9144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ln w="15240" cap="flat">
            <a:solidFill>
              <a:srgbClr val="2563EB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5" name="decision-下钻"/>
          <p:cNvSpPr/>
          <p:nvPr/>
        </p:nvSpPr>
        <p:spPr>
          <a:xfrm rot="10800000">
            <a:off x="9196999" y="4025546"/>
            <a:ext cx="9144" cy="216000"/>
          </a:xfrm>
          <a:custGeom>
            <a:avLst/>
            <a:gdLst/>
            <a:ahLst/>
            <a:cxnLst/>
            <a:rect l="l" t="t" r="r" b="b"/>
            <a:pathLst>
              <a:path w="9144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ln w="15240" cap="flat">
            <a:solidFill>
              <a:srgbClr val="F59E0B"/>
            </a:solidFill>
            <a:prstDash val="solid"/>
            <a:miter/>
            <a:tailEnd type="triangle" w="sm" len="sm"/>
          </a:ln>
        </p:spPr>
        <p:txBody>
          <a:bodyPr/>
          <a:lstStyle/>
          <a:p>
            <a:endParaRPr lang="zh-CN" sz="1400"/>
          </a:p>
        </p:txBody>
      </p:sp>
      <p:sp>
        <p:nvSpPr>
          <p:cNvPr id="1018" name="输入数据证据"/>
          <p:cNvSpPr/>
          <p:nvPr/>
        </p:nvSpPr>
        <p:spPr>
          <a:xfrm>
            <a:off x="2025015" y="4304030"/>
            <a:ext cx="1264920" cy="1031875"/>
          </a:xfrm>
          <a:prstGeom prst="roundRect">
            <a:avLst>
              <a:gd name="adj" fmla="val 9000"/>
            </a:avLst>
          </a:prstGeom>
          <a:solidFill>
            <a:srgbClr val="E0F2FE"/>
          </a:solidFill>
          <a:ln w="25400" cap="flat">
            <a:solidFill>
              <a:srgbClr val="2563EB"/>
            </a:solidFill>
            <a:prstDash val="solid"/>
            <a:miter/>
          </a:ln>
        </p:spPr>
        <p:txBody>
          <a:bodyPr wrap="square" lIns="50292" tIns="37719" rIns="50292" bIns="37719" anchor="ctr">
            <a:normAutofit fontScale="80000"/>
          </a:bodyPr>
          <a:lstStyle/>
          <a:p>
            <a:pPr algn="ctr"/>
            <a:r>
              <a:rPr lang="zh-CN" alt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数据取证</a:t>
            </a:r>
            <a:endParaRPr lang="zh-CN" altLang="en-US" sz="1200" b="1" dirty="0">
              <a:solidFill>
                <a:srgbClr val="1E40A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本竞品市场销量 </a:t>
            </a:r>
            <a:endParaRPr lang="zh-CN" altLang="en-US" sz="14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/本竞品配置数据 </a:t>
            </a:r>
            <a:endParaRPr lang="zh-CN" altLang="en-US" sz="14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本竞品用户口碑</a:t>
            </a:r>
            <a:endParaRPr lang="zh-CN" altLang="en-US" sz="14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本竞品BOM成本</a:t>
            </a:r>
            <a:endParaRPr lang="zh-CN" altLang="en-US" sz="14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9" name="Agent中枢节点"/>
          <p:cNvSpPr/>
          <p:nvPr/>
        </p:nvSpPr>
        <p:spPr>
          <a:xfrm>
            <a:off x="408899" y="3158102"/>
            <a:ext cx="1298448" cy="877824"/>
          </a:xfrm>
          <a:prstGeom prst="roundRect">
            <a:avLst>
              <a:gd name="adj" fmla="val 9000"/>
            </a:avLst>
          </a:prstGeom>
          <a:solidFill>
            <a:srgbClr val="DBEAFE"/>
          </a:solidFill>
          <a:ln w="31750" cap="flat">
            <a:solidFill>
              <a:srgbClr val="2563EB"/>
            </a:solidFill>
            <a:prstDash val="solid"/>
            <a:miter/>
          </a:ln>
        </p:spPr>
        <p:txBody>
          <a:bodyPr wrap="square" lIns="50292" tIns="37719" rIns="50292" bIns="37719" anchor="ctr">
            <a:normAutofit fontScale="97500" lnSpcReduction="10000"/>
          </a:bodyPr>
          <a:lstStyle/>
          <a:p>
            <a:pPr algn="ctr"/>
            <a:r>
              <a:rPr lang="zh-CN" altLang="en-US" sz="14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通用</a:t>
            </a:r>
            <a:r>
              <a:rPr lang="en-US" altLang="zh-CN" sz="14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LLM</a:t>
            </a:r>
            <a:r>
              <a:rPr lang="zh-CN" altLang="en-US" sz="14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endParaRPr lang="zh-CN" altLang="en-US" sz="1400" b="1" dirty="0">
              <a:solidFill>
                <a:srgbClr val="1E3A8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拆解问题</a:t>
            </a:r>
            <a:endParaRPr lang="zh-CN" altLang="en-US" sz="12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路由技能</a:t>
            </a:r>
            <a:endParaRPr lang="zh-CN" altLang="en-US" sz="12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维护上下文</a:t>
            </a:r>
            <a:endParaRPr lang="zh-CN" altLang="en-US" sz="12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0" name="市场分析技能节点"/>
          <p:cNvSpPr/>
          <p:nvPr/>
        </p:nvSpPr>
        <p:spPr>
          <a:xfrm>
            <a:off x="3701454" y="3295262"/>
            <a:ext cx="1389529" cy="64008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 w="25400" cap="flat">
            <a:solidFill>
              <a:srgbClr val="16A34A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5803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市场分析垂直模型</a:t>
            </a:r>
            <a:endParaRPr lang="zh-CN" altLang="en-US" sz="1200" b="1" dirty="0">
              <a:solidFill>
                <a:srgbClr val="15803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找机会区间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1" name="用户洞察技能节点"/>
          <p:cNvSpPr/>
          <p:nvPr/>
        </p:nvSpPr>
        <p:spPr>
          <a:xfrm>
            <a:off x="5329087" y="3295262"/>
            <a:ext cx="1371240" cy="64008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 w="25400" cap="flat">
            <a:solidFill>
              <a:srgbClr val="16A34A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5803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用户洞察垂直模型</a:t>
            </a:r>
            <a:endParaRPr lang="zh-CN" altLang="en-US" sz="1200" b="1" dirty="0">
              <a:solidFill>
                <a:srgbClr val="15803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提需求权重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2" name="产品降本技能节点"/>
          <p:cNvSpPr/>
          <p:nvPr/>
        </p:nvSpPr>
        <p:spPr>
          <a:xfrm>
            <a:off x="6956719" y="3295262"/>
            <a:ext cx="1371240" cy="64008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 w="25400" cap="flat">
            <a:solidFill>
              <a:srgbClr val="16A34A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5803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产品降本垂直模型</a:t>
            </a:r>
            <a:endParaRPr lang="zh-CN" altLang="en-US" sz="1200" b="1" dirty="0">
              <a:solidFill>
                <a:srgbClr val="15803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算配置取舍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3" name="决策校验节点"/>
          <p:cNvSpPr/>
          <p:nvPr/>
        </p:nvSpPr>
        <p:spPr>
          <a:xfrm>
            <a:off x="8584351" y="3203822"/>
            <a:ext cx="1225296" cy="822960"/>
          </a:xfrm>
          <a:prstGeom prst="roundRect">
            <a:avLst>
              <a:gd name="adj" fmla="val 9000"/>
            </a:avLst>
          </a:prstGeom>
          <a:solidFill>
            <a:srgbClr val="FEE2E2"/>
          </a:solidFill>
          <a:ln w="33020" cap="flat">
            <a:solidFill>
              <a:srgbClr val="DC2626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4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整合分析</a:t>
            </a:r>
            <a:endParaRPr lang="zh-CN" altLang="en-US" sz="1400" b="1" dirty="0">
              <a:solidFill>
                <a:srgbClr val="B91C1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成本约束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价格带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规则留痕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4" name="周报交付技能节点"/>
          <p:cNvSpPr/>
          <p:nvPr/>
        </p:nvSpPr>
        <p:spPr>
          <a:xfrm>
            <a:off x="10138831" y="3295262"/>
            <a:ext cx="1444752" cy="640080"/>
          </a:xfrm>
          <a:prstGeom prst="roundRect">
            <a:avLst>
              <a:gd name="adj" fmla="val 9000"/>
            </a:avLst>
          </a:prstGeom>
          <a:solidFill>
            <a:srgbClr val="E0F2FE"/>
          </a:solidFill>
          <a:ln w="25400" cap="flat">
            <a:solidFill>
              <a:srgbClr val="0284C7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400" b="1" dirty="0">
                <a:solidFill>
                  <a:srgbClr val="0759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解决方案交付</a:t>
            </a:r>
            <a:endParaRPr lang="zh-CN" altLang="en-US" sz="1400" b="1" dirty="0">
              <a:solidFill>
                <a:srgbClr val="07598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生成报告与行动清单</a:t>
            </a:r>
            <a:endParaRPr lang="zh-CN" altLang="en-US" sz="10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5" name="Agent任务卡"/>
          <p:cNvSpPr/>
          <p:nvPr/>
        </p:nvSpPr>
        <p:spPr>
          <a:xfrm>
            <a:off x="1945986" y="3158013"/>
            <a:ext cx="1453716" cy="89611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 cap="flat">
            <a:solidFill>
              <a:srgbClr val="93C5FD"/>
            </a:solidFill>
            <a:prstDash val="solid"/>
            <a:miter/>
          </a:ln>
        </p:spPr>
        <p:txBody>
          <a:bodyPr wrap="square" lIns="50292" tIns="37719" rIns="50292" bIns="37719" anchor="ctr">
            <a:normAutofit fontScale="97500" lnSpcReduction="10000"/>
          </a:bodyPr>
          <a:lstStyle/>
          <a:p>
            <a:pPr algn="ctr"/>
            <a:r>
              <a:rPr lang="zh-CN" alt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智能体任务编排</a:t>
            </a:r>
            <a:endParaRPr lang="zh-CN" altLang="en-US" sz="1400" b="1" dirty="0">
              <a:solidFill>
                <a:srgbClr val="1E40A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子任务队列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技能参数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调用轨迹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6" name="市场模型1"/>
          <p:cNvSpPr/>
          <p:nvPr/>
        </p:nvSpPr>
        <p:spPr>
          <a:xfrm>
            <a:off x="3536950" y="4246245"/>
            <a:ext cx="1645920" cy="464820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5240" cap="flat">
            <a:solidFill>
              <a:srgbClr val="86EFAC"/>
            </a:solidFill>
            <a:prstDash val="solid"/>
            <a:miter/>
          </a:ln>
        </p:spPr>
        <p:txBody>
          <a:bodyPr wrap="square" lIns="50292" tIns="37719" rIns="50292" bIns="37719" anchor="ctr">
            <a:normAutofit lnSpcReduction="20000"/>
          </a:bodyPr>
          <a:lstStyle/>
          <a:p>
            <a:pPr algn="ctr"/>
            <a:r>
              <a:rPr lang="zh-CN" altLang="en-US" sz="12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竞品销量趋势</a:t>
            </a:r>
            <a:endParaRPr lang="zh-CN" altLang="en-US" sz="1200" b="1" dirty="0">
              <a:solidFill>
                <a:srgbClr val="1665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识别抢流时段/价格带</a:t>
            </a:r>
            <a:endParaRPr lang="zh-CN" altLang="en-US" sz="8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7" name="市场模型2"/>
          <p:cNvSpPr/>
          <p:nvPr/>
        </p:nvSpPr>
        <p:spPr>
          <a:xfrm>
            <a:off x="3536950" y="4921250"/>
            <a:ext cx="1645920" cy="504825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5240" cap="flat">
            <a:solidFill>
              <a:srgbClr val="86EFAC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配置差距</a:t>
            </a:r>
            <a:endParaRPr lang="zh-CN" altLang="en-US" sz="1200" b="1" dirty="0">
              <a:solidFill>
                <a:srgbClr val="1665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输出机会配置清单</a:t>
            </a:r>
            <a:endParaRPr lang="zh-CN" altLang="en-US" sz="8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8" name="用户模型1"/>
          <p:cNvSpPr/>
          <p:nvPr/>
        </p:nvSpPr>
        <p:spPr>
          <a:xfrm>
            <a:off x="5164455" y="4246245"/>
            <a:ext cx="1645920" cy="464185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5240" cap="flat">
            <a:solidFill>
              <a:srgbClr val="86EFAC"/>
            </a:solidFill>
            <a:prstDash val="solid"/>
            <a:miter/>
          </a:ln>
        </p:spPr>
        <p:txBody>
          <a:bodyPr wrap="square" lIns="50292" tIns="37719" rIns="50292" bIns="37719" anchor="ctr">
            <a:normAutofit lnSpcReduction="20000"/>
          </a:bodyPr>
          <a:lstStyle/>
          <a:p>
            <a:pPr algn="ctr"/>
            <a:r>
              <a:rPr lang="zh-CN" altLang="en-US" sz="12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年轻偏好</a:t>
            </a:r>
            <a:endParaRPr lang="zh-CN" altLang="en-US" sz="1200" b="1" dirty="0">
              <a:solidFill>
                <a:srgbClr val="1665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计算配置吸引力权重</a:t>
            </a:r>
            <a:endParaRPr lang="zh-CN" altLang="en-US" sz="8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9" name="用户模型2"/>
          <p:cNvSpPr/>
          <p:nvPr/>
        </p:nvSpPr>
        <p:spPr>
          <a:xfrm>
            <a:off x="5164455" y="4921250"/>
            <a:ext cx="1645920" cy="504190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5240" cap="flat">
            <a:solidFill>
              <a:srgbClr val="86EFAC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口碑情感</a:t>
            </a:r>
            <a:endParaRPr lang="zh-CN" altLang="en-US" sz="1200" b="1" dirty="0">
              <a:solidFill>
                <a:srgbClr val="1665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定位流失原因/痛点</a:t>
            </a:r>
            <a:endParaRPr lang="zh-CN" altLang="en-US" sz="8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0" name="降本模型1"/>
          <p:cNvSpPr/>
          <p:nvPr/>
        </p:nvSpPr>
        <p:spPr>
          <a:xfrm>
            <a:off x="6791960" y="4246245"/>
            <a:ext cx="1645920" cy="464820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5240" cap="flat">
            <a:solidFill>
              <a:srgbClr val="86EFAC"/>
            </a:solidFill>
            <a:prstDash val="solid"/>
            <a:miter/>
          </a:ln>
        </p:spPr>
        <p:txBody>
          <a:bodyPr wrap="square" lIns="50292" tIns="37719" rIns="50292" bIns="37719" anchor="ctr">
            <a:normAutofit lnSpcReduction="20000"/>
          </a:bodyPr>
          <a:lstStyle/>
          <a:p>
            <a:pPr algn="ctr"/>
            <a:r>
              <a:rPr lang="zh-CN" altLang="en-US" sz="12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BOM成本核算</a:t>
            </a:r>
            <a:endParaRPr lang="zh-CN" altLang="en-US" sz="1200" b="1" dirty="0">
              <a:solidFill>
                <a:srgbClr val="1665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测算单车成本增量</a:t>
            </a:r>
            <a:endParaRPr lang="zh-CN" altLang="en-US" sz="8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1" name="降本模型2"/>
          <p:cNvSpPr/>
          <p:nvPr/>
        </p:nvSpPr>
        <p:spPr>
          <a:xfrm>
            <a:off x="6791960" y="4921250"/>
            <a:ext cx="1645920" cy="504190"/>
          </a:xfrm>
          <a:prstGeom prst="roundRect">
            <a:avLst>
              <a:gd name="adj" fmla="val 9000"/>
            </a:avLst>
          </a:prstGeom>
          <a:solidFill>
            <a:srgbClr val="F0FDF4"/>
          </a:solidFill>
          <a:ln w="15240" cap="flat">
            <a:solidFill>
              <a:srgbClr val="86EFAC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配置组合优化</a:t>
            </a:r>
            <a:endParaRPr lang="zh-CN" altLang="en-US" sz="1200" b="1" dirty="0">
              <a:solidFill>
                <a:srgbClr val="1665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在预算内生成方案</a:t>
            </a:r>
            <a:endParaRPr lang="zh-CN" altLang="en-US" sz="8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2" name="校验卡"/>
          <p:cNvSpPr/>
          <p:nvPr/>
        </p:nvSpPr>
        <p:spPr>
          <a:xfrm>
            <a:off x="8578850" y="4246245"/>
            <a:ext cx="1231265" cy="1178560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17780" cap="flat">
            <a:solidFill>
              <a:srgbClr val="F59E0B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规则校验</a:t>
            </a:r>
            <a:endParaRPr lang="zh-CN" altLang="en-US" sz="1200" b="1" dirty="0">
              <a:solidFill>
                <a:srgbClr val="92400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成本红线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产能/供应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事实一致性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3" name="周报模型1"/>
          <p:cNvSpPr/>
          <p:nvPr/>
        </p:nvSpPr>
        <p:spPr>
          <a:xfrm>
            <a:off x="10029190" y="4340225"/>
            <a:ext cx="1700530" cy="1084580"/>
          </a:xfrm>
          <a:prstGeom prst="roundRect">
            <a:avLst>
              <a:gd name="adj" fmla="val 9000"/>
            </a:avLst>
          </a:prstGeom>
          <a:solidFill>
            <a:srgbClr val="F0F9FF"/>
          </a:solidFill>
          <a:ln w="15240" cap="flat">
            <a:solidFill>
              <a:srgbClr val="7DD3FC"/>
            </a:solidFill>
            <a:prstDash val="solid"/>
            <a:miter/>
          </a:ln>
        </p:spPr>
        <p:txBody>
          <a:bodyPr wrap="square" lIns="50292" tIns="37719" rIns="50292" bIns="37719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0759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方案生成</a:t>
            </a:r>
            <a:endParaRPr lang="zh-CN" altLang="en-US" sz="1200" b="1" dirty="0">
              <a:solidFill>
                <a:srgbClr val="07598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生成含市场分析、用户需求、配置建议和成本核算的完整决策建议报告</a:t>
            </a:r>
            <a:endParaRPr lang="zh-CN" altLang="en-US" sz="9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" name="肘形连接符 2"/>
          <p:cNvCxnSpPr>
            <a:stCxn id="1019" idx="2"/>
            <a:endCxn id="1024" idx="3"/>
          </p:cNvCxnSpPr>
          <p:nvPr/>
        </p:nvCxnSpPr>
        <p:spPr>
          <a:xfrm rot="5400000" flipH="1" flipV="1">
            <a:off x="6110541" y="-1437116"/>
            <a:ext cx="420624" cy="10525460"/>
          </a:xfrm>
          <a:prstGeom prst="bentConnector4">
            <a:avLst>
              <a:gd name="adj1" fmla="val -399041"/>
              <a:gd name="adj2" fmla="val 103068"/>
            </a:avLst>
          </a:prstGeom>
          <a:ln w="1524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1019" idx="0"/>
            <a:endCxn id="1023" idx="0"/>
          </p:cNvCxnSpPr>
          <p:nvPr/>
        </p:nvCxnSpPr>
        <p:spPr>
          <a:xfrm rot="16200000" flipH="1">
            <a:off x="5104701" y="-888476"/>
            <a:ext cx="45720" cy="8138876"/>
          </a:xfrm>
          <a:prstGeom prst="bentConnector3">
            <a:avLst>
              <a:gd name="adj1" fmla="val -500000"/>
            </a:avLst>
          </a:prstGeom>
          <a:ln w="1524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090983" y="265398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决策取舍</a:t>
            </a:r>
            <a:endParaRPr kumimoji="1" lang="zh-CN" altLang="en-US" sz="1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5128861" y="54260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技能路由</a:t>
            </a:r>
            <a:endParaRPr kumimoji="1" lang="zh-CN" altLang="en-US" sz="1400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11934334" y="31108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研究创新点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2861187" y="1809135"/>
            <a:ext cx="8868699" cy="928473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E7F2FE"/>
              </a:gs>
              <a:gs pos="100000">
                <a:schemeClr val="tx2">
                  <a:lumMod val="10000"/>
                  <a:lumOff val="90000"/>
                </a:schemeClr>
              </a:gs>
            </a:gsLst>
            <a:lin ang="5400000" scaled="1"/>
          </a:gradFill>
          <a:ln w="14026" cap="flat">
            <a:noFill/>
            <a:prstDash val="solid"/>
            <a:miter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anchor="ctr"/>
          <a:lstStyle/>
          <a:p>
            <a:pPr algn="just"/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rtl val="0"/>
              </a:rPr>
              <a:t>将行业独家的周度销量、BOM成本、汽车-通信融合等核心数据资产，通过知识图谱与</a:t>
            </a: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rPr>
              <a:t>语义对齐技术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rtl val="0"/>
              </a:rPr>
              <a:t>等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rtl val="0"/>
              </a:rPr>
              <a:t>转化为</a:t>
            </a: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rPr>
              <a:t>可驱动AI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rtl val="0"/>
              </a:rPr>
              <a:t>的高质量决策数据集，构建了不可复制的数据壁垒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368300"/>
          </a:xfrm>
        </p:spPr>
        <p:txBody>
          <a:bodyPr/>
          <a:lstStyle/>
          <a:p>
            <a:r>
              <a:rPr lang="zh-CN" altLang="en-US" dirty="0"/>
              <a:t>本项目不是单点技术的改进，是实现从数据集构建到系统智能决策的全链条创新。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527050" y="1901631"/>
            <a:ext cx="2117392" cy="743480"/>
            <a:chOff x="3834100" y="1630541"/>
            <a:chExt cx="1188094" cy="978521"/>
          </a:xfrm>
        </p:grpSpPr>
        <p:grpSp>
          <p:nvGrpSpPr>
            <p:cNvPr id="11" name="组合 10"/>
            <p:cNvGrpSpPr/>
            <p:nvPr/>
          </p:nvGrpSpPr>
          <p:grpSpPr>
            <a:xfrm>
              <a:off x="3834100" y="2244221"/>
              <a:ext cx="1188094" cy="364841"/>
              <a:chOff x="3497580" y="159640"/>
              <a:chExt cx="1546225" cy="364841"/>
            </a:xfrm>
          </p:grpSpPr>
          <p:sp>
            <p:nvSpPr>
              <p:cNvPr id="16" name="梯形 15"/>
              <p:cNvSpPr/>
              <p:nvPr/>
            </p:nvSpPr>
            <p:spPr>
              <a:xfrm>
                <a:off x="3497580" y="159640"/>
                <a:ext cx="1546225" cy="213739"/>
              </a:xfrm>
              <a:prstGeom prst="trapezoid">
                <a:avLst>
                  <a:gd name="adj" fmla="val 74962"/>
                </a:avLst>
              </a:prstGeom>
              <a:gradFill flip="none" rotWithShape="1">
                <a:gsLst>
                  <a:gs pos="0">
                    <a:srgbClr val="019FFA">
                      <a:alpha val="0"/>
                    </a:srgbClr>
                  </a:gs>
                  <a:gs pos="100000">
                    <a:srgbClr val="2252F4">
                      <a:alpha val="2000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3497580" y="373381"/>
                <a:ext cx="1546225" cy="151100"/>
              </a:xfrm>
              <a:prstGeom prst="rect">
                <a:avLst/>
              </a:prstGeom>
              <a:gradFill>
                <a:gsLst>
                  <a:gs pos="0">
                    <a:srgbClr val="739CE7"/>
                  </a:gs>
                  <a:gs pos="100000">
                    <a:srgbClr val="0070C0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4085746" y="1630541"/>
              <a:ext cx="684803" cy="68906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kern="0" dirty="0">
                  <a:gradFill>
                    <a:gsLst>
                      <a:gs pos="0">
                        <a:srgbClr val="6899F2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  <a:effectLst>
                    <a:reflection blurRad="6350" stA="60000" endA="900" endPos="15000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数据层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6899F2"/>
                    </a:gs>
                    <a:gs pos="100000">
                      <a:srgbClr val="0070C0"/>
                    </a:gs>
                  </a:gsLst>
                  <a:lin ang="5400000" scaled="1"/>
                </a:gradFill>
                <a:effectLst>
                  <a:reflection blurRad="6350" stA="60000" endA="900" endPos="150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27050" y="3174229"/>
            <a:ext cx="11202835" cy="928473"/>
            <a:chOff x="527050" y="3174229"/>
            <a:chExt cx="11202835" cy="928473"/>
          </a:xfrm>
        </p:grpSpPr>
        <p:grpSp>
          <p:nvGrpSpPr>
            <p:cNvPr id="18" name="组合 17"/>
            <p:cNvGrpSpPr/>
            <p:nvPr/>
          </p:nvGrpSpPr>
          <p:grpSpPr>
            <a:xfrm>
              <a:off x="527050" y="3266725"/>
              <a:ext cx="2117392" cy="743480"/>
              <a:chOff x="3834100" y="1630541"/>
              <a:chExt cx="1188094" cy="978521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3834100" y="2244221"/>
                <a:ext cx="1188094" cy="364841"/>
                <a:chOff x="3497580" y="159640"/>
                <a:chExt cx="1546225" cy="364841"/>
              </a:xfrm>
            </p:grpSpPr>
            <p:sp>
              <p:nvSpPr>
                <p:cNvPr id="21" name="梯形 20"/>
                <p:cNvSpPr/>
                <p:nvPr/>
              </p:nvSpPr>
              <p:spPr>
                <a:xfrm>
                  <a:off x="3497580" y="159640"/>
                  <a:ext cx="1546225" cy="213739"/>
                </a:xfrm>
                <a:prstGeom prst="trapezoid">
                  <a:avLst>
                    <a:gd name="adj" fmla="val 74962"/>
                  </a:avLst>
                </a:prstGeom>
                <a:gradFill flip="none" rotWithShape="1">
                  <a:gsLst>
                    <a:gs pos="0">
                      <a:srgbClr val="019FFA">
                        <a:alpha val="0"/>
                      </a:srgbClr>
                    </a:gs>
                    <a:gs pos="100000">
                      <a:srgbClr val="2252F4">
                        <a:alpha val="20000"/>
                      </a:srgbClr>
                    </a:gs>
                  </a:gsLst>
                  <a:lin ang="54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3497580" y="373381"/>
                  <a:ext cx="1546225" cy="151100"/>
                </a:xfrm>
                <a:prstGeom prst="rect">
                  <a:avLst/>
                </a:prstGeom>
                <a:gradFill>
                  <a:gsLst>
                    <a:gs pos="1000">
                      <a:srgbClr val="739CE7"/>
                    </a:gs>
                    <a:gs pos="100000">
                      <a:srgbClr val="0070C0"/>
                    </a:gs>
                  </a:gsLst>
                  <a:lin ang="27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sp>
            <p:nvSpPr>
              <p:cNvPr id="20" name="文本框 19"/>
              <p:cNvSpPr txBox="1"/>
              <p:nvPr/>
            </p:nvSpPr>
            <p:spPr>
              <a:xfrm>
                <a:off x="4085746" y="1630541"/>
                <a:ext cx="684803" cy="689067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kern="0" dirty="0">
                    <a:gradFill>
                      <a:gsLst>
                        <a:gs pos="0">
                          <a:srgbClr val="6899F2"/>
                        </a:gs>
                        <a:gs pos="100000">
                          <a:srgbClr val="0070C0"/>
                        </a:gs>
                      </a:gsLst>
                      <a:lin ang="5400000" scaled="1"/>
                    </a:gradFill>
                    <a:effectLst>
                      <a:reflection blurRad="6350" stA="60000" endA="900" endPos="15000" dir="5400000" sy="-100000" algn="bl" rotWithShape="0"/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模型层</a:t>
                </a:r>
                <a:endParaRPr lang="zh-CN" altLang="en-US" sz="2400" b="1" kern="0" dirty="0">
                  <a:gradFill>
                    <a:gsLst>
                      <a:gs pos="0">
                        <a:srgbClr val="6899F2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  <a:effectLst>
                    <a:reflection blurRad="6350" stA="60000" endA="900" endPos="15000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" name="圆角矩形 29"/>
            <p:cNvSpPr/>
            <p:nvPr/>
          </p:nvSpPr>
          <p:spPr>
            <a:xfrm>
              <a:off x="2861186" y="3174229"/>
              <a:ext cx="8868699" cy="928473"/>
            </a:xfrm>
            <a:prstGeom prst="roundRect">
              <a:avLst>
                <a:gd name="adj" fmla="val 11111"/>
              </a:avLst>
            </a:prstGeom>
            <a:gradFill>
              <a:gsLst>
                <a:gs pos="0">
                  <a:srgbClr val="E7F2FE"/>
                </a:gs>
                <a:gs pos="100000">
                  <a:schemeClr val="tx2">
                    <a:lumMod val="10000"/>
                    <a:lumOff val="90000"/>
                  </a:schemeClr>
                </a:gs>
              </a:gsLst>
              <a:lin ang="5400000" scaled="1"/>
            </a:gradFill>
            <a:ln w="14026" cap="flat">
              <a:noFill/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anchor="ctr"/>
            <a:lstStyle/>
            <a:p>
              <a:pPr algn="just"/>
              <a:r>
                <a:rPr sz="18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将汽车领域专家知识嵌入因果推理框架，突破通用大模型“只关联不归因”的局限，实现</a:t>
              </a:r>
              <a:r>
                <a:rPr sz="18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可解释、带约束的量化决策</a:t>
              </a:r>
              <a:r>
                <a:rPr sz="18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推演。</a:t>
              </a:r>
              <a:endParaRPr sz="18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27050" y="4686655"/>
            <a:ext cx="11202835" cy="928473"/>
            <a:chOff x="527050" y="3174229"/>
            <a:chExt cx="11202835" cy="928473"/>
          </a:xfrm>
        </p:grpSpPr>
        <p:grpSp>
          <p:nvGrpSpPr>
            <p:cNvPr id="27" name="组合 26"/>
            <p:cNvGrpSpPr/>
            <p:nvPr/>
          </p:nvGrpSpPr>
          <p:grpSpPr>
            <a:xfrm>
              <a:off x="527050" y="3266725"/>
              <a:ext cx="2117392" cy="743480"/>
              <a:chOff x="3834100" y="1630541"/>
              <a:chExt cx="1188094" cy="978521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3834100" y="2244221"/>
                <a:ext cx="1188094" cy="364841"/>
                <a:chOff x="3497580" y="159640"/>
                <a:chExt cx="1546225" cy="364841"/>
              </a:xfrm>
            </p:grpSpPr>
            <p:sp>
              <p:nvSpPr>
                <p:cNvPr id="33" name="梯形 32"/>
                <p:cNvSpPr/>
                <p:nvPr/>
              </p:nvSpPr>
              <p:spPr>
                <a:xfrm>
                  <a:off x="3497580" y="159640"/>
                  <a:ext cx="1546225" cy="213739"/>
                </a:xfrm>
                <a:prstGeom prst="trapezoid">
                  <a:avLst>
                    <a:gd name="adj" fmla="val 74962"/>
                  </a:avLst>
                </a:prstGeom>
                <a:gradFill flip="none" rotWithShape="1">
                  <a:gsLst>
                    <a:gs pos="0">
                      <a:srgbClr val="019FFA">
                        <a:alpha val="0"/>
                      </a:srgbClr>
                    </a:gs>
                    <a:gs pos="100000">
                      <a:srgbClr val="2252F4">
                        <a:alpha val="20000"/>
                      </a:srgbClr>
                    </a:gs>
                  </a:gsLst>
                  <a:lin ang="54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3497580" y="373381"/>
                  <a:ext cx="1546225" cy="151100"/>
                </a:xfrm>
                <a:prstGeom prst="rect">
                  <a:avLst/>
                </a:prstGeom>
                <a:gradFill>
                  <a:gsLst>
                    <a:gs pos="0">
                      <a:srgbClr val="739CE7"/>
                    </a:gs>
                    <a:gs pos="100000">
                      <a:srgbClr val="0070C0"/>
                    </a:gs>
                  </a:gsLst>
                  <a:lin ang="27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sp>
            <p:nvSpPr>
              <p:cNvPr id="31" name="文本框 30"/>
              <p:cNvSpPr txBox="1"/>
              <p:nvPr/>
            </p:nvSpPr>
            <p:spPr>
              <a:xfrm>
                <a:off x="4085746" y="1630541"/>
                <a:ext cx="684803" cy="689067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kern="0" dirty="0">
                    <a:gradFill>
                      <a:gsLst>
                        <a:gs pos="0">
                          <a:srgbClr val="6899F2"/>
                        </a:gs>
                        <a:gs pos="100000">
                          <a:srgbClr val="0070C0"/>
                        </a:gs>
                      </a:gsLst>
                      <a:lin ang="5400000" scaled="1"/>
                    </a:gradFill>
                    <a:effectLst>
                      <a:reflection blurRad="6350" stA="60000" endA="900" endPos="15000" dir="5400000" sy="-100000" algn="bl" rotWithShape="0"/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系统层</a:t>
                </a:r>
                <a:endParaRPr lang="zh-CN" altLang="en-US" sz="2400" b="1" kern="0" dirty="0">
                  <a:gradFill>
                    <a:gsLst>
                      <a:gs pos="0">
                        <a:srgbClr val="6899F2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  <a:effectLst>
                    <a:reflection blurRad="6350" stA="60000" endA="900" endPos="15000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圆角矩形 29"/>
            <p:cNvSpPr/>
            <p:nvPr/>
          </p:nvSpPr>
          <p:spPr>
            <a:xfrm>
              <a:off x="2861186" y="3174229"/>
              <a:ext cx="8868699" cy="928473"/>
            </a:xfrm>
            <a:prstGeom prst="roundRect">
              <a:avLst>
                <a:gd name="adj" fmla="val 11111"/>
              </a:avLst>
            </a:prstGeom>
            <a:gradFill>
              <a:gsLst>
                <a:gs pos="0">
                  <a:srgbClr val="E7F2FE"/>
                </a:gs>
                <a:gs pos="100000">
                  <a:schemeClr val="tx2">
                    <a:lumMod val="10000"/>
                    <a:lumOff val="90000"/>
                  </a:schemeClr>
                </a:gs>
              </a:gsLst>
              <a:lin ang="5400000" scaled="1"/>
            </a:gradFill>
            <a:ln w="14026" cap="flat">
              <a:noFill/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anchor="ctr"/>
            <a:lstStyle/>
            <a:p>
              <a:pPr algn="just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  <a:rtl val="0"/>
                </a:rPr>
                <a:t>提出面向汽车决策的“共享记忆+协同编排+规则校验”</a:t>
              </a:r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  <a:rtl val="0"/>
                </a:rPr>
                <a:t>智能体协同架构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  <a:rtl val="0"/>
                </a:rPr>
                <a:t>，让多专用模型在同一事实和上下文下协作推演，实现跨场景决策的端到端闭环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  <a:rtl val="0"/>
                </a:rPr>
                <a:t>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5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63966" y="684596"/>
            <a:ext cx="4450080" cy="501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项目背景及必要性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研究内容与创新点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项目考核指标</a:t>
            </a:r>
            <a:endParaRPr lang="en-US" altLang="zh-CN" sz="3200" dirty="0">
              <a:solidFill>
                <a:srgbClr val="2A41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经费及实施周期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预期成果和转化预期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>
                <a:sym typeface="+mn-ea"/>
              </a:rPr>
              <a:t>项目考核指标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190" y="868680"/>
            <a:ext cx="11414125" cy="368300"/>
          </a:xfrm>
        </p:spPr>
        <p:txBody>
          <a:bodyPr wrap="square"/>
          <a:lstStyle/>
          <a:p>
            <a:r>
              <a:rPr dirty="0"/>
              <a:t>考核指标覆盖数据、模型、智能体、知识产权、产业化五个维度，所有指标均量化、可测量、可验证。</a:t>
            </a:r>
            <a:endParaRPr lang="en-US" altLang="zh-CN" dirty="0"/>
          </a:p>
        </p:txBody>
      </p:sp>
      <p:graphicFrame>
        <p:nvGraphicFramePr>
          <p:cNvPr id="22" name="表格 21"/>
          <p:cNvGraphicFramePr/>
          <p:nvPr>
            <p:custDataLst>
              <p:tags r:id="rId1"/>
            </p:custDataLst>
          </p:nvPr>
        </p:nvGraphicFramePr>
        <p:xfrm>
          <a:off x="440055" y="1277620"/>
          <a:ext cx="11271885" cy="521398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77620"/>
                <a:gridCol w="3183890"/>
                <a:gridCol w="6810375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成果类型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考核指标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指标要求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高质量数据集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用户“画像-需求-评价”标签高质量数据集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套，数据标签不少于20个； 标签完整率≥95%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BOM级成本工程高质量数据集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套，企业覆盖度≥10，车型覆盖度≥30，一级零部件条数≥600，核心字段完整率≥95% 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汽车通信融合高质量数据集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套，动静态标签≥200项，并形成衍生数据因子≥8类，关键字段完整率≥95%。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汽车垂直领域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专用模型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周度数据智能分析与问答模型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个，意图识别及问答准确率均不低于90%，且证据归因追溯率达到100%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用户洞察与配置选择决策模型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个，用户标签画像准确率≥90%、需求-配置偏好预测结果可解释性100%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市场机会识别与产品投放决策模型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个，配置决策时间缩短≥50%，产品投放策略归因覆盖率100%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产品成本竞争力评价模型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个，覆盖核心零部件品类≥30种，成本预测误差≤10%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6225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汽车-通信保客运营决策模型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个，增换购意向人群识别覆盖率≥40%，保客价值分层提升比≥85%，决策归因覆盖率50%。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智能体平台及专用模型工具链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周度数据交付工具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个，任务成功率≥92%，周报交付准时率≥95%，且人工成稿效率提升60%以上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市场战略性机会决策工具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个，正式版任务成功率≥90%、配置决策时间缩短≥50%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用户洞察与配置选择决策工具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个，正式版任务成功率≥90%、配置决策时间缩短≥50%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产品与降本决策工具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个，降本效果与预测偏差≤10%；系统稳定运行时间≥99.9%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汽车-通讯全链路营销决策运营工具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个，支持千万级保客人群分析与应用，保客激活有效率≥60%，触达成功率≥35%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知识产权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代表性论文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5篇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发明专利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2项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软件著作权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2项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产业化指标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应用于整车企业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≥5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2027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年）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直接经济效益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≥1000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2027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年）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5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63966" y="684596"/>
            <a:ext cx="4450080" cy="501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项目背景及必要性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研究内容与创新点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项目考核指标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经费及实施周期</a:t>
            </a:r>
            <a:endParaRPr lang="en-US" altLang="zh-CN" sz="3200" dirty="0">
              <a:solidFill>
                <a:srgbClr val="2A41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预期成果和转化预期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dirty="0">
                <a:sym typeface="+mn-ea"/>
              </a:rPr>
              <a:t>项目经费及实施周期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368300"/>
          </a:xfrm>
        </p:spPr>
        <p:txBody>
          <a:bodyPr/>
          <a:p>
            <a:r>
              <a:rPr dirty="0"/>
              <a:t>本项目计划申请中心经费480万元，中汽数据自筹300万元，实施周期18个月。</a:t>
            </a:r>
            <a:endParaRPr dirty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733665" y="1453515"/>
          <a:ext cx="3837305" cy="4994275"/>
        </p:xfrm>
        <a:graphic>
          <a:graphicData uri="http://schemas.openxmlformats.org/drawingml/2006/table">
            <a:tbl>
              <a:tblPr/>
              <a:tblGrid>
                <a:gridCol w="1133475"/>
                <a:gridCol w="1378585"/>
                <a:gridCol w="1325245"/>
              </a:tblGrid>
              <a:tr h="48260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buClrTx/>
                        <a:buSzTx/>
                        <a:buFontTx/>
                      </a:pPr>
                      <a:r>
                        <a:rPr lang="zh-CN" altLang="en-US" sz="12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时间</a:t>
                      </a:r>
                      <a:endParaRPr lang="zh-CN" altLang="en-US" sz="12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buClrTx/>
                        <a:buSzTx/>
                        <a:buFontTx/>
                      </a:pPr>
                      <a:r>
                        <a:rPr lang="zh-CN" altLang="en-US" sz="12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重点任务</a:t>
                      </a:r>
                      <a:endParaRPr lang="zh-CN" altLang="en-US" sz="12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buClrTx/>
                        <a:buSzTx/>
                        <a:buFontTx/>
                      </a:pPr>
                      <a:r>
                        <a:rPr lang="zh-CN" altLang="en-US" sz="12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里程碑成果</a:t>
                      </a:r>
                      <a:endParaRPr lang="zh-CN" altLang="en-US" sz="12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</a:tr>
              <a:tr h="1503680">
                <a:tc>
                  <a:txBody>
                    <a:bodyPr/>
                    <a:p>
                      <a:pPr 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2026.05-2026.12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数据底座构建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建成三大数据集，语义对齐验证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504315">
                <a:tc>
                  <a:txBody>
                    <a:bodyPr/>
                    <a:p>
                      <a:pPr 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2026.1-2027.06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垂直模型研发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 5项 AI 模型验证版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503680">
                <a:tc>
                  <a:txBody>
                    <a:bodyPr/>
                    <a:p>
                      <a:pPr 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2027.06-2027.11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智能体开发与集成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</a:t>
                      </a:r>
                      <a:r>
                        <a:rPr lang="zh-CN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智能体平台</a:t>
                      </a:r>
                      <a:r>
                        <a:rPr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集成</a:t>
                      </a:r>
                      <a:r>
                        <a:rPr lang="zh-CN"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，企业试点应用</a:t>
                      </a:r>
                      <a:r>
                        <a:rPr sz="12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sz="12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4825" y="651637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/>
              <a:t>注：数据自筹300万元（人员费形式）</a:t>
            </a:r>
            <a:endParaRPr lang="zh-CN" altLang="en-US" sz="1200" b="1"/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504190" y="1454150"/>
          <a:ext cx="7031990" cy="4993640"/>
        </p:xfrm>
        <a:graphic>
          <a:graphicData uri="http://schemas.openxmlformats.org/drawingml/2006/table">
            <a:tbl>
              <a:tblPr/>
              <a:tblGrid>
                <a:gridCol w="331470"/>
                <a:gridCol w="1752600"/>
                <a:gridCol w="834390"/>
                <a:gridCol w="833755"/>
                <a:gridCol w="834390"/>
                <a:gridCol w="2445385"/>
              </a:tblGrid>
              <a:tr h="479425">
                <a:tc gridSpan="2"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资金支出（万元）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申请中心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2026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年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预算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2027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年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预算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25000"/>
                        </a:lnSpc>
                        <a:buClrTx/>
                        <a:buSzTx/>
                        <a:buFontTx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计算依据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F86"/>
                    </a:solidFill>
                  </a:tcPr>
                </a:tc>
              </a:tr>
              <a:tr h="239395">
                <a:tc gridSpan="2"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资金总额</a:t>
                      </a:r>
                      <a:endParaRPr 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480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261.5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218.5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395">
                <a:tc rowSpan="15"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一、设备费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26860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其中：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、设备购置费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0030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、试制费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290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3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、改造租赁费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算力资源与云服务租赁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费用：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0030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二、材料费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478790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三、测试化验加工费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219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5大专用模型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开发与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测试131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万元，智能体平台开发费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88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39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四、燃料动力费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240030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五、差旅费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39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六、会议费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26860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七、国际合作交流费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942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八、出版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信息传播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知识产权事务费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数据采购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年，知识产权与论文发表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23939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九、无形资产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39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十、劳务费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240030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十一、专家咨询费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专家咨询5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万元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395">
                <a:tc vMerge="1">
                  <a:tcPr>
                    <a:lnL w="285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十二、外协费</a:t>
                      </a:r>
                      <a:endParaRPr 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外协费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5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63966" y="684596"/>
            <a:ext cx="4450080" cy="501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项目背景及必要性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研究内容与创新点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项目考核指标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经费及实施周期</a:t>
            </a:r>
            <a:endParaRPr lang="en-US" altLang="zh-CN" sz="3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预期成果</a:t>
            </a:r>
            <a:r>
              <a:rPr lang="zh-CN" altLang="en-US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 dirty="0">
                <a:solidFill>
                  <a:srgbClr val="2A41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转化预期</a:t>
            </a:r>
            <a:endParaRPr lang="en-US" altLang="zh-CN" sz="3200" dirty="0">
              <a:solidFill>
                <a:srgbClr val="2A41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预期成果</a:t>
            </a:r>
            <a:endParaRPr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646331"/>
          </a:xfrm>
        </p:spPr>
        <p:txBody>
          <a:bodyPr/>
          <a:lstStyle/>
          <a:p>
            <a:r>
              <a:rPr lang="zh-CN" altLang="en-US" dirty="0"/>
              <a:t>本项目不仅产出论文、专利等显性成果，更重要的是沉淀 </a:t>
            </a:r>
            <a:r>
              <a:rPr lang="en-US" altLang="zh-CN" dirty="0">
                <a:solidFill>
                  <a:srgbClr val="C00000"/>
                </a:solidFill>
              </a:rPr>
              <a:t>3 </a:t>
            </a:r>
            <a:r>
              <a:rPr lang="zh-CN" altLang="en-US" dirty="0"/>
              <a:t>大数据资产、</a:t>
            </a:r>
            <a:r>
              <a:rPr lang="en-US" altLang="zh-CN" dirty="0">
                <a:solidFill>
                  <a:srgbClr val="C00000"/>
                </a:solidFill>
              </a:rPr>
              <a:t>5 </a:t>
            </a:r>
            <a:r>
              <a:rPr lang="zh-CN" altLang="en-US" dirty="0"/>
              <a:t>大模型资产、</a:t>
            </a:r>
            <a:r>
              <a:rPr lang="zh-CN" altLang="en-US" dirty="0">
                <a:solidFill>
                  <a:srgbClr val="C00000"/>
                </a:solidFill>
              </a:rPr>
              <a:t>一套 </a:t>
            </a:r>
            <a:r>
              <a:rPr lang="zh-CN" altLang="en-US" dirty="0"/>
              <a:t>工具链产品，形成</a:t>
            </a:r>
            <a:r>
              <a:rPr lang="zh-CN" altLang="en-US" dirty="0">
                <a:solidFill>
                  <a:srgbClr val="C00000"/>
                </a:solidFill>
              </a:rPr>
              <a:t>可持续迭代、可规模化复用</a:t>
            </a:r>
            <a:r>
              <a:rPr lang="zh-CN" altLang="en-US" dirty="0"/>
              <a:t>的技术能力。 </a:t>
            </a:r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04190" y="1769745"/>
          <a:ext cx="11146790" cy="42329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79065"/>
                <a:gridCol w="2894330"/>
                <a:gridCol w="2786380"/>
                <a:gridCol w="2787015"/>
              </a:tblGrid>
              <a:tr h="476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成果类别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具体成果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成果形态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8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可复用性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  <a:alpha val="88000"/>
                      </a:schemeClr>
                    </a:solidFill>
                  </a:tcPr>
                </a:tc>
              </a:tr>
              <a:tr h="405765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高质量数据集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用户画像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评价标签数据集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标准化数据集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可服务多个车企、多个车型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495">
                <a:tc vMerge="1">
                  <a:tcPr marL="0" marR="101917" marT="63817" marB="63817" anchor="ctr"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级成本工程数据集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标准化数据集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可持续更新迭代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130">
                <a:tc vMerge="1">
                  <a:tcPr marL="0" marR="101917" marT="63817" marB="63817" anchor="ctr"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汽车通信融合数据集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标准化数据集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可扩展新的数据源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49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汽车垂直领域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专用模型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五大汽车垂直领域专用模型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可部署模型文件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可迁移至类似场景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  <a:tr h="405130">
                <a:tc vMerge="1">
                  <a:tcPr marL="0" marR="101917" marT="63817" marB="63817" anchor="ctr"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模型训练与评测框架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支持模型持续优化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智能体平台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五大场景决策技能工具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可部署软件系统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可产品化、可订阅制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690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知识产权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发明专利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专利证书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技术壁垒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  <a:tr h="441960">
                <a:tc vMerge="1">
                  <a:tcPr marL="0" marR="101917" marT="63817" marB="63817" anchor="ctr"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代表性论文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篇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论文发表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学术影响力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  <a:tr h="440690">
                <a:tc vMerge="1">
                  <a:tcPr marL="0" marR="101917" marT="63817" marB="63817" anchor="ctr"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软件著作权</a:t>
                      </a:r>
                      <a:r>
                        <a:rPr lang="en-US" altLang="zh-CN" sz="16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软著证书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产品保护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512579" y="1611280"/>
            <a:ext cx="11217308" cy="2257655"/>
            <a:chOff x="651897" y="3695065"/>
            <a:chExt cx="5975567" cy="3092650"/>
          </a:xfrm>
        </p:grpSpPr>
        <p:sp>
          <p:nvSpPr>
            <p:cNvPr id="53" name="矩形: 圆角 52"/>
            <p:cNvSpPr/>
            <p:nvPr>
              <p:custDataLst>
                <p:tags r:id="rId1"/>
              </p:custDataLst>
            </p:nvPr>
          </p:nvSpPr>
          <p:spPr>
            <a:xfrm>
              <a:off x="651897" y="3695065"/>
              <a:ext cx="5975567" cy="3092650"/>
            </a:xfrm>
            <a:prstGeom prst="roundRect">
              <a:avLst>
                <a:gd name="adj" fmla="val 994"/>
              </a:avLst>
            </a:prstGeom>
            <a:solidFill>
              <a:schemeClr val="bg1"/>
            </a:solidFill>
            <a:ln w="6350">
              <a:solidFill>
                <a:schemeClr val="accent1">
                  <a:alpha val="15000"/>
                </a:schemeClr>
              </a:solidFill>
            </a:ln>
            <a:effectLst>
              <a:outerShdw blurRad="279400" dist="76200" dir="2700000" sx="97000" sy="97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2"/>
              </p:custDataLst>
            </p:nvPr>
          </p:nvSpPr>
          <p:spPr>
            <a:xfrm>
              <a:off x="987493" y="3798912"/>
              <a:ext cx="835504" cy="548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zh-CN" altLang="en-US" sz="2000" b="1" kern="0" spc="100" dirty="0">
                  <a:gradFill>
                    <a:gsLst>
                      <a:gs pos="64000">
                        <a:srgbClr val="3865B6"/>
                      </a:gs>
                      <a:gs pos="0">
                        <a:schemeClr val="accent5"/>
                      </a:gs>
                    </a:gsLst>
                    <a:lin ang="2700000" scaled="0"/>
                  </a:gradFill>
                  <a:effectLst>
                    <a:outerShdw blurRad="50800" dist="38100" dir="2700000" algn="tl" rotWithShape="0">
                      <a:srgbClr val="3D66D7">
                        <a:alpha val="4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转化路径</a:t>
              </a:r>
              <a:endParaRPr lang="zh-CN" altLang="en-US" sz="2000" b="1" kern="0" spc="100" dirty="0">
                <a:gradFill>
                  <a:gsLst>
                    <a:gs pos="64000">
                      <a:srgbClr val="3865B6"/>
                    </a:gs>
                    <a:gs pos="0">
                      <a:schemeClr val="accent5"/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srgbClr val="3D66D7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成果转化预期</a:t>
            </a:r>
            <a:endParaRPr lang="zh-CN" altLang="en-US" dirty="0"/>
          </a:p>
        </p:txBody>
      </p:sp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512574" y="2213499"/>
          <a:ext cx="11217308" cy="165448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804327"/>
                <a:gridCol w="2804327"/>
                <a:gridCol w="2804327"/>
                <a:gridCol w="2804327"/>
              </a:tblGrid>
              <a:tr h="43856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收入类型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8FAADC"/>
                        </a:gs>
                        <a:gs pos="30000">
                          <a:srgbClr val="5370C7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目标客户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8FAADC"/>
                        </a:gs>
                        <a:gs pos="30000">
                          <a:srgbClr val="5370C7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定价模式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8FAADC"/>
                        </a:gs>
                        <a:gs pos="30000">
                          <a:srgbClr val="5370C7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预计单价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8FAADC"/>
                        </a:gs>
                        <a:gs pos="30000">
                          <a:srgbClr val="5370C7"/>
                        </a:gs>
                      </a:gsLst>
                      <a:lin ang="5400000" scaled="0"/>
                    </a:gradFill>
                  </a:tcPr>
                </a:tc>
              </a:tr>
              <a:tr h="4053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智能体平台授权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整车企业等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年费订阅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100-200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</a:t>
                      </a:r>
                      <a:endParaRPr lang="zh-CN" altLang="en-US" sz="1600" b="1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  <a:tr h="4053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高质量数据集订阅</a:t>
                      </a:r>
                      <a:endParaRPr lang="zh-CN" altLang="en-US" sz="1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整车企业、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公司等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调用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按次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50-100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</a:t>
                      </a:r>
                      <a:endParaRPr lang="zh-CN" altLang="en-US" sz="1600" b="1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3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智能决策服务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整车企业、</a:t>
                      </a:r>
                      <a:r>
                        <a:rPr lang="zh-CN" altLang="en-US" sz="1400" dirty="0">
                          <a:sym typeface="+mn-ea"/>
                        </a:rPr>
                        <a:t>零部件企业等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项目制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101917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30-100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endParaRPr lang="zh-CN" altLang="en-US" sz="1600" b="1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917" marR="0" marT="63817" marB="63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</a:tbl>
          </a:graphicData>
        </a:graphic>
      </p:graphicFrame>
      <p:sp>
        <p:nvSpPr>
          <p:cNvPr id="4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504446" y="868966"/>
            <a:ext cx="11225441" cy="645160"/>
          </a:xfrm>
        </p:spPr>
        <p:txBody>
          <a:bodyPr/>
          <a:lstStyle/>
          <a:p>
            <a:r>
              <a:rPr lang="zh-CN" altLang="en-US" dirty="0"/>
              <a:t>打造</a:t>
            </a:r>
            <a:r>
              <a:rPr lang="zh-CN" altLang="en-US" dirty="0">
                <a:solidFill>
                  <a:srgbClr val="C00000"/>
                </a:solidFill>
              </a:rPr>
              <a:t>可商业化运营的智能决策基础设施</a:t>
            </a:r>
            <a:r>
              <a:rPr lang="zh-CN" altLang="en-US" dirty="0"/>
              <a:t>，以“平台授权锁定入口</a:t>
            </a:r>
            <a:r>
              <a:rPr lang="en-US" altLang="zh-CN" dirty="0"/>
              <a:t>+</a:t>
            </a:r>
            <a:r>
              <a:rPr lang="zh-CN" altLang="en-US" dirty="0"/>
              <a:t>数据订阅持续变现</a:t>
            </a:r>
            <a:r>
              <a:rPr lang="en-US" altLang="zh-CN" dirty="0"/>
              <a:t>+</a:t>
            </a:r>
            <a:r>
              <a:rPr lang="zh-CN" altLang="en-US" dirty="0"/>
              <a:t>智能决策服务兑现价值”为路径，预计未来三年累计贡献产值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8000 </a:t>
            </a:r>
            <a:r>
              <a:rPr lang="zh-CN" altLang="en-US" dirty="0">
                <a:solidFill>
                  <a:srgbClr val="C00000"/>
                </a:solidFill>
              </a:rPr>
              <a:t>万元</a:t>
            </a:r>
            <a:r>
              <a:rPr lang="zh-CN" altLang="en-US" dirty="0"/>
              <a:t>，实现经济价值与社会影响力双赢。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504444" y="4036019"/>
            <a:ext cx="4619751" cy="2439188"/>
            <a:chOff x="504444" y="3800045"/>
            <a:chExt cx="5672882" cy="2439188"/>
          </a:xfrm>
        </p:grpSpPr>
        <p:grpSp>
          <p:nvGrpSpPr>
            <p:cNvPr id="43" name="组合 42"/>
            <p:cNvGrpSpPr/>
            <p:nvPr/>
          </p:nvGrpSpPr>
          <p:grpSpPr>
            <a:xfrm>
              <a:off x="504444" y="3800045"/>
              <a:ext cx="5672882" cy="2439188"/>
              <a:chOff x="642618" y="3952101"/>
              <a:chExt cx="5672882" cy="2835614"/>
            </a:xfrm>
          </p:grpSpPr>
          <p:sp>
            <p:nvSpPr>
              <p:cNvPr id="45" name="矩形: 圆角 44"/>
              <p:cNvSpPr/>
              <p:nvPr>
                <p:custDataLst>
                  <p:tags r:id="rId4"/>
                </p:custDataLst>
              </p:nvPr>
            </p:nvSpPr>
            <p:spPr>
              <a:xfrm>
                <a:off x="642620" y="3952101"/>
                <a:ext cx="5672880" cy="2835614"/>
              </a:xfrm>
              <a:prstGeom prst="roundRect">
                <a:avLst>
                  <a:gd name="adj" fmla="val 994"/>
                </a:avLst>
              </a:prstGeom>
              <a:solidFill>
                <a:schemeClr val="bg1"/>
              </a:solidFill>
              <a:ln w="6350">
                <a:solidFill>
                  <a:schemeClr val="accent1">
                    <a:alpha val="15000"/>
                  </a:schemeClr>
                </a:solidFill>
              </a:ln>
              <a:effectLst>
                <a:outerShdw blurRad="279400" dist="76200" dir="2700000" sx="97000" sy="97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" name="组合 45"/>
              <p:cNvGrpSpPr/>
              <p:nvPr/>
            </p:nvGrpSpPr>
            <p:grpSpPr>
              <a:xfrm>
                <a:off x="642618" y="4044819"/>
                <a:ext cx="4401851" cy="463591"/>
                <a:chOff x="658811" y="4479921"/>
                <a:chExt cx="4402082" cy="463293"/>
              </a:xfrm>
            </p:grpSpPr>
            <p:sp>
              <p:nvSpPr>
                <p:cNvPr id="47" name="文本框 46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442432" y="4479921"/>
                  <a:ext cx="3618461" cy="4632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000" b="1" kern="0" spc="100" dirty="0">
                      <a:gradFill>
                        <a:gsLst>
                          <a:gs pos="64000">
                            <a:srgbClr val="3865B6"/>
                          </a:gs>
                          <a:gs pos="0">
                            <a:schemeClr val="accent5"/>
                          </a:gs>
                        </a:gsLst>
                        <a:lin ang="2700000" scaled="0"/>
                      </a:gradFill>
                      <a:effectLst>
                        <a:outerShdw blurRad="50800" dist="38100" dir="2700000" algn="tl" rotWithShape="0">
                          <a:srgbClr val="3D66D7">
                            <a:alpha val="40000"/>
                          </a:srgbClr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预期经济效益</a:t>
                  </a:r>
                  <a:endParaRPr lang="zh-CN" altLang="en-US" sz="2000" b="1" kern="0" spc="100" dirty="0">
                    <a:gradFill>
                      <a:gsLst>
                        <a:gs pos="64000">
                          <a:srgbClr val="3865B6"/>
                        </a:gs>
                        <a:gs pos="0">
                          <a:schemeClr val="accent5"/>
                        </a:gs>
                      </a:gsLst>
                      <a:lin ang="2700000" scaled="0"/>
                    </a:gradFill>
                    <a:effectLst>
                      <a:outerShdw blurRad="50800" dist="38100" dir="2700000" algn="tl" rotWithShape="0">
                        <a:srgbClr val="3D66D7">
                          <a:alpha val="40000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" name="矩形: 圆顶角 47"/>
                <p:cNvSpPr/>
                <p:nvPr>
                  <p:custDataLst>
                    <p:tags r:id="rId6"/>
                  </p:custDataLst>
                </p:nvPr>
              </p:nvSpPr>
              <p:spPr>
                <a:xfrm rot="5400000">
                  <a:off x="761641" y="4404526"/>
                  <a:ext cx="418517" cy="624177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0">
                      <a:srgbClr val="4664C2"/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aphicFrame>
          <p:nvGraphicFramePr>
            <p:cNvPr id="44" name="表格 43"/>
            <p:cNvGraphicFramePr/>
            <p:nvPr>
              <p:custDataLst>
                <p:tags r:id="rId7"/>
              </p:custDataLst>
            </p:nvPr>
          </p:nvGraphicFramePr>
          <p:xfrm>
            <a:off x="504445" y="4391408"/>
            <a:ext cx="5672880" cy="1847824"/>
          </p:xfrm>
          <a:graphic>
            <a:graphicData uri="http://schemas.openxmlformats.org/drawingml/2006/table">
              <a:tbl>
                <a:tblPr firstRow="1" bandRow="1">
                  <a:tableStyleId>{1FECB4D8-DB02-4DC6-A0A2-4F2EBAE1DC90}</a:tableStyleId>
                </a:tblPr>
                <a:tblGrid>
                  <a:gridCol w="1539916"/>
                  <a:gridCol w="1248026"/>
                  <a:gridCol w="1831807"/>
                </a:tblGrid>
                <a:tr h="477055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年份</a:t>
                        </a:r>
                        <a:endPara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gradFill>
                        <a:gsLst>
                          <a:gs pos="100000">
                            <a:srgbClr val="8FAADC"/>
                          </a:gs>
                          <a:gs pos="30000">
                            <a:srgbClr val="5370C7"/>
                          </a:gs>
                        </a:gsLst>
                        <a:lin ang="5400000" scaled="0"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客户数量</a:t>
                        </a:r>
                        <a:endPara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gradFill>
                        <a:gsLst>
                          <a:gs pos="100000">
                            <a:srgbClr val="8FAADC"/>
                          </a:gs>
                          <a:gs pos="30000">
                            <a:srgbClr val="5370C7"/>
                          </a:gs>
                        </a:gsLst>
                        <a:lin ang="5400000" scaled="0"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成果转化收益</a:t>
                        </a:r>
                        <a:endPara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gradFill>
                        <a:gsLst>
                          <a:gs pos="100000">
                            <a:srgbClr val="8FAADC"/>
                          </a:gs>
                          <a:gs pos="30000">
                            <a:srgbClr val="5370C7"/>
                          </a:gs>
                        </a:gsLst>
                        <a:lin ang="5400000" scaled="0"/>
                      </a:gradFill>
                    </a:tcPr>
                  </a:tc>
                </a:tr>
                <a:tr h="456923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2027</a:t>
                        </a:r>
                        <a:r>
                          <a: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（启动期）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BF1F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5</a:t>
                        </a:r>
                        <a:r>
                          <a: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家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BF1F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1000</a:t>
                        </a:r>
                        <a:r>
                          <a:rPr lang="zh-CN" altLang="en-US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万元</a:t>
                        </a:r>
                        <a:endPara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BF1FB"/>
                      </a:solidFill>
                    </a:tcPr>
                  </a:tc>
                </a:tr>
                <a:tr h="456923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rPr>
                          <a:t>2028</a:t>
                        </a:r>
                        <a:r>
                          <a: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rPr>
                          <a:t>（成长期）</a:t>
                        </a:r>
                        <a:endPara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20</a:t>
                        </a:r>
                        <a:r>
                          <a: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家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rPr>
                          <a:t>3000</a:t>
                        </a:r>
                        <a:r>
                          <a:rPr lang="zh-CN" altLang="en-US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rPr>
                          <a:t>万元</a:t>
                        </a:r>
                        <a:endParaRPr lang="zh-CN" altLang="en-US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456923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2029</a:t>
                        </a:r>
                        <a:r>
                          <a: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（</a:t>
                        </a:r>
                        <a:r>
                          <a: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+mn-ea"/>
                          </a:rPr>
                          <a:t>成长期</a:t>
                        </a:r>
                        <a:r>
                          <a: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）</a:t>
                        </a:r>
                        <a:endPara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BF1F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30</a:t>
                        </a:r>
                        <a:r>
                          <a: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家</a:t>
                        </a:r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+</a:t>
                        </a:r>
                        <a:endPara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BF1FB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4000</a:t>
                        </a:r>
                        <a:r>
                          <a:rPr lang="zh-CN" altLang="en-US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万元</a:t>
                        </a:r>
                        <a:r>
                          <a:rPr lang="en-US" altLang="zh-CN" sz="1600" b="1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a:t>+</a:t>
                        </a:r>
                        <a:endParaRPr lang="en-US" altLang="zh-CN" sz="1600" b="1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BF1FB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5304793" y="4036016"/>
            <a:ext cx="6425089" cy="2439188"/>
            <a:chOff x="647564" y="3952100"/>
            <a:chExt cx="5979900" cy="2835615"/>
          </a:xfrm>
        </p:grpSpPr>
        <p:sp>
          <p:nvSpPr>
            <p:cNvPr id="39" name="矩形: 圆角 38"/>
            <p:cNvSpPr/>
            <p:nvPr>
              <p:custDataLst>
                <p:tags r:id="rId8"/>
              </p:custDataLst>
            </p:nvPr>
          </p:nvSpPr>
          <p:spPr>
            <a:xfrm>
              <a:off x="651897" y="3952100"/>
              <a:ext cx="5975567" cy="2835615"/>
            </a:xfrm>
            <a:prstGeom prst="roundRect">
              <a:avLst>
                <a:gd name="adj" fmla="val 994"/>
              </a:avLst>
            </a:prstGeom>
            <a:solidFill>
              <a:schemeClr val="bg1"/>
            </a:solidFill>
            <a:ln w="6350">
              <a:solidFill>
                <a:schemeClr val="accent1">
                  <a:alpha val="15000"/>
                </a:schemeClr>
              </a:solidFill>
            </a:ln>
            <a:effectLst>
              <a:outerShdw blurRad="279400" dist="76200" dir="2700000" sx="97000" sy="97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647564" y="4065445"/>
              <a:ext cx="3664667" cy="457461"/>
              <a:chOff x="663752" y="4500534"/>
              <a:chExt cx="3664862" cy="457167"/>
            </a:xfrm>
          </p:grpSpPr>
          <p:sp>
            <p:nvSpPr>
              <p:cNvPr id="41" name="文本框 4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239240" y="4500534"/>
                <a:ext cx="3089374" cy="457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000" b="1" kern="0" spc="100" dirty="0">
                    <a:gradFill>
                      <a:gsLst>
                        <a:gs pos="64000">
                          <a:srgbClr val="3865B6"/>
                        </a:gs>
                        <a:gs pos="0">
                          <a:schemeClr val="accent5"/>
                        </a:gs>
                      </a:gsLst>
                      <a:lin ang="2700000" scaled="0"/>
                    </a:gradFill>
                    <a:effectLst>
                      <a:outerShdw blurRad="50800" dist="38100" dir="2700000" algn="tl" rotWithShape="0">
                        <a:srgbClr val="3D66D7">
                          <a:alpha val="40000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预期社会效益</a:t>
                </a:r>
                <a:endParaRPr lang="zh-CN" altLang="en-US" sz="2000" b="1" kern="0" spc="100" dirty="0">
                  <a:gradFill>
                    <a:gsLst>
                      <a:gs pos="64000">
                        <a:srgbClr val="3865B6"/>
                      </a:gs>
                      <a:gs pos="0">
                        <a:schemeClr val="accent5"/>
                      </a:gs>
                    </a:gsLst>
                    <a:lin ang="2700000" scaled="0"/>
                  </a:gradFill>
                  <a:effectLst>
                    <a:outerShdw blurRad="50800" dist="38100" dir="2700000" algn="tl" rotWithShape="0">
                      <a:srgbClr val="3D66D7">
                        <a:alpha val="4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矩形: 圆顶角 41"/>
              <p:cNvSpPr/>
              <p:nvPr>
                <p:custDataLst>
                  <p:tags r:id="rId10"/>
                </p:custDataLst>
              </p:nvPr>
            </p:nvSpPr>
            <p:spPr>
              <a:xfrm rot="5400000">
                <a:off x="689877" y="4492954"/>
                <a:ext cx="418517" cy="47076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4664C2"/>
                  </a:gs>
                  <a:gs pos="85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5316855" y="4658360"/>
          <a:ext cx="6412865" cy="182689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37410"/>
                <a:gridCol w="1732280"/>
                <a:gridCol w="2543175"/>
              </a:tblGrid>
              <a:tr h="608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b="1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b="1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b="1" dirty="0">
                        <a:gradFill>
                          <a:gsLst>
                            <a:gs pos="100000">
                              <a:srgbClr val="8FAADC"/>
                            </a:gs>
                            <a:gs pos="30000">
                              <a:srgbClr val="5370C7"/>
                            </a:gs>
                          </a:gsLst>
                          <a:lin ang="5400000" scaled="0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386070" y="4654550"/>
            <a:ext cx="6370955" cy="18364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fontAlgn="auto">
              <a:lnSpc>
                <a:spcPct val="200000"/>
              </a:lnSpc>
              <a:spcBef>
                <a:spcPct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为全行业降本增效：</a:t>
            </a:r>
            <a:r>
              <a:rPr lang="zh-CN" altLang="en-US" sz="14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避免单个车企重复建设，累计节约投入超亿元</a:t>
            </a:r>
            <a:endParaRPr lang="zh-CN" altLang="en-US" sz="14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200000"/>
              </a:lnSpc>
              <a:spcBef>
                <a:spcPct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赋能中小企业</a:t>
            </a:r>
            <a:r>
              <a:rPr lang="zh-CN" altLang="en-US" sz="160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4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为中小企业提供“用得起”的智能决策工具</a:t>
            </a:r>
            <a:endParaRPr lang="zh-CN" altLang="en-US" sz="14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ct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影响力提升：</a:t>
            </a:r>
            <a:r>
              <a:rPr lang="zh-CN" altLang="en-US" sz="140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提升中心在智能决策服务领域的行业话语权与品牌影响力</a:t>
            </a:r>
            <a:endParaRPr lang="zh-CN" altLang="en-US" sz="140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: 圆顶角 56"/>
          <p:cNvSpPr/>
          <p:nvPr>
            <p:custDataLst>
              <p:tags r:id="rId11"/>
            </p:custDataLst>
          </p:nvPr>
        </p:nvSpPr>
        <p:spPr>
          <a:xfrm rot="5400000">
            <a:off x="586593" y="1633006"/>
            <a:ext cx="360239" cy="50827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664C2"/>
              </a:gs>
              <a:gs pos="85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2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4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45" y="2751156"/>
            <a:ext cx="6245911" cy="13556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4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5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6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7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8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9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0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1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2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3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4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5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6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7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8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19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20.xml><?xml version="1.0" encoding="utf-8"?>
<p:tagLst xmlns:p="http://schemas.openxmlformats.org/presentationml/2006/main">
  <p:tag name="KSO_WM_DIAGRAM_VIRTUALLY_FRAME" val="{&quot;height&quot;:346.15,&quot;left&quot;:28,&quot;top&quot;:134.35,&quot;width&quot;:585.25}"/>
</p:tagLst>
</file>

<file path=ppt/tags/tag21.xml><?xml version="1.0" encoding="utf-8"?>
<p:tagLst xmlns:p="http://schemas.openxmlformats.org/presentationml/2006/main">
  <p:tag name="OP_SCP_SHAPE_TYPE" val="Index"/>
  <p:tag name="OP_SCP_ITEM_INDEX" val="1"/>
  <p:tag name="OP_SCP_DEFAULT_TEXT" val="1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SHAPE_TYPE" val="Index"/>
  <p:tag name="OP_SCP_ITEM_INDEX" val="1"/>
  <p:tag name="OP_SCP_DEFAULT_TEXT" val="1"/>
</p:tagLst>
</file>

<file path=ppt/tags/tag24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5.xml><?xml version="1.0" encoding="utf-8"?>
<p:tagLst xmlns:p="http://schemas.openxmlformats.org/presentationml/2006/main">
  <p:tag name="OP_SCP_SHAPE_TYPE" val="Index"/>
  <p:tag name="OP_SCP_ITEM_INDEX" val="1"/>
  <p:tag name="OP_SCP_DEFAULT_TEXT" val="1"/>
</p:tagLst>
</file>

<file path=ppt/tags/tag26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7.xml><?xml version="1.0" encoding="utf-8"?>
<p:tagLst xmlns:p="http://schemas.openxmlformats.org/presentationml/2006/main">
  <p:tag name="TYPE" val="vector"/>
</p:tagLst>
</file>

<file path=ppt/tags/tag28.xml><?xml version="1.0" encoding="utf-8"?>
<p:tagLst xmlns:p="http://schemas.openxmlformats.org/presentationml/2006/main">
  <p:tag name="TYPE" val="vector"/>
</p:tagLst>
</file>

<file path=ppt/tags/tag29.xml><?xml version="1.0" encoding="utf-8"?>
<p:tagLst xmlns:p="http://schemas.openxmlformats.org/presentationml/2006/main">
  <p:tag name="TYPE" val="vector"/>
</p:tagLst>
</file>

<file path=ppt/tags/tag30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1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2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3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4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5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6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7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8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39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40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41.xml><?xml version="1.0" encoding="utf-8"?>
<p:tagLst xmlns:p="http://schemas.openxmlformats.org/presentationml/2006/main">
  <p:tag name="KSO_WM_DIAGRAM_VIRTUALLY_FRAME" val="{&quot;height&quot;:390,&quot;left&quot;:53.2,&quot;top&quot;:110,&quot;width&quot;:846.85}"/>
</p:tagLst>
</file>

<file path=ppt/tags/tag42.xml><?xml version="1.0" encoding="utf-8"?>
<p:tagLst xmlns:p="http://schemas.openxmlformats.org/presentationml/2006/main">
  <p:tag name="TABLE_ENDDRAG_ORIGIN_RECT" val="374*270"/>
  <p:tag name="TABLE_ENDDRAG_RECT" val="558*176*374*270"/>
</p:tagLst>
</file>

<file path=ppt/tags/tag43.xml><?xml version="1.0" encoding="utf-8"?>
<p:tagLst xmlns:p="http://schemas.openxmlformats.org/presentationml/2006/main">
  <p:tag name="TABLE_ENDDRAG_ORIGIN_RECT" val="489*296"/>
  <p:tag name="TABLE_ENDDRAG_RECT" val="33*176*489*296"/>
</p:tagLst>
</file>

<file path=ppt/tags/tag44.xml><?xml version="1.0" encoding="utf-8"?>
<p:tagLst xmlns:p="http://schemas.openxmlformats.org/presentationml/2006/main">
  <p:tag name="THINKCELLSHAPEDONOTDELETE" val="thinkcellActiveDocDoNotDelete"/>
</p:tagLst>
</file>

<file path=ppt/tags/tag45.xml><?xml version="1.0" encoding="utf-8"?>
<p:tagLst xmlns:p="http://schemas.openxmlformats.org/presentationml/2006/main">
  <p:tag name="KSO_WM_UNIT_TABLE_BEAUTIFY" val="smartTable{06615e44-a27a-481a-981d-9df56498aec7}"/>
  <p:tag name="TABLE_ENDDRAG_ORIGIN_RECT" val="887*298"/>
  <p:tag name="TABLE_ENDDRAG_RECT" val="34*100*887*298"/>
</p:tagLst>
</file>

<file path=ppt/tags/tag46.xml><?xml version="1.0" encoding="utf-8"?>
<p:tagLst xmlns:p="http://schemas.openxmlformats.org/presentationml/2006/main">
  <p:tag name="TABLE_ENDDRAG_ORIGIN_RECT" val="323*393"/>
  <p:tag name="TABLE_ENDDRAG_RECT" val="601*114*323*393"/>
</p:tagLst>
</file>

<file path=ppt/tags/tag47.xml><?xml version="1.0" encoding="utf-8"?>
<p:tagLst xmlns:p="http://schemas.openxmlformats.org/presentationml/2006/main">
  <p:tag name="TABLE_ENDDRAG_ORIGIN_RECT" val="793*265"/>
  <p:tag name="TABLE_ENDDRAG_RECT" val="39*89*793*265"/>
</p:tagLst>
</file>

<file path=ppt/tags/tag48.xml><?xml version="1.0" encoding="utf-8"?>
<p:tagLst xmlns:p="http://schemas.openxmlformats.org/presentationml/2006/main">
  <p:tag name="TABLE_ENDDRAG_ORIGIN_RECT" val="877*333"/>
  <p:tag name="TABLE_ENDDRAG_RECT" val="39*139*877*333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TABLE_ENDDRAG_ORIGIN_RECT" val="755*80"/>
  <p:tag name="TABLE_ENDDRAG_RECT" val="133*136*755*80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TABLE_ENDDRAG_ORIGIN_RECT" val="755*80"/>
  <p:tag name="TABLE_ENDDRAG_RECT" val="133*136*755*80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公司模板主题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7254</Words>
  <Application>WPS 演示</Application>
  <PresentationFormat>宽屏</PresentationFormat>
  <Paragraphs>1197</Paragraphs>
  <Slides>22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宋体</vt:lpstr>
      <vt:lpstr>Wingdings</vt:lpstr>
      <vt:lpstr>黑体</vt:lpstr>
      <vt:lpstr>等线</vt:lpstr>
      <vt:lpstr>微软雅黑</vt:lpstr>
      <vt:lpstr>Wingdings</vt:lpstr>
      <vt:lpstr>Alibaba PuHuiTi R</vt:lpstr>
      <vt:lpstr>Alibaba PuHuiTi M</vt:lpstr>
      <vt:lpstr>思源黑体 CN Normal</vt:lpstr>
      <vt:lpstr>Liter</vt:lpstr>
      <vt:lpstr>PMingLiU-ExtB</vt:lpstr>
      <vt:lpstr>MiSans</vt:lpstr>
      <vt:lpstr>思源宋体 CN Medium</vt:lpstr>
      <vt:lpstr>得意黑</vt:lpstr>
      <vt:lpstr>Noto Sans SC</vt:lpstr>
      <vt:lpstr>Arial Unicode MS</vt:lpstr>
      <vt:lpstr>思源黑体 CN Normal</vt:lpstr>
      <vt:lpstr>思源黑体 CN Bold</vt:lpstr>
      <vt:lpstr>Arial</vt:lpstr>
      <vt:lpstr>MiSans Demibold</vt:lpstr>
      <vt:lpstr>1_公司模板主题2</vt:lpstr>
      <vt:lpstr>Office 主题​​</vt:lpstr>
      <vt:lpstr>TCLayout.ActiveDocument.1</vt:lpstr>
      <vt:lpstr>TCLayout.ActiveDocument.1</vt:lpstr>
      <vt:lpstr>TCLayout.ActiveDocument.1</vt:lpstr>
      <vt:lpstr>PowerPoint 演示文稿</vt:lpstr>
      <vt:lpstr>PowerPoint 演示文稿</vt:lpstr>
      <vt:lpstr>产业变革下车企的决策需求正在发生质变</vt:lpstr>
      <vt:lpstr>供给端传统服务模式被夹击，必须抢抓站稳价值链的窗口期</vt:lpstr>
      <vt:lpstr>研究需求：从五个场景痛点中提炼三大核心技术难题</vt:lpstr>
      <vt:lpstr>项目意义：国家战略落地、集团能力布局、中汽数据转型的三重价值统一</vt:lpstr>
      <vt:lpstr>PowerPoint 演示文稿</vt:lpstr>
      <vt:lpstr>研究目标：分层突破三大技术难点，构建端到端决策智能体</vt:lpstr>
      <vt:lpstr>研究路线：数据底座→垂直模型→决策智能体三层递进</vt:lpstr>
      <vt:lpstr>研究内容一：跨模态汽车产业数据语义对齐与高质量语料库构建</vt:lpstr>
      <vt:lpstr>研究内容二：研发数据驱动的汽车产业垂直领域专用模型</vt:lpstr>
      <vt:lpstr>研究内容三：开发汽车决策智能体平台及专用模型工具链</vt:lpstr>
      <vt:lpstr>协同决策案例：Agent 协同调度垂直模型，形成闭环方案</vt:lpstr>
      <vt:lpstr>研究创新点</vt:lpstr>
      <vt:lpstr>PowerPoint 演示文稿</vt:lpstr>
      <vt:lpstr>项目考核指标</vt:lpstr>
      <vt:lpstr>PowerPoint 演示文稿</vt:lpstr>
      <vt:lpstr>项目经费及实施周期</vt:lpstr>
      <vt:lpstr>PowerPoint 演示文稿</vt:lpstr>
      <vt:lpstr>预期成果</vt:lpstr>
      <vt:lpstr>成果转化预期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晓亚 刘</dc:creator>
  <cp:lastModifiedBy>程鹏</cp:lastModifiedBy>
  <cp:revision>233</cp:revision>
  <dcterms:created xsi:type="dcterms:W3CDTF">2026-04-07T08:40:00Z</dcterms:created>
  <dcterms:modified xsi:type="dcterms:W3CDTF">2026-05-22T08:45:45Z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364E722C4BF640688B88381A6EA02869_12</vt:lpwstr>
  </property>
  <property fmtid="{D5CDD505-2E9C-101B-9397-08002B2CF9AE}" pid="3" name="KSOProductBuildVer">
    <vt:lpwstr>2052-12.1.0.26373</vt:lpwstr>
  </property>
</Properties>
</file>